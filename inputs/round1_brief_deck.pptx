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6FA056B5-E07F-6C96-BAFC-DCA29BA0CBCD}">
          <p14:sldIdLst>
            <p14:sldId id="256"/>
            <p14:sldId id="257"/>
            <p14:sldId id="258"/>
          </p14:sldIdLst>
        </p14:section>
        <p14:section name="Evidence and people" id="{1436FBAB-EAF7-0679-3326-6443AEE96264}">
          <p14:sldIdLst>
            <p14:sldId id="259"/>
            <p14:sldId id="260"/>
          </p14:sldIdLst>
        </p14:section>
        <p14:section name="Causes and current approaches" id="{456E3058-062D-996D-1B1E-A3439B6A66D4}">
          <p14:sldIdLst>
            <p14:sldId id="261"/>
            <p14:sldId id="262"/>
          </p14:sldIdLst>
        </p14:section>
        <p14:section name="Consequences and gaps" id="{45CB6F62-791B-9D9A-0B1E-2BA63D95E935}">
          <p14:sldIdLst>
            <p14:sldId id="263"/>
            <p14:sldId id="264"/>
            <p14:sldId id="265"/>
          </p14:sldIdLst>
        </p14:section>
        <p14:section name="References" id="{E4CE55DF-EFDD-939E-6D21-0BA465A14039}">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263A"/>
                </a:solidFill>
                <a:latin typeface="+mn-lt"/>
              </a:defRPr>
            </a:pPr>
            <a:r>
              <a:rPr sz="1200" b="0" i="0" u="none" strike="noStrike">
                <a:solidFill>
                  <a:srgbClr val="12263A"/>
                </a:solidFill>
                <a:latin typeface="+mn-lt"/>
              </a:rPr>
              <a:t>Post-harvest loss by stage, % of production (NABCONS, ref. 2020–22)</a:t>
            </a:r>
          </a:p>
        </c:rich>
      </c:tx>
      <c:overlay val="0"/>
    </c:title>
    <c:autoTitleDeleted val="0"/>
    <c:plotArea>
      <c:layout/>
      <c:barChart>
        <c:barDir val="col"/>
        <c:grouping val="clustered"/>
        <c:varyColors val="0"/>
        <c:ser>
          <c:idx val="0"/>
          <c:order val="0"/>
          <c:tx>
            <c:strRef>
              <c:f>Sheet1!$B$1</c:f>
              <c:strCache>
                <c:ptCount val="1"/>
                <c:pt idx="0">
                  <c:v>Farm operations</c:v>
                </c:pt>
              </c:strCache>
            </c:strRef>
          </c:tx>
          <c:spPr>
            <a:solidFill>
              <a:srgbClr val="D3E2E6"/>
            </a:solidFill>
            <a:effectLst/>
          </c:spPr>
          <c:invertIfNegative val="0"/>
          <c:dLbls>
            <c:numFmt formatCode="0.0#" sourceLinked="0"/>
            <c:spPr>
              <a:noFill/>
              <a:ln>
                <a:noFill/>
              </a:ln>
              <a:effectLst/>
            </c:spPr>
            <c:txPr>
              <a:bodyPr/>
              <a:lstStyle/>
              <a:p>
                <a:pPr>
                  <a:defRPr sz="900" b="0" i="0" u="none" strike="noStrike">
                    <a:solidFill>
                      <a:srgbClr val="1B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Wheat</c:v>
                </c:pt>
                <c:pt idx="1">
                  <c:v>Paddy</c:v>
                </c:pt>
                <c:pt idx="2">
                  <c:v>Potato</c:v>
                </c:pt>
                <c:pt idx="3">
                  <c:v>Onion</c:v>
                </c:pt>
                <c:pt idx="4">
                  <c:v>Banana</c:v>
                </c:pt>
                <c:pt idx="5">
                  <c:v>Mango</c:v>
                </c:pt>
                <c:pt idx="6">
                  <c:v>Tomato</c:v>
                </c:pt>
                <c:pt idx="7">
                  <c:v>Guava</c:v>
                </c:pt>
              </c:strCache>
            </c:strRef>
          </c:cat>
          <c:val>
            <c:numRef>
              <c:f>Sheet1!$B$2:$B$9</c:f>
              <c:numCache>
                <c:formatCode>General</c:formatCode>
                <c:ptCount val="8"/>
                <c:pt idx="0">
                  <c:v>3.61</c:v>
                </c:pt>
                <c:pt idx="1">
                  <c:v>4.16</c:v>
                </c:pt>
                <c:pt idx="2">
                  <c:v>5.0999999999999996</c:v>
                </c:pt>
                <c:pt idx="3">
                  <c:v>5.31</c:v>
                </c:pt>
                <c:pt idx="4">
                  <c:v>5.17</c:v>
                </c:pt>
                <c:pt idx="5">
                  <c:v>6.03</c:v>
                </c:pt>
                <c:pt idx="6">
                  <c:v>8.3699999999999992</c:v>
                </c:pt>
                <c:pt idx="7">
                  <c:v>11.59</c:v>
                </c:pt>
              </c:numCache>
            </c:numRef>
          </c:val>
          <c:extLst>
            <c:ext xmlns:c16="http://schemas.microsoft.com/office/drawing/2014/chart" uri="{C3380CC4-5D6E-409C-BE32-E72D297353CC}">
              <c16:uniqueId val="{00000000-C9CB-451A-B62B-B32BB8D68AEF}"/>
            </c:ext>
          </c:extLst>
        </c:ser>
        <c:ser>
          <c:idx val="1"/>
          <c:order val="1"/>
          <c:tx>
            <c:strRef>
              <c:f>Sheet1!$C$1</c:f>
              <c:strCache>
                <c:ptCount val="1"/>
                <c:pt idx="0">
                  <c:v>Market level (incl. transport, wholesale, retail)</c:v>
                </c:pt>
              </c:strCache>
            </c:strRef>
          </c:tx>
          <c:spPr>
            <a:solidFill>
              <a:srgbClr val="B9472E"/>
            </a:solidFill>
            <a:effectLst/>
          </c:spPr>
          <c:invertIfNegative val="0"/>
          <c:dLbls>
            <c:numFmt formatCode="0.0#" sourceLinked="0"/>
            <c:spPr>
              <a:noFill/>
              <a:ln>
                <a:noFill/>
              </a:ln>
              <a:effectLst/>
            </c:spPr>
            <c:txPr>
              <a:bodyPr/>
              <a:lstStyle/>
              <a:p>
                <a:pPr>
                  <a:defRPr sz="900" b="0" i="0" u="none" strike="noStrike">
                    <a:solidFill>
                      <a:srgbClr val="1B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Wheat</c:v>
                </c:pt>
                <c:pt idx="1">
                  <c:v>Paddy</c:v>
                </c:pt>
                <c:pt idx="2">
                  <c:v>Potato</c:v>
                </c:pt>
                <c:pt idx="3">
                  <c:v>Onion</c:v>
                </c:pt>
                <c:pt idx="4">
                  <c:v>Banana</c:v>
                </c:pt>
                <c:pt idx="5">
                  <c:v>Mango</c:v>
                </c:pt>
                <c:pt idx="6">
                  <c:v>Tomato</c:v>
                </c:pt>
                <c:pt idx="7">
                  <c:v>Guava</c:v>
                </c:pt>
              </c:strCache>
            </c:strRef>
          </c:cat>
          <c:val>
            <c:numRef>
              <c:f>Sheet1!$C$2:$C$9</c:f>
              <c:numCache>
                <c:formatCode>General</c:formatCode>
                <c:ptCount val="8"/>
                <c:pt idx="0">
                  <c:v>0.56000000000000005</c:v>
                </c:pt>
                <c:pt idx="1">
                  <c:v>0.61</c:v>
                </c:pt>
                <c:pt idx="2">
                  <c:v>0.86</c:v>
                </c:pt>
                <c:pt idx="3">
                  <c:v>1.96</c:v>
                </c:pt>
                <c:pt idx="4">
                  <c:v>2.4</c:v>
                </c:pt>
                <c:pt idx="5">
                  <c:v>2.5</c:v>
                </c:pt>
                <c:pt idx="6">
                  <c:v>3.25</c:v>
                </c:pt>
                <c:pt idx="7">
                  <c:v>3.46</c:v>
                </c:pt>
              </c:numCache>
            </c:numRef>
          </c:val>
          <c:extLst>
            <c:ext xmlns:c16="http://schemas.microsoft.com/office/drawing/2014/chart" uri="{C3380CC4-5D6E-409C-BE32-E72D297353CC}">
              <c16:uniqueId val="{00000001-C9CB-451A-B62B-B32BB8D68AE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0"/>
                </a:solidFill>
                <a:latin typeface="+mn-lt"/>
              </a:defRPr>
            </a:pPr>
            <a:endParaRPr lang="en-US"/>
          </a:p>
        </c:txPr>
        <c:crossAx val="2094734552"/>
        <c:crosses val="autoZero"/>
        <c:auto val="1"/>
        <c:lblAlgn val="ctr"/>
        <c:lblOffset val="100"/>
        <c:noMultiLvlLbl val="1"/>
      </c:catAx>
      <c:valAx>
        <c:axId val="2094734552"/>
        <c:scaling>
          <c:orientation val="minMax"/>
          <c:max val="13"/>
          <c:min val="0"/>
        </c:scaling>
        <c:delete val="0"/>
        <c:axPos val="l"/>
        <c:majorGridlines>
          <c:spPr>
            <a:ln w="6350" cap="flat">
              <a:solidFill>
                <a:srgbClr val="E3E8EB"/>
              </a:solidFill>
              <a:prstDash val="solid"/>
              <a:round/>
            </a:ln>
          </c:spPr>
        </c:majorGridlines>
        <c:title>
          <c:tx>
            <c:rich>
              <a:bodyPr/>
              <a:lstStyle/>
              <a:p>
                <a:pPr>
                  <a:defRPr sz="1000" b="0" i="0" u="none" strike="noStrike">
                    <a:solidFill>
                      <a:srgbClr val="5E6E7E"/>
                    </a:solidFill>
                    <a:latin typeface="+mn-lt"/>
                  </a:defRPr>
                </a:pPr>
                <a:r>
                  <a:rPr sz="1000" b="0" i="0" u="none" strike="noStrike">
                    <a:solidFill>
                      <a:srgbClr val="5E6E7E"/>
                    </a:solidFill>
                    <a:latin typeface="+mn-lt"/>
                  </a:rPr>
                  <a:t>% of production lost</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E7E"/>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1B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6526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journey, not the waste headline. India loses about 19.3 million tonnes of fruits and vegetables a year after harvest (NABCONS 2022, ref. period 2020-22). That number covers every stage from farm to retail, so we are NOT claiming it all happens in transport. Our brief zooms in on one leg: from the assembly mandi to the receiving market. Over the next slides we show why that leg matters, who is affected, and what nobody yet knows about it. Note for us: there is no solution in this deck. That is deliberate.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once, slowly. Then explain the tags. Target user is our framing choice (interpretation): we picked the dispatcher because the decision about where, when and how a load moves is made there. The difficulty and the consequences are documented in published fieldwork (WRI 2024, RBI 2024). The 'because' clause is partly a hypothesis: transit heat, delays and handling are documented, but the claim that dispatchers lack visibility of conditions ahead has not been tested yet, and we say so. Scope: perishable fruit and vegetables, the road leg after aggregation, ambient trucks. Grains are out because their market-stage losses are 0.6 to 1.2 percent, a different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existing process, not anything we propose. Walk left to right. The shaded band is our focus: from the assembly mandi to market entry. Nearly every failure point here comes from one measured field study, WRI India's 2024 tomato study in Madhya Pradesh: heat and vibration in transit, delays from permits, traffic and breakdowns, waiting outside the market, no storage, and packing in polythene bags. The dashed card is our hypothesis: that destinations are chosen without sight of conditions at other markets. Be honest about the limit: WRI studied local markets 25 to 30 km away. The RBI value-chain study shows that long inter-state hauls are routine, since Delhi gets tomatoes year-round from different states. How these failure points scale with distance is still an open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strongest official evidence. The chart is from the NABCONS study for the Ministry of Food Processing Industries, the latest national loss study (reference period 2020-22). Look at the red bars, the market-level losses: wheat and paddy lose about 0.6 percent after leaving the farm; tomato 3.25 percent, guava 3.46 percent. That is roughly 3 to 6 times more. Potato is the exception: at 0.86 percent it is only about 1.5 times the grain figure, which is why the headline says most, not all. Two cautions that show we read it properly: first, 'market level' includes transport, wholesale, retail and processing together, so we cannot say how much of it happens on the truck. Second, the 1.53 lakh crore figure covers all 54 commodities, not only fruit and vegetables. We also do not compare it with the older CIPHET estimate as a trend, because the methods differ.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logistics difficulty lands differently on each person. The dispatcher, our primary user, makes the decision: where to send, when, and how packed. WRI found that these wholesale-level choices of packaging and destination distance shape shelf life. The farmer usually bears the economic loss when produce arrives damaged, and receives about a third of the consumer price for tomato (RBI). The driver handles heat, rough roads, permit and market-gate waits. The receiving trader has no storage, so they sell the same day or at distress prices. The consumer sees it as price volatility. The bottom row lists actors who shape the conditions without facing the problem day to day. Say clearly: all of this comes from published studies. Talking to dispatchers ourselves is the obvious next step in discovery.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right to left. On the right are what you can see at the market: downgrades, distress sales, wastage, price swings. In the middle are the proximate causes, all documented: heat (FAO's rule of thumb is that deterioration is 2 to 3 times faster for every 10 degrees), delay, mechanical damage, and arriving into a glut with nowhere to store. On the left are the underlying conditions that keep the problem going. India's cold-chain gap is not mainly in storage, which was about 9 percent short; it is in reefer vehicles (85 percent short) and pack-houses (99.6 percent short), per NCCD's 2015 assessment. The chain is fragmented. And no one records what happens in transit. The dashed card, that dispatchers lack a timely view of conditions, is our hypothesis. We have not tested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here. These approaches are not failures; each does something real. Cold-chain schemes address heat and storage, but NCCD found the shortfall is mainly in movement: reefers and pack-houses. Agmarknet and e-NAM give prices and arrivals and enable online trade, but they record what arrived, not how the trip went. The government itself told Parliament in February 2025 that logistics is a major hurdle for inter-mandi trade on e-NAM. Kisan Rath tackles finding a truck, but MANAGE found falling use. The Kisan Rail freight subsidy cut the cost of long hauls, but it was a time-bound pilot. General routing tools optimise time, distance, capacity and time windows; we found no built-in produce-quality model in their public documentation, but that is our reading and should be checked. Academic work on perishable routing exists, and a 2021 review of 65 papers says dynamic, quality-aware routing is still open. Whether India's non-refrigerated mandi-to-market setting is under-studied needs a proper literature review before we claim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number back to a person from slide 5. Farmers get about a third of what the consumer pays for tomato. That gap covers transport, fees, losses and margins, so it is not all waste, but losses are part of it. Traders absorb 5 to 10 percent weight loss on onion. At the receiving market, WRI measured 12 percent tomato waste at retail plus 11 percent downgraded and sold at about half price. Consumers feel it as price swings. RBI notes that tomato, onion and potato move headline inflation despite their small CPI weight. The box on the right is the honest bridge to the next slide: these consequences pile up along the whole chain, and with today's data nobody can say what share starts on the truck.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keeps three gaps apart. A data gap: fresh fruit and vegetables are GST-exempt, so they need no e-way bill. That means the main digital record of freight movement in India largely misses these trips. Agmarknet and e-NAM show arrivals and prices, not journeys. We found no public trip-level spoilage or rerouting data. A research gap: a 2021 review of 65 papers calls dynamic, quality-aware routing an open area, and most work assumes refrigerated chains. We think India's ambient setting is thinly studied, but we will only claim that after a systematic review. A practice gap: we found no published evidence on how dispatchers actually decide today. That is a hypothesis for fieldwork. Then read the caveat aloud. A lack of data does not prove the problem is big; it means the size has to be measured.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together. It matters: 19.3 million tonnes lost a year, and most fruit and vegetables lose 3 to 6 times more than grain once off the farm. Farmers keep only a third of the price. Many people gain from understanding it better, including the agencies deciding where cold-chain money goes. The gaps are real and we kept them separate: data, research and practice. And the problem is narrow enough to study: one crop group, one leg, one mode. Finish with the sentence on screen, and say it word for word. Do not mention any solution. If asked what comes next, say: talking to dispatchers to test our hypothesis.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in the deck carries a bracketed number that maps here. If an evaluator asks where a figure comes from, point to the 'used on' column. The main sources are NABCONS 2022 (via the PIB annexure), WRI India 2024 (direct field measurement), NCCD 2015, and the RBI 2024 TOP working paper.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two sources. Reference 14 is our interpretation of the GST e-way bill rule: fresh fruit and vegetables are in the exempt schedule, so no e-way bill is needed. Reference 15 is our own blueprint, cited only for its audit of which datasets exist.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rtlCol="0"/>
          <a:lstStyle>
            <a:lvl1pPr marL="0" indent="0" algn="l">
              <a:buNone/>
              <a:defRPr lang="en-US" sz="26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2600" dirty="0"/>
          </a:p>
        </p:txBody>
      </p:sp>
      <p:sp>
        <p:nvSpPr>
          <p:cNvPr id="4" name="Text 0"/>
          <p:cNvSpPr/>
          <p:nvPr/>
        </p:nvSpPr>
        <p:spPr>
          <a:xfrm>
            <a:off x="548640" y="6473952"/>
            <a:ext cx="7315200" cy="256032"/>
          </a:xfrm>
          <a:prstGeom prst="rect">
            <a:avLst/>
          </a:prstGeom>
          <a:noFill/>
          <a:ln/>
        </p:spPr>
        <p:txBody>
          <a:bodyPr wrap="square" lIns="0" tIns="0" rIns="0" bIns="0" rtlCol="0" anchor="ctr"/>
          <a:lstStyle/>
          <a:p>
            <a:pPr marL="0" indent="0">
              <a:buNone/>
            </a:pPr>
            <a:r>
              <a:rPr lang="en-US" sz="900" dirty="0">
                <a:solidFill>
                  <a:schemeClr val="accent5"/>
                </a:solidFill>
              </a:rPr>
              <a:t>IMPACT TANK ’26  ·  Week 0 Problem Brief  ·  Mandi Algos</a:t>
            </a:r>
            <a:endParaRPr lang="en-US" sz="90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hyperlink" Target="https://www.fao.org/4/y5431e/y5431e04.htm" TargetMode="External"/><Relationship Id="rId3" Type="http://schemas.openxmlformats.org/officeDocument/2006/relationships/hyperlink" Target="https://www.pib.gov.in/PressReleasePage.aspx?PRID=2151371" TargetMode="External"/><Relationship Id="rId7" Type="http://schemas.openxmlformats.org/officeDocument/2006/relationships/hyperlink" Target="https://rbi.org.in/Scripts/PublicationsView.aspx?id=22723"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hyperlink" Target="https://nccd.gov.in/uploads/All_India_Cold_Chain_Infrastructure_2015_5da1279baa.pdf" TargetMode="External"/><Relationship Id="rId5" Type="http://schemas.openxmlformats.org/officeDocument/2006/relationships/hyperlink" Target="https://wri-india.org/sites/default/files/Tomato-trail-Tracking-food-loss-food-waste-Madhya-Pradesh.pdf" TargetMode="External"/><Relationship Id="rId10" Type="http://schemas.openxmlformats.org/officeDocument/2006/relationships/hyperlink" Target="https://static.pib.gov.in/WriteReadData/specificdocs/documents/2026/apr/doc2026413845801.pdf" TargetMode="External"/><Relationship Id="rId4" Type="http://schemas.openxmlformats.org/officeDocument/2006/relationships/hyperlink" Target="https://eparlib.nic.in/bitstream/123456789/706362/1/56899.pdf" TargetMode="External"/><Relationship Id="rId9" Type="http://schemas.openxmlformats.org/officeDocument/2006/relationships/hyperlink" Target="https://rsdebate.nic.in/bitstream/123456789/758227/1/PQ_267_07022025_S46_p1_p12.pdf"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www.gstzen.in/a/rule-138-central-goods-and-services-tax-rules-2017-cgst-rule-138-replaced-as-per-central-tax-notification-122018.html" TargetMode="External"/><Relationship Id="rId3" Type="http://schemas.openxmlformats.org/officeDocument/2006/relationships/hyperlink" Target="https://agmarknet.gov.in" TargetMode="External"/><Relationship Id="rId7" Type="http://schemas.openxmlformats.org/officeDocument/2006/relationships/hyperlink" Target="https://doi.org/10.1108/IJLM-02-2020-0092"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hyperlink" Target="https://developers.google.com/maps/documentation/route-optimization/parameter-list" TargetMode="External"/><Relationship Id="rId5" Type="http://schemas.openxmlformats.org/officeDocument/2006/relationships/hyperlink" Target="https://eparlib.nic.in/bitstream/123456789/992164/1/AU2423.pdf" TargetMode="External"/><Relationship Id="rId4" Type="http://schemas.openxmlformats.org/officeDocument/2006/relationships/hyperlink" Target="https://epubs.icar.org.in/index.php/JAEM/article/download/159460/62590/489185"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7315200" cy="320040"/>
          </a:xfrm>
          <a:prstGeom prst="rect">
            <a:avLst/>
          </a:prstGeom>
          <a:noFill/>
          <a:ln/>
        </p:spPr>
        <p:txBody>
          <a:bodyPr wrap="square" lIns="0" tIns="0" rIns="0" bIns="0" rtlCol="0" anchor="ctr"/>
          <a:lstStyle/>
          <a:p>
            <a:pPr marL="0" indent="0">
              <a:buNone/>
            </a:pPr>
            <a:r>
              <a:rPr lang="en-US" sz="1300" b="1" kern="0" spc="200" dirty="0">
                <a:solidFill>
                  <a:schemeClr val="accent2"/>
                </a:solidFill>
              </a:rPr>
              <a:t>IMPACT TANK ’26  ·  WEEK 0  ·  PROBLEM DISCOVERY BRIEF</a:t>
            </a:r>
            <a:endParaRPr lang="en-US" sz="1300" dirty="0"/>
          </a:p>
        </p:txBody>
      </p:sp>
      <p:sp>
        <p:nvSpPr>
          <p:cNvPr id="3" name="Text 1"/>
          <p:cNvSpPr txBox="1"/>
          <p:nvPr/>
        </p:nvSpPr>
        <p:spPr>
          <a:xfrm>
            <a:off x="640080" y="1097280"/>
            <a:ext cx="7315200" cy="914400"/>
          </a:xfrm>
          <a:prstGeom prst="rect">
            <a:avLst/>
          </a:prstGeom>
          <a:noFill/>
          <a:ln/>
        </p:spPr>
        <p:txBody>
          <a:bodyPr wrap="square" lIns="0" tIns="0" rIns="0" bIns="0" rtlCol="0" anchor="ctr"/>
          <a:lstStyle/>
          <a:p>
            <a:pPr marL="0" indent="0">
              <a:buNone/>
            </a:pPr>
            <a:r>
              <a:rPr lang="en-US" sz="4200" b="1" dirty="0">
                <a:solidFill>
                  <a:schemeClr val="bg1"/>
                </a:solidFill>
                <a:latin typeface="Cambria" pitchFamily="34" charset="0"/>
                <a:ea typeface="Cambria" pitchFamily="34" charset="-122"/>
                <a:cs typeface="Cambria" pitchFamily="34" charset="-120"/>
              </a:rPr>
              <a:t>The Journey After Harvest</a:t>
            </a:r>
            <a:endParaRPr lang="en-US" sz="4200" dirty="0"/>
          </a:p>
        </p:txBody>
      </p:sp>
      <p:sp>
        <p:nvSpPr>
          <p:cNvPr id="4" name="Text 2"/>
          <p:cNvSpPr txBox="1"/>
          <p:nvPr/>
        </p:nvSpPr>
        <p:spPr>
          <a:xfrm>
            <a:off x="640080" y="2148840"/>
            <a:ext cx="6675120" cy="1234440"/>
          </a:xfrm>
          <a:prstGeom prst="rect">
            <a:avLst/>
          </a:prstGeom>
          <a:noFill/>
          <a:ln/>
        </p:spPr>
        <p:txBody>
          <a:bodyPr wrap="square" lIns="0" tIns="0" rIns="0" bIns="0" rtlCol="0" anchor="t"/>
          <a:lstStyle/>
          <a:p>
            <a:pPr marL="0" indent="0">
              <a:buNone/>
            </a:pPr>
            <a:r>
              <a:rPr lang="en-US" sz="1900" dirty="0">
                <a:solidFill>
                  <a:schemeClr val="accent6"/>
                </a:solidFill>
              </a:rPr>
              <a:t>Why perishable fruit and vegetables lose quality and value between the mandi and the receiving market in India — and why that loss is still poorly understood</a:t>
            </a:r>
            <a:endParaRPr lang="en-US" sz="1900" dirty="0"/>
          </a:p>
        </p:txBody>
      </p:sp>
      <p:sp>
        <p:nvSpPr>
          <p:cNvPr id="5" name="Hook stat card"/>
          <p:cNvSpPr/>
          <p:nvPr/>
        </p:nvSpPr>
        <p:spPr>
          <a:xfrm>
            <a:off x="8001000" y="1143000"/>
            <a:ext cx="3566160" cy="2606040"/>
          </a:xfrm>
          <a:prstGeom prst="roundRect">
            <a:avLst>
              <a:gd name="adj" fmla="val 2807"/>
            </a:avLst>
          </a:prstGeom>
          <a:solidFill>
            <a:srgbClr val="1D3A52"/>
          </a:solidFill>
          <a:ln/>
        </p:spPr>
      </p:sp>
      <p:sp>
        <p:nvSpPr>
          <p:cNvPr id="6" name="Text 4"/>
          <p:cNvSpPr txBox="1"/>
          <p:nvPr/>
        </p:nvSpPr>
        <p:spPr>
          <a:xfrm>
            <a:off x="8229600" y="1298448"/>
            <a:ext cx="3154680" cy="73152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19.3 Mt</a:t>
            </a:r>
            <a:endParaRPr lang="en-US" sz="4400" dirty="0"/>
          </a:p>
        </p:txBody>
      </p:sp>
      <p:sp>
        <p:nvSpPr>
          <p:cNvPr id="7" name="Text 5"/>
          <p:cNvSpPr txBox="1"/>
          <p:nvPr/>
        </p:nvSpPr>
        <p:spPr>
          <a:xfrm>
            <a:off x="8229600" y="2011680"/>
            <a:ext cx="3154680" cy="960120"/>
          </a:xfrm>
          <a:prstGeom prst="rect">
            <a:avLst/>
          </a:prstGeom>
          <a:noFill/>
          <a:ln/>
        </p:spPr>
        <p:txBody>
          <a:bodyPr wrap="square" lIns="0" tIns="0" rIns="0" bIns="0" rtlCol="0" anchor="t"/>
          <a:lstStyle/>
          <a:p>
            <a:pPr marL="0" indent="0">
              <a:buNone/>
            </a:pPr>
            <a:r>
              <a:rPr lang="en-US" sz="1400" dirty="0">
                <a:solidFill>
                  <a:schemeClr val="bg1"/>
                </a:solidFill>
              </a:rPr>
              <a:t>million tonnes (Mt) of fruit and vegetables lost after harvest in India each year, across all stages from farm to retail</a:t>
            </a:r>
            <a:endParaRPr lang="en-US" sz="1400" dirty="0"/>
          </a:p>
        </p:txBody>
      </p:sp>
      <p:sp>
        <p:nvSpPr>
          <p:cNvPr id="8" name="Text 6"/>
          <p:cNvSpPr txBox="1"/>
          <p:nvPr/>
        </p:nvSpPr>
        <p:spPr>
          <a:xfrm>
            <a:off x="8229600" y="3017520"/>
            <a:ext cx="3154680" cy="548640"/>
          </a:xfrm>
          <a:prstGeom prst="rect">
            <a:avLst/>
          </a:prstGeom>
          <a:noFill/>
          <a:ln/>
        </p:spPr>
        <p:txBody>
          <a:bodyPr wrap="square" lIns="0" tIns="0" rIns="0" bIns="0" rtlCol="0" anchor="t"/>
          <a:lstStyle/>
          <a:p>
            <a:pPr marL="0" indent="0">
              <a:buNone/>
            </a:pPr>
            <a:r>
              <a:rPr lang="en-US" sz="1000" dirty="0">
                <a:solidFill>
                  <a:schemeClr val="accent6"/>
                </a:solidFill>
              </a:rPr>
              <a:t>NABCONS for MoFPI, reference period 2020–22 (fruits 7.36 Mt + vegetables 11.97 Mt) [1]</a:t>
            </a:r>
            <a:endParaRPr lang="en-US" sz="1000" dirty="0"/>
          </a:p>
        </p:txBody>
      </p:sp>
      <p:sp>
        <p:nvSpPr>
          <p:cNvPr id="9" name="Journey line"/>
          <p:cNvSpPr/>
          <p:nvPr/>
        </p:nvSpPr>
        <p:spPr>
          <a:xfrm>
            <a:off x="1143000" y="4480560"/>
            <a:ext cx="5623560" cy="0"/>
          </a:xfrm>
          <a:prstGeom prst="line">
            <a:avLst/>
          </a:prstGeom>
          <a:noFill/>
          <a:ln w="19050">
            <a:solidFill>
              <a:srgbClr val="5E6E7E"/>
            </a:solidFill>
            <a:prstDash val="dash"/>
          </a:ln>
        </p:spPr>
      </p:sp>
      <p:sp>
        <p:nvSpPr>
          <p:cNvPr id="10" name="Journey stop 1 circle"/>
          <p:cNvSpPr/>
          <p:nvPr/>
        </p:nvSpPr>
        <p:spPr>
          <a:xfrm>
            <a:off x="868680" y="4206240"/>
            <a:ext cx="548640" cy="548640"/>
          </a:xfrm>
          <a:prstGeom prst="ellipse">
            <a:avLst/>
          </a:prstGeom>
          <a:solidFill>
            <a:srgbClr val="2B4660"/>
          </a:solidFill>
          <a:ln/>
        </p:spPr>
      </p:sp>
      <p:pic>
        <p:nvPicPr>
          <p:cNvPr id="11" name="Journey stop 1 icon" descr="preencoded.png"/>
          <p:cNvPicPr>
            <a:picLocks noChangeAspect="1"/>
          </p:cNvPicPr>
          <p:nvPr/>
        </p:nvPicPr>
        <p:blipFill>
          <a:blip r:embed="rId3"/>
          <a:stretch>
            <a:fillRect/>
          </a:stretch>
        </p:blipFill>
        <p:spPr>
          <a:xfrm>
            <a:off x="1005840" y="4343400"/>
            <a:ext cx="274320" cy="274320"/>
          </a:xfrm>
          <a:prstGeom prst="rect">
            <a:avLst/>
          </a:prstGeom>
        </p:spPr>
      </p:pic>
      <p:sp>
        <p:nvSpPr>
          <p:cNvPr id="12" name="Text 9"/>
          <p:cNvSpPr txBox="1"/>
          <p:nvPr/>
        </p:nvSpPr>
        <p:spPr>
          <a:xfrm>
            <a:off x="365760" y="4828032"/>
            <a:ext cx="1554480" cy="274320"/>
          </a:xfrm>
          <a:prstGeom prst="rect">
            <a:avLst/>
          </a:prstGeom>
          <a:noFill/>
          <a:ln/>
        </p:spPr>
        <p:txBody>
          <a:bodyPr wrap="square" lIns="0" tIns="0" rIns="0" bIns="0" rtlCol="0" anchor="ctr"/>
          <a:lstStyle/>
          <a:p>
            <a:pPr marL="0" indent="0" algn="ctr">
              <a:buNone/>
            </a:pPr>
            <a:r>
              <a:rPr lang="en-US" sz="1200" dirty="0">
                <a:solidFill>
                  <a:schemeClr val="accent6"/>
                </a:solidFill>
              </a:rPr>
              <a:t>Farm</a:t>
            </a:r>
            <a:endParaRPr lang="en-US" sz="1200" dirty="0"/>
          </a:p>
        </p:txBody>
      </p:sp>
      <p:sp>
        <p:nvSpPr>
          <p:cNvPr id="13" name="Journey stop 2 circle"/>
          <p:cNvSpPr/>
          <p:nvPr/>
        </p:nvSpPr>
        <p:spPr>
          <a:xfrm>
            <a:off x="2743200" y="4206240"/>
            <a:ext cx="548640" cy="548640"/>
          </a:xfrm>
          <a:prstGeom prst="ellipse">
            <a:avLst/>
          </a:prstGeom>
          <a:solidFill>
            <a:schemeClr val="accent1"/>
          </a:solidFill>
          <a:ln/>
        </p:spPr>
      </p:sp>
      <p:pic>
        <p:nvPicPr>
          <p:cNvPr id="14" name="Journey stop 2 icon" descr="preencoded.png"/>
          <p:cNvPicPr>
            <a:picLocks noChangeAspect="1"/>
          </p:cNvPicPr>
          <p:nvPr/>
        </p:nvPicPr>
        <p:blipFill>
          <a:blip r:embed="rId4"/>
          <a:stretch>
            <a:fillRect/>
          </a:stretch>
        </p:blipFill>
        <p:spPr>
          <a:xfrm>
            <a:off x="2880360" y="4343400"/>
            <a:ext cx="274320" cy="274320"/>
          </a:xfrm>
          <a:prstGeom prst="rect">
            <a:avLst/>
          </a:prstGeom>
        </p:spPr>
      </p:pic>
      <p:sp>
        <p:nvSpPr>
          <p:cNvPr id="15" name="Text 11"/>
          <p:cNvSpPr txBox="1"/>
          <p:nvPr/>
        </p:nvSpPr>
        <p:spPr>
          <a:xfrm>
            <a:off x="2240280" y="4828032"/>
            <a:ext cx="1554480" cy="274320"/>
          </a:xfrm>
          <a:prstGeom prst="rect">
            <a:avLst/>
          </a:prstGeom>
          <a:noFill/>
          <a:ln/>
        </p:spPr>
        <p:txBody>
          <a:bodyPr wrap="square" lIns="0" tIns="0" rIns="0" bIns="0" rtlCol="0" anchor="ctr"/>
          <a:lstStyle/>
          <a:p>
            <a:pPr marL="0" indent="0" algn="ctr">
              <a:buNone/>
            </a:pPr>
            <a:r>
              <a:rPr lang="en-US" sz="1200" dirty="0">
                <a:solidFill>
                  <a:schemeClr val="bg1"/>
                </a:solidFill>
              </a:rPr>
              <a:t>Assembly mandi</a:t>
            </a:r>
            <a:endParaRPr lang="en-US" sz="1200" dirty="0"/>
          </a:p>
        </p:txBody>
      </p:sp>
      <p:sp>
        <p:nvSpPr>
          <p:cNvPr id="16" name="Journey stop 3 circle"/>
          <p:cNvSpPr/>
          <p:nvPr/>
        </p:nvSpPr>
        <p:spPr>
          <a:xfrm>
            <a:off x="4617720" y="4206240"/>
            <a:ext cx="548640" cy="548640"/>
          </a:xfrm>
          <a:prstGeom prst="ellipse">
            <a:avLst/>
          </a:prstGeom>
          <a:solidFill>
            <a:schemeClr val="accent1"/>
          </a:solidFill>
          <a:ln/>
        </p:spPr>
      </p:sp>
      <p:pic>
        <p:nvPicPr>
          <p:cNvPr id="17" name="Journey stop 3 icon" descr="preencoded.png"/>
          <p:cNvPicPr>
            <a:picLocks noChangeAspect="1"/>
          </p:cNvPicPr>
          <p:nvPr/>
        </p:nvPicPr>
        <p:blipFill>
          <a:blip r:embed="rId5"/>
          <a:stretch>
            <a:fillRect/>
          </a:stretch>
        </p:blipFill>
        <p:spPr>
          <a:xfrm>
            <a:off x="4754880" y="4343400"/>
            <a:ext cx="274320" cy="274320"/>
          </a:xfrm>
          <a:prstGeom prst="rect">
            <a:avLst/>
          </a:prstGeom>
        </p:spPr>
      </p:pic>
      <p:sp>
        <p:nvSpPr>
          <p:cNvPr id="18" name="Text 13"/>
          <p:cNvSpPr txBox="1"/>
          <p:nvPr/>
        </p:nvSpPr>
        <p:spPr>
          <a:xfrm>
            <a:off x="4114800" y="4828032"/>
            <a:ext cx="1554480" cy="274320"/>
          </a:xfrm>
          <a:prstGeom prst="rect">
            <a:avLst/>
          </a:prstGeom>
          <a:noFill/>
          <a:ln/>
        </p:spPr>
        <p:txBody>
          <a:bodyPr wrap="square" lIns="0" tIns="0" rIns="0" bIns="0" rtlCol="0" anchor="ctr"/>
          <a:lstStyle/>
          <a:p>
            <a:pPr marL="0" indent="0" algn="ctr">
              <a:buNone/>
            </a:pPr>
            <a:r>
              <a:rPr lang="en-US" sz="1200" dirty="0">
                <a:solidFill>
                  <a:schemeClr val="bg1"/>
                </a:solidFill>
              </a:rPr>
              <a:t>Road transit</a:t>
            </a:r>
            <a:endParaRPr lang="en-US" sz="1200" dirty="0"/>
          </a:p>
        </p:txBody>
      </p:sp>
      <p:sp>
        <p:nvSpPr>
          <p:cNvPr id="19" name="Journey stop 4 circle"/>
          <p:cNvSpPr/>
          <p:nvPr/>
        </p:nvSpPr>
        <p:spPr>
          <a:xfrm>
            <a:off x="6492240" y="4206240"/>
            <a:ext cx="548640" cy="548640"/>
          </a:xfrm>
          <a:prstGeom prst="ellipse">
            <a:avLst/>
          </a:prstGeom>
          <a:solidFill>
            <a:schemeClr val="accent1"/>
          </a:solidFill>
          <a:ln/>
        </p:spPr>
      </p:sp>
      <p:pic>
        <p:nvPicPr>
          <p:cNvPr id="20" name="Journey stop 4 icon" descr="preencoded.png"/>
          <p:cNvPicPr>
            <a:picLocks noChangeAspect="1"/>
          </p:cNvPicPr>
          <p:nvPr/>
        </p:nvPicPr>
        <p:blipFill>
          <a:blip r:embed="rId6"/>
          <a:stretch>
            <a:fillRect/>
          </a:stretch>
        </p:blipFill>
        <p:spPr>
          <a:xfrm>
            <a:off x="6629400" y="4343400"/>
            <a:ext cx="274320" cy="274320"/>
          </a:xfrm>
          <a:prstGeom prst="rect">
            <a:avLst/>
          </a:prstGeom>
        </p:spPr>
      </p:pic>
      <p:sp>
        <p:nvSpPr>
          <p:cNvPr id="21" name="Text 15"/>
          <p:cNvSpPr txBox="1"/>
          <p:nvPr/>
        </p:nvSpPr>
        <p:spPr>
          <a:xfrm>
            <a:off x="5989320" y="4828032"/>
            <a:ext cx="1554480" cy="274320"/>
          </a:xfrm>
          <a:prstGeom prst="rect">
            <a:avLst/>
          </a:prstGeom>
          <a:noFill/>
          <a:ln/>
        </p:spPr>
        <p:txBody>
          <a:bodyPr wrap="square" lIns="0" tIns="0" rIns="0" bIns="0" rtlCol="0" anchor="ctr"/>
          <a:lstStyle/>
          <a:p>
            <a:pPr marL="0" indent="0" algn="ctr">
              <a:buNone/>
            </a:pPr>
            <a:r>
              <a:rPr lang="en-US" sz="1200" dirty="0">
                <a:solidFill>
                  <a:schemeClr val="bg1"/>
                </a:solidFill>
              </a:rPr>
              <a:t>Receiving market</a:t>
            </a:r>
            <a:endParaRPr lang="en-US" sz="1200" dirty="0"/>
          </a:p>
        </p:txBody>
      </p:sp>
      <p:sp>
        <p:nvSpPr>
          <p:cNvPr id="22" name="Text 16"/>
          <p:cNvSpPr txBox="1"/>
          <p:nvPr/>
        </p:nvSpPr>
        <p:spPr>
          <a:xfrm>
            <a:off x="2560320" y="3794760"/>
            <a:ext cx="4206240" cy="274320"/>
          </a:xfrm>
          <a:prstGeom prst="rect">
            <a:avLst/>
          </a:prstGeom>
          <a:noFill/>
          <a:ln/>
        </p:spPr>
        <p:txBody>
          <a:bodyPr wrap="square" lIns="0" tIns="0" rIns="0" bIns="0" rtlCol="0" anchor="ctr"/>
          <a:lstStyle/>
          <a:p>
            <a:pPr marL="0" indent="0">
              <a:buNone/>
            </a:pPr>
            <a:r>
              <a:rPr lang="en-US" sz="1100" i="1" dirty="0">
                <a:solidFill>
                  <a:schemeClr val="accent2"/>
                </a:solidFill>
              </a:rPr>
              <a:t>This brief focuses on the stretch from aggregation to sale</a:t>
            </a:r>
            <a:endParaRPr lang="en-US" sz="1100" dirty="0"/>
          </a:p>
        </p:txBody>
      </p:sp>
      <p:sp>
        <p:nvSpPr>
          <p:cNvPr id="23" name="Text 17"/>
          <p:cNvSpPr txBox="1"/>
          <p:nvPr/>
        </p:nvSpPr>
        <p:spPr>
          <a:xfrm>
            <a:off x="640080" y="5440680"/>
            <a:ext cx="8229600" cy="868680"/>
          </a:xfrm>
          <a:prstGeom prst="rect">
            <a:avLst/>
          </a:prstGeom>
          <a:noFill/>
          <a:ln/>
        </p:spPr>
        <p:txBody>
          <a:bodyPr wrap="square" lIns="0" tIns="0" rIns="0" bIns="0" rtlCol="0" anchor="t"/>
          <a:lstStyle/>
          <a:p>
            <a:pPr marL="0" indent="0">
              <a:spcAft>
                <a:spcPts val="200"/>
              </a:spcAft>
              <a:buNone/>
            </a:pPr>
            <a:r>
              <a:rPr lang="en-US" sz="1300" b="1" dirty="0">
                <a:solidFill>
                  <a:schemeClr val="accent2"/>
                </a:solidFill>
              </a:rPr>
              <a:t>Team: </a:t>
            </a:r>
            <a:r>
              <a:rPr lang="en-US" sz="1300" dirty="0">
                <a:solidFill>
                  <a:schemeClr val="bg1"/>
                </a:solidFill>
              </a:rPr>
              <a:t>Mandi Algos</a:t>
            </a:r>
            <a:endParaRPr lang="en-US" sz="1300" dirty="0"/>
          </a:p>
          <a:p>
            <a:pPr marL="0" indent="0">
              <a:spcAft>
                <a:spcPts val="200"/>
              </a:spcAft>
              <a:buNone/>
            </a:pPr>
            <a:r>
              <a:rPr lang="en-US" sz="1300" b="1" dirty="0">
                <a:solidFill>
                  <a:schemeClr val="accent2"/>
                </a:solidFill>
              </a:rPr>
              <a:t>Members: </a:t>
            </a:r>
            <a:r>
              <a:rPr lang="en-US" sz="1300" dirty="0">
                <a:solidFill>
                  <a:schemeClr val="bg1"/>
                </a:solidFill>
              </a:rPr>
              <a:t>Pranav Umbarkar  ·  Ananya Reddy  ·  Shrot Parekh  ·  Haamiz</a:t>
            </a:r>
            <a:endParaRPr lang="en-US" sz="1300" dirty="0"/>
          </a:p>
          <a:p>
            <a:pPr marL="0" indent="0">
              <a:spcAft>
                <a:spcPts val="200"/>
              </a:spcAft>
              <a:buNone/>
            </a:pPr>
            <a:r>
              <a:rPr lang="en-US" sz="1300" b="1" dirty="0">
                <a:solidFill>
                  <a:schemeClr val="accent2"/>
                </a:solidFill>
              </a:rPr>
              <a:t>Institution: </a:t>
            </a:r>
            <a:r>
              <a:rPr lang="en-US" sz="1300" b="1" dirty="0">
                <a:solidFill>
                  <a:schemeClr val="bg1"/>
                </a:solidFill>
              </a:rPr>
              <a:t> NIT WARANGAL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01  ·  THE PROBLEM</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Perishable loads lose value between dispatch and sale</a:t>
            </a:r>
            <a:endParaRPr lang="en-US" sz="2600" dirty="0"/>
          </a:p>
        </p:txBody>
      </p:sp>
      <p:sp>
        <p:nvSpPr>
          <p:cNvPr id="4" name="Text 2"/>
          <p:cNvSpPr txBox="1"/>
          <p:nvPr/>
        </p:nvSpPr>
        <p:spPr>
          <a:xfrm>
            <a:off x="6867144" y="329184"/>
            <a:ext cx="841248" cy="210312"/>
          </a:xfrm>
          <a:prstGeom prst="rect">
            <a:avLst/>
          </a:prstGeom>
          <a:noFill/>
          <a:ln/>
        </p:spPr>
        <p:txBody>
          <a:bodyPr wrap="square" lIns="0" tIns="0" rIns="0" bIns="0" rtlCol="0" anchor="ctr"/>
          <a:lstStyle/>
          <a:p>
            <a:pPr marL="0" indent="0" algn="r">
              <a:buNone/>
            </a:pPr>
            <a:r>
              <a:rPr lang="en-US" sz="900" dirty="0">
                <a:solidFill>
                  <a:schemeClr val="accent5"/>
                </a:solidFill>
              </a:rPr>
              <a:t>Evidence key</a:t>
            </a:r>
            <a:endParaRPr lang="en-US" sz="900" dirty="0"/>
          </a:p>
        </p:txBody>
      </p:sp>
      <p:sp>
        <p:nvSpPr>
          <p:cNvPr id="5" name="Evidence tag DOCUMENTED"/>
          <p:cNvSpPr txBox="1"/>
          <p:nvPr/>
        </p:nvSpPr>
        <p:spPr>
          <a:xfrm>
            <a:off x="7781544" y="329184"/>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6" name="Evidence tag INTERPRETATION"/>
          <p:cNvSpPr txBox="1"/>
          <p:nvPr/>
        </p:nvSpPr>
        <p:spPr>
          <a:xfrm>
            <a:off x="8842248" y="329184"/>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marL="0" indent="0" algn="ctr">
              <a:buNone/>
            </a:pPr>
            <a:r>
              <a:rPr lang="en-US" sz="800" b="1" kern="0" spc="100" dirty="0">
                <a:solidFill>
                  <a:schemeClr val="tx2"/>
                </a:solidFill>
              </a:rPr>
              <a:t>INTERPRETATION</a:t>
            </a:r>
            <a:endParaRPr lang="en-US" sz="800" dirty="0"/>
          </a:p>
        </p:txBody>
      </p:sp>
      <p:sp>
        <p:nvSpPr>
          <p:cNvPr id="7" name="Evidence tag HYPOTHESIS · VALIDATE"/>
          <p:cNvSpPr txBox="1"/>
          <p:nvPr/>
        </p:nvSpPr>
        <p:spPr>
          <a:xfrm>
            <a:off x="10104120" y="329184"/>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marL="0" indent="0" algn="ctr">
              <a:buNone/>
            </a:pPr>
            <a:r>
              <a:rPr lang="en-US" sz="800" b="1" kern="0" spc="100" dirty="0">
                <a:solidFill>
                  <a:schemeClr val="tx1"/>
                </a:solidFill>
              </a:rPr>
              <a:t>HYPOTHESIS · VALIDATE</a:t>
            </a:r>
            <a:endParaRPr lang="en-US" sz="800" dirty="0"/>
          </a:p>
        </p:txBody>
      </p:sp>
      <p:sp>
        <p:nvSpPr>
          <p:cNvPr id="8" name="Text 6"/>
          <p:cNvSpPr txBox="1"/>
          <p:nvPr/>
        </p:nvSpPr>
        <p:spPr>
          <a:xfrm>
            <a:off x="548640" y="1600200"/>
            <a:ext cx="36576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PROBLEM STATEMENT</a:t>
            </a:r>
            <a:endParaRPr lang="en-US" sz="1200" dirty="0"/>
          </a:p>
        </p:txBody>
      </p:sp>
      <p:sp>
        <p:nvSpPr>
          <p:cNvPr id="9" name="Label TARGET USER"/>
          <p:cNvSpPr/>
          <p:nvPr/>
        </p:nvSpPr>
        <p:spPr>
          <a:xfrm>
            <a:off x="548640" y="1920240"/>
            <a:ext cx="1691640" cy="914400"/>
          </a:xfrm>
          <a:prstGeom prst="rect">
            <a:avLst/>
          </a:prstGeom>
          <a:solidFill>
            <a:schemeClr val="tx2"/>
          </a:solidFill>
          <a:ln/>
        </p:spPr>
      </p:sp>
      <p:sp>
        <p:nvSpPr>
          <p:cNvPr id="10" name="Text 8"/>
          <p:cNvSpPr txBox="1"/>
          <p:nvPr/>
        </p:nvSpPr>
        <p:spPr>
          <a:xfrm>
            <a:off x="658368" y="2011680"/>
            <a:ext cx="1508760" cy="457200"/>
          </a:xfrm>
          <a:prstGeom prst="rect">
            <a:avLst/>
          </a:prstGeom>
          <a:noFill/>
          <a:ln/>
        </p:spPr>
        <p:txBody>
          <a:bodyPr wrap="square" lIns="0" tIns="0" rIns="0" bIns="0" rtlCol="0" anchor="t"/>
          <a:lstStyle/>
          <a:p>
            <a:pPr marL="0" indent="0">
              <a:buNone/>
            </a:pPr>
            <a:r>
              <a:rPr lang="en-US" sz="1200" b="1" dirty="0">
                <a:solidFill>
                  <a:schemeClr val="bg1"/>
                </a:solidFill>
              </a:rPr>
              <a:t>TARGET USER</a:t>
            </a:r>
            <a:endParaRPr lang="en-US" sz="1200" dirty="0"/>
          </a:p>
        </p:txBody>
      </p:sp>
      <p:sp>
        <p:nvSpPr>
          <p:cNvPr id="11" name="Evidence tag INTERPRETATION"/>
          <p:cNvSpPr txBox="1"/>
          <p:nvPr/>
        </p:nvSpPr>
        <p:spPr>
          <a:xfrm>
            <a:off x="658368" y="2523744"/>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marL="0" indent="0" algn="ctr">
              <a:buNone/>
            </a:pPr>
            <a:r>
              <a:rPr lang="en-US" sz="800" b="1" kern="0" spc="100" dirty="0">
                <a:solidFill>
                  <a:schemeClr val="tx2"/>
                </a:solidFill>
              </a:rPr>
              <a:t>INTERPRETATION</a:t>
            </a:r>
            <a:endParaRPr lang="en-US" sz="800" dirty="0"/>
          </a:p>
        </p:txBody>
      </p:sp>
      <p:sp>
        <p:nvSpPr>
          <p:cNvPr id="12" name="Statement TARGET USER"/>
          <p:cNvSpPr/>
          <p:nvPr/>
        </p:nvSpPr>
        <p:spPr>
          <a:xfrm>
            <a:off x="2240280" y="1920240"/>
            <a:ext cx="5349240" cy="914400"/>
          </a:xfrm>
          <a:prstGeom prst="rect">
            <a:avLst/>
          </a:prstGeom>
          <a:solidFill>
            <a:schemeClr val="bg2"/>
          </a:solidFill>
          <a:ln/>
        </p:spPr>
      </p:sp>
      <p:sp>
        <p:nvSpPr>
          <p:cNvPr id="13" name="Text 11"/>
          <p:cNvSpPr txBox="1"/>
          <p:nvPr/>
        </p:nvSpPr>
        <p:spPr>
          <a:xfrm>
            <a:off x="2377440" y="1920240"/>
            <a:ext cx="5120640" cy="914400"/>
          </a:xfrm>
          <a:prstGeom prst="rect">
            <a:avLst/>
          </a:prstGeom>
          <a:noFill/>
          <a:ln/>
        </p:spPr>
        <p:txBody>
          <a:bodyPr wrap="square" lIns="0" tIns="0" rIns="0" bIns="0" rtlCol="0" anchor="ctr"/>
          <a:lstStyle/>
          <a:p>
            <a:pPr marL="0" indent="0">
              <a:buNone/>
            </a:pPr>
            <a:r>
              <a:rPr lang="en-US" sz="1350" dirty="0">
                <a:solidFill>
                  <a:schemeClr val="tx1"/>
                </a:solidFill>
              </a:rPr>
              <a:t>Dispatchers of perishable fruit and vegetable consignments: commission agents, traders and FPO marketing staff who send produce from assembly mandis to distant wholesale markets</a:t>
            </a:r>
            <a:endParaRPr lang="en-US" sz="1350" dirty="0"/>
          </a:p>
        </p:txBody>
      </p:sp>
      <p:sp>
        <p:nvSpPr>
          <p:cNvPr id="14" name="Label FACE DIFFICULTY WITH"/>
          <p:cNvSpPr/>
          <p:nvPr/>
        </p:nvSpPr>
        <p:spPr>
          <a:xfrm>
            <a:off x="548640" y="2944368"/>
            <a:ext cx="1691640" cy="914400"/>
          </a:xfrm>
          <a:prstGeom prst="rect">
            <a:avLst/>
          </a:prstGeom>
          <a:solidFill>
            <a:schemeClr val="tx2"/>
          </a:solidFill>
          <a:ln/>
        </p:spPr>
      </p:sp>
      <p:sp>
        <p:nvSpPr>
          <p:cNvPr id="15" name="Text 13"/>
          <p:cNvSpPr txBox="1"/>
          <p:nvPr/>
        </p:nvSpPr>
        <p:spPr>
          <a:xfrm>
            <a:off x="658368" y="3035808"/>
            <a:ext cx="1508760" cy="457200"/>
          </a:xfrm>
          <a:prstGeom prst="rect">
            <a:avLst/>
          </a:prstGeom>
          <a:noFill/>
          <a:ln/>
        </p:spPr>
        <p:txBody>
          <a:bodyPr wrap="square" lIns="0" tIns="0" rIns="0" bIns="0" rtlCol="0" anchor="t"/>
          <a:lstStyle/>
          <a:p>
            <a:pPr marL="0" indent="0">
              <a:buNone/>
            </a:pPr>
            <a:r>
              <a:rPr lang="en-US" sz="1200" b="1" dirty="0">
                <a:solidFill>
                  <a:schemeClr val="bg1"/>
                </a:solidFill>
              </a:rPr>
              <a:t>FACE DIFFICULTY WITH</a:t>
            </a:r>
            <a:endParaRPr lang="en-US" sz="1200" dirty="0"/>
          </a:p>
        </p:txBody>
      </p:sp>
      <p:sp>
        <p:nvSpPr>
          <p:cNvPr id="16" name="Evidence tag DOCUMENTED"/>
          <p:cNvSpPr txBox="1"/>
          <p:nvPr/>
        </p:nvSpPr>
        <p:spPr>
          <a:xfrm>
            <a:off x="658368" y="3547872"/>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17" name="Statement FACE DIFFICULTY WITH"/>
          <p:cNvSpPr/>
          <p:nvPr/>
        </p:nvSpPr>
        <p:spPr>
          <a:xfrm>
            <a:off x="2240280" y="2944368"/>
            <a:ext cx="5349240" cy="914400"/>
          </a:xfrm>
          <a:prstGeom prst="rect">
            <a:avLst/>
          </a:prstGeom>
          <a:solidFill>
            <a:schemeClr val="bg2"/>
          </a:solidFill>
          <a:ln/>
        </p:spPr>
      </p:sp>
      <p:sp>
        <p:nvSpPr>
          <p:cNvPr id="18" name="Text 16"/>
          <p:cNvSpPr txBox="1"/>
          <p:nvPr/>
        </p:nvSpPr>
        <p:spPr>
          <a:xfrm>
            <a:off x="2377440" y="2944368"/>
            <a:ext cx="5120640" cy="914400"/>
          </a:xfrm>
          <a:prstGeom prst="rect">
            <a:avLst/>
          </a:prstGeom>
          <a:noFill/>
          <a:ln/>
        </p:spPr>
        <p:txBody>
          <a:bodyPr wrap="square" lIns="0" tIns="0" rIns="0" bIns="0" rtlCol="0" anchor="ctr"/>
          <a:lstStyle/>
          <a:p>
            <a:pPr marL="0" indent="0">
              <a:buNone/>
            </a:pPr>
            <a:r>
              <a:rPr lang="en-US" sz="1350" dirty="0">
                <a:solidFill>
                  <a:schemeClr val="tx1"/>
                </a:solidFill>
              </a:rPr>
              <a:t>getting each load to a market where it arrives still saleable and fetches a fair price</a:t>
            </a:r>
            <a:endParaRPr lang="en-US" sz="1350" dirty="0"/>
          </a:p>
        </p:txBody>
      </p:sp>
      <p:sp>
        <p:nvSpPr>
          <p:cNvPr id="19" name="Label BECAUSE OF"/>
          <p:cNvSpPr/>
          <p:nvPr/>
        </p:nvSpPr>
        <p:spPr>
          <a:xfrm>
            <a:off x="548640" y="3968496"/>
            <a:ext cx="1691640" cy="914400"/>
          </a:xfrm>
          <a:prstGeom prst="rect">
            <a:avLst/>
          </a:prstGeom>
          <a:solidFill>
            <a:schemeClr val="tx2"/>
          </a:solidFill>
          <a:ln/>
        </p:spPr>
      </p:sp>
      <p:sp>
        <p:nvSpPr>
          <p:cNvPr id="20" name="Text 18"/>
          <p:cNvSpPr txBox="1"/>
          <p:nvPr/>
        </p:nvSpPr>
        <p:spPr>
          <a:xfrm>
            <a:off x="658368" y="4059936"/>
            <a:ext cx="1508760" cy="457200"/>
          </a:xfrm>
          <a:prstGeom prst="rect">
            <a:avLst/>
          </a:prstGeom>
          <a:noFill/>
          <a:ln/>
        </p:spPr>
        <p:txBody>
          <a:bodyPr wrap="square" lIns="0" tIns="0" rIns="0" bIns="0" rtlCol="0" anchor="t"/>
          <a:lstStyle/>
          <a:p>
            <a:pPr marL="0" indent="0">
              <a:buNone/>
            </a:pPr>
            <a:r>
              <a:rPr lang="en-US" sz="1200" b="1" dirty="0">
                <a:solidFill>
                  <a:schemeClr val="bg1"/>
                </a:solidFill>
              </a:rPr>
              <a:t>BECAUSE OF</a:t>
            </a:r>
            <a:endParaRPr lang="en-US" sz="1200" dirty="0"/>
          </a:p>
        </p:txBody>
      </p:sp>
      <p:sp>
        <p:nvSpPr>
          <p:cNvPr id="21" name="Evidence tag HYPOTHESIS · VALIDATE"/>
          <p:cNvSpPr txBox="1"/>
          <p:nvPr/>
        </p:nvSpPr>
        <p:spPr>
          <a:xfrm>
            <a:off x="658368" y="4572000"/>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marL="0" indent="0" algn="ctr">
              <a:buNone/>
            </a:pPr>
            <a:r>
              <a:rPr lang="en-US" sz="800" b="1" kern="0" spc="100" dirty="0">
                <a:solidFill>
                  <a:schemeClr val="tx1"/>
                </a:solidFill>
              </a:rPr>
              <a:t>HYPOTHESIS · VALIDATE</a:t>
            </a:r>
            <a:endParaRPr lang="en-US" sz="800" dirty="0"/>
          </a:p>
        </p:txBody>
      </p:sp>
      <p:sp>
        <p:nvSpPr>
          <p:cNvPr id="22" name="Statement BECAUSE OF"/>
          <p:cNvSpPr/>
          <p:nvPr/>
        </p:nvSpPr>
        <p:spPr>
          <a:xfrm>
            <a:off x="2240280" y="3968496"/>
            <a:ext cx="5349240" cy="914400"/>
          </a:xfrm>
          <a:prstGeom prst="rect">
            <a:avLst/>
          </a:prstGeom>
          <a:solidFill>
            <a:schemeClr val="bg2"/>
          </a:solidFill>
          <a:ln/>
        </p:spPr>
      </p:sp>
      <p:sp>
        <p:nvSpPr>
          <p:cNvPr id="23" name="Text 21"/>
          <p:cNvSpPr txBox="1"/>
          <p:nvPr/>
        </p:nvSpPr>
        <p:spPr>
          <a:xfrm>
            <a:off x="2377440" y="3968496"/>
            <a:ext cx="5120640" cy="914400"/>
          </a:xfrm>
          <a:prstGeom prst="rect">
            <a:avLst/>
          </a:prstGeom>
          <a:noFill/>
          <a:ln/>
        </p:spPr>
        <p:txBody>
          <a:bodyPr wrap="square" lIns="0" tIns="0" rIns="0" bIns="0" rtlCol="0" anchor="ctr"/>
          <a:lstStyle/>
          <a:p>
            <a:pPr marL="0" indent="0">
              <a:buNone/>
            </a:pPr>
            <a:r>
              <a:rPr lang="en-US" sz="1350" dirty="0">
                <a:solidFill>
                  <a:schemeClr val="tx1"/>
                </a:solidFill>
              </a:rPr>
              <a:t>transit time, heat, handling and destination-market conditions that vary after dispatch, in mostly non-refrigerated trucks, and that are poorly measured or visible when the decision is made</a:t>
            </a:r>
            <a:endParaRPr lang="en-US" sz="1350" dirty="0"/>
          </a:p>
        </p:txBody>
      </p:sp>
      <p:sp>
        <p:nvSpPr>
          <p:cNvPr id="24" name="Label RESULTING IN"/>
          <p:cNvSpPr/>
          <p:nvPr/>
        </p:nvSpPr>
        <p:spPr>
          <a:xfrm>
            <a:off x="548640" y="4992624"/>
            <a:ext cx="1691640" cy="914400"/>
          </a:xfrm>
          <a:prstGeom prst="rect">
            <a:avLst/>
          </a:prstGeom>
          <a:solidFill>
            <a:schemeClr val="tx2"/>
          </a:solidFill>
          <a:ln/>
        </p:spPr>
      </p:sp>
      <p:sp>
        <p:nvSpPr>
          <p:cNvPr id="25" name="Text 23"/>
          <p:cNvSpPr txBox="1"/>
          <p:nvPr/>
        </p:nvSpPr>
        <p:spPr>
          <a:xfrm>
            <a:off x="658368" y="5084064"/>
            <a:ext cx="1508760" cy="457200"/>
          </a:xfrm>
          <a:prstGeom prst="rect">
            <a:avLst/>
          </a:prstGeom>
          <a:noFill/>
          <a:ln/>
        </p:spPr>
        <p:txBody>
          <a:bodyPr wrap="square" lIns="0" tIns="0" rIns="0" bIns="0" rtlCol="0" anchor="t"/>
          <a:lstStyle/>
          <a:p>
            <a:pPr marL="0" indent="0">
              <a:buNone/>
            </a:pPr>
            <a:r>
              <a:rPr lang="en-US" sz="1200" b="1" dirty="0">
                <a:solidFill>
                  <a:schemeClr val="bg1"/>
                </a:solidFill>
              </a:rPr>
              <a:t>RESULTING IN</a:t>
            </a:r>
            <a:endParaRPr lang="en-US" sz="1200" dirty="0"/>
          </a:p>
        </p:txBody>
      </p:sp>
      <p:sp>
        <p:nvSpPr>
          <p:cNvPr id="26" name="Evidence tag DOCUMENTED"/>
          <p:cNvSpPr txBox="1"/>
          <p:nvPr/>
        </p:nvSpPr>
        <p:spPr>
          <a:xfrm>
            <a:off x="658368" y="5596128"/>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27" name="Statement RESULTING IN"/>
          <p:cNvSpPr/>
          <p:nvPr/>
        </p:nvSpPr>
        <p:spPr>
          <a:xfrm>
            <a:off x="2240280" y="4992624"/>
            <a:ext cx="5349240" cy="914400"/>
          </a:xfrm>
          <a:prstGeom prst="rect">
            <a:avLst/>
          </a:prstGeom>
          <a:solidFill>
            <a:schemeClr val="bg2"/>
          </a:solidFill>
          <a:ln/>
        </p:spPr>
      </p:sp>
      <p:sp>
        <p:nvSpPr>
          <p:cNvPr id="28" name="Text 26"/>
          <p:cNvSpPr txBox="1"/>
          <p:nvPr/>
        </p:nvSpPr>
        <p:spPr>
          <a:xfrm>
            <a:off x="2377440" y="4992624"/>
            <a:ext cx="5120640" cy="914400"/>
          </a:xfrm>
          <a:prstGeom prst="rect">
            <a:avLst/>
          </a:prstGeom>
          <a:noFill/>
          <a:ln/>
        </p:spPr>
        <p:txBody>
          <a:bodyPr wrap="square" lIns="0" tIns="0" rIns="0" bIns="0" rtlCol="0" anchor="ctr"/>
          <a:lstStyle/>
          <a:p>
            <a:pPr marL="0" indent="0">
              <a:buNone/>
            </a:pPr>
            <a:r>
              <a:rPr lang="en-US" sz="1350" dirty="0">
                <a:solidFill>
                  <a:schemeClr val="tx1"/>
                </a:solidFill>
              </a:rPr>
              <a:t>quality downgrades, distress sales and wastage, with costs falling largely on farmers and traders and reaching consumers as price volatility</a:t>
            </a:r>
            <a:endParaRPr lang="en-US" sz="1350" dirty="0"/>
          </a:p>
        </p:txBody>
      </p:sp>
      <p:sp>
        <p:nvSpPr>
          <p:cNvPr id="29" name="Scope card"/>
          <p:cNvSpPr/>
          <p:nvPr/>
        </p:nvSpPr>
        <p:spPr>
          <a:xfrm>
            <a:off x="7909560" y="1600200"/>
            <a:ext cx="3730752" cy="4306824"/>
          </a:xfrm>
          <a:prstGeom prst="roundRect">
            <a:avLst>
              <a:gd name="adj" fmla="val 1961"/>
            </a:avLst>
          </a:prstGeom>
          <a:solidFill>
            <a:schemeClr val="bg1"/>
          </a:solidFill>
          <a:ln w="15875">
            <a:solidFill>
              <a:schemeClr val="accent6"/>
            </a:solidFill>
            <a:prstDash val="solid"/>
          </a:ln>
        </p:spPr>
      </p:sp>
      <p:sp>
        <p:nvSpPr>
          <p:cNvPr id="30" name="In scope circle"/>
          <p:cNvSpPr/>
          <p:nvPr/>
        </p:nvSpPr>
        <p:spPr>
          <a:xfrm>
            <a:off x="8119872" y="1783080"/>
            <a:ext cx="347472" cy="347472"/>
          </a:xfrm>
          <a:prstGeom prst="ellipse">
            <a:avLst/>
          </a:prstGeom>
          <a:solidFill>
            <a:schemeClr val="accent1"/>
          </a:solidFill>
          <a:ln/>
        </p:spPr>
      </p:sp>
      <p:pic>
        <p:nvPicPr>
          <p:cNvPr id="31" name="In scope icon" descr="preencoded.png"/>
          <p:cNvPicPr>
            <a:picLocks noChangeAspect="1"/>
          </p:cNvPicPr>
          <p:nvPr/>
        </p:nvPicPr>
        <p:blipFill>
          <a:blip r:embed="rId3"/>
          <a:stretch>
            <a:fillRect/>
          </a:stretch>
        </p:blipFill>
        <p:spPr>
          <a:xfrm>
            <a:off x="8206740" y="1869948"/>
            <a:ext cx="173736" cy="173736"/>
          </a:xfrm>
          <a:prstGeom prst="rect">
            <a:avLst/>
          </a:prstGeom>
        </p:spPr>
      </p:pic>
      <p:sp>
        <p:nvSpPr>
          <p:cNvPr id="32" name="Text 29"/>
          <p:cNvSpPr txBox="1"/>
          <p:nvPr/>
        </p:nvSpPr>
        <p:spPr>
          <a:xfrm>
            <a:off x="8549640" y="1783080"/>
            <a:ext cx="2743200" cy="347472"/>
          </a:xfrm>
          <a:prstGeom prst="rect">
            <a:avLst/>
          </a:prstGeom>
          <a:noFill/>
          <a:ln/>
        </p:spPr>
        <p:txBody>
          <a:bodyPr wrap="square" lIns="0" tIns="0" rIns="0" bIns="0" rtlCol="0" anchor="ctr"/>
          <a:lstStyle/>
          <a:p>
            <a:pPr marL="0" indent="0">
              <a:buNone/>
            </a:pPr>
            <a:r>
              <a:rPr lang="en-US" sz="1300" b="1" dirty="0">
                <a:solidFill>
                  <a:schemeClr val="accent1"/>
                </a:solidFill>
              </a:rPr>
              <a:t>IN SCOPE</a:t>
            </a:r>
            <a:endParaRPr lang="en-US" sz="1300" dirty="0"/>
          </a:p>
        </p:txBody>
      </p:sp>
      <p:sp>
        <p:nvSpPr>
          <p:cNvPr id="33" name="Text 30"/>
          <p:cNvSpPr txBox="1"/>
          <p:nvPr/>
        </p:nvSpPr>
        <p:spPr>
          <a:xfrm>
            <a:off x="8119872" y="2194560"/>
            <a:ext cx="3383280" cy="178308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Highly perishable fruit &amp; vegetables (e.g. tomato, guava, banana, mango, gourds)</a:t>
            </a:r>
            <a:endParaRPr lang="en-US" sz="1200" dirty="0"/>
          </a:p>
          <a:p>
            <a:pPr marL="152400" indent="-152400">
              <a:spcAft>
                <a:spcPts val="300"/>
              </a:spcAft>
              <a:buSzPct val="100000"/>
              <a:buChar char="•"/>
            </a:pPr>
            <a:r>
              <a:rPr lang="en-US" sz="1200" dirty="0">
                <a:solidFill>
                  <a:schemeClr val="tx1"/>
                </a:solidFill>
              </a:rPr>
              <a:t>Road movement after first aggregation, up to sale at the receiving market</a:t>
            </a:r>
            <a:endParaRPr lang="en-US" sz="1200" dirty="0"/>
          </a:p>
          <a:p>
            <a:pPr marL="152400" indent="-152400">
              <a:spcAft>
                <a:spcPts val="300"/>
              </a:spcAft>
              <a:buSzPct val="100000"/>
              <a:buChar char="•"/>
            </a:pPr>
            <a:r>
              <a:rPr lang="en-US" sz="1200" dirty="0">
                <a:solidFill>
                  <a:schemeClr val="tx1"/>
                </a:solidFill>
              </a:rPr>
              <a:t>Ambient (non-reefer) transport, the dominant mode [4]</a:t>
            </a:r>
            <a:endParaRPr lang="en-US" sz="1200" dirty="0"/>
          </a:p>
          <a:p>
            <a:pPr marL="152400" indent="-152400">
              <a:spcAft>
                <a:spcPts val="300"/>
              </a:spcAft>
              <a:buSzPct val="100000"/>
              <a:buChar char="•"/>
            </a:pPr>
            <a:r>
              <a:rPr lang="en-US" sz="1200" dirty="0">
                <a:solidFill>
                  <a:schemeClr val="tx1"/>
                </a:solidFill>
              </a:rPr>
              <a:t>Variation by distance, season and region</a:t>
            </a:r>
            <a:endParaRPr lang="en-US" sz="1200" dirty="0"/>
          </a:p>
        </p:txBody>
      </p:sp>
      <p:sp>
        <p:nvSpPr>
          <p:cNvPr id="34" name="Out of scope circle"/>
          <p:cNvSpPr/>
          <p:nvPr/>
        </p:nvSpPr>
        <p:spPr>
          <a:xfrm>
            <a:off x="8119872" y="4023360"/>
            <a:ext cx="347472" cy="347472"/>
          </a:xfrm>
          <a:prstGeom prst="ellipse">
            <a:avLst/>
          </a:prstGeom>
          <a:solidFill>
            <a:schemeClr val="accent4"/>
          </a:solidFill>
          <a:ln/>
        </p:spPr>
      </p:sp>
      <p:pic>
        <p:nvPicPr>
          <p:cNvPr id="35" name="Out of scope icon" descr="preencoded.png"/>
          <p:cNvPicPr>
            <a:picLocks noChangeAspect="1"/>
          </p:cNvPicPr>
          <p:nvPr/>
        </p:nvPicPr>
        <p:blipFill>
          <a:blip r:embed="rId4"/>
          <a:stretch>
            <a:fillRect/>
          </a:stretch>
        </p:blipFill>
        <p:spPr>
          <a:xfrm>
            <a:off x="8206740" y="4110228"/>
            <a:ext cx="173736" cy="173736"/>
          </a:xfrm>
          <a:prstGeom prst="rect">
            <a:avLst/>
          </a:prstGeom>
        </p:spPr>
      </p:pic>
      <p:sp>
        <p:nvSpPr>
          <p:cNvPr id="36" name="Text 32"/>
          <p:cNvSpPr txBox="1"/>
          <p:nvPr/>
        </p:nvSpPr>
        <p:spPr>
          <a:xfrm>
            <a:off x="8549640" y="4023360"/>
            <a:ext cx="2743200" cy="347472"/>
          </a:xfrm>
          <a:prstGeom prst="rect">
            <a:avLst/>
          </a:prstGeom>
          <a:noFill/>
          <a:ln/>
        </p:spPr>
        <p:txBody>
          <a:bodyPr wrap="square" lIns="0" tIns="0" rIns="0" bIns="0" rtlCol="0" anchor="ctr"/>
          <a:lstStyle/>
          <a:p>
            <a:pPr marL="0" indent="0">
              <a:buNone/>
            </a:pPr>
            <a:r>
              <a:rPr lang="en-US" sz="1300" b="1" dirty="0">
                <a:solidFill>
                  <a:schemeClr val="accent4"/>
                </a:solidFill>
              </a:rPr>
              <a:t>OUT OF SCOPE</a:t>
            </a:r>
            <a:endParaRPr lang="en-US" sz="1300" dirty="0"/>
          </a:p>
        </p:txBody>
      </p:sp>
      <p:sp>
        <p:nvSpPr>
          <p:cNvPr id="37" name="Text 33"/>
          <p:cNvSpPr txBox="1"/>
          <p:nvPr/>
        </p:nvSpPr>
        <p:spPr>
          <a:xfrm>
            <a:off x="8119872" y="4434840"/>
            <a:ext cx="3383280" cy="13716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Grains &amp; pulses: market-stage loss only ≈0.6–1.2% [1]</a:t>
            </a:r>
            <a:endParaRPr lang="en-US" sz="1200" dirty="0"/>
          </a:p>
          <a:p>
            <a:pPr marL="152400" indent="-152400">
              <a:spcAft>
                <a:spcPts val="300"/>
              </a:spcAft>
              <a:buSzPct val="100000"/>
              <a:buChar char="•"/>
            </a:pPr>
            <a:r>
              <a:rPr lang="en-US" sz="1200" dirty="0">
                <a:solidFill>
                  <a:schemeClr val="tx1"/>
                </a:solidFill>
              </a:rPr>
              <a:t>Farm-level harvest losses; household waste</a:t>
            </a:r>
            <a:endParaRPr lang="en-US" sz="1200" dirty="0"/>
          </a:p>
          <a:p>
            <a:pPr marL="152400" indent="-152400">
              <a:spcAft>
                <a:spcPts val="300"/>
              </a:spcAft>
              <a:buSzPct val="100000"/>
              <a:buChar char="•"/>
            </a:pPr>
            <a:r>
              <a:rPr lang="en-US" sz="1200" dirty="0">
                <a:solidFill>
                  <a:schemeClr val="tx1"/>
                </a:solidFill>
              </a:rPr>
              <a:t>Long-term cold storage of potato and onion</a:t>
            </a:r>
            <a:endParaRPr lang="en-US" sz="1200" dirty="0"/>
          </a:p>
          <a:p>
            <a:pPr marL="152400" indent="-152400">
              <a:spcAft>
                <a:spcPts val="300"/>
              </a:spcAft>
              <a:buSzPct val="100000"/>
              <a:buChar char="•"/>
            </a:pPr>
            <a:r>
              <a:rPr lang="en-US" sz="1200" dirty="0">
                <a:solidFill>
                  <a:schemeClr val="tx1"/>
                </a:solidFill>
              </a:rPr>
              <a:t>Any proposed solution</a:t>
            </a:r>
            <a:endParaRPr lang="en-US" sz="1200" dirty="0"/>
          </a:p>
        </p:txBody>
      </p:sp>
      <p:sp>
        <p:nvSpPr>
          <p:cNvPr id="38"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Tags show how firmly each part is supported. The “because” clause mixes documented transit factors [3] with an untested claim about visibility at dispatch. Sources: [1] NABCONS 2022 via PIB 2025; [3] WRI India 2024; [4] NCCD 2015.</a:t>
            </a:r>
            <a:endParaRPr lang="en-US" sz="950" dirty="0"/>
          </a:p>
        </p:txBody>
      </p:sp>
      <p:sp>
        <p:nvSpPr>
          <p:cNvPr id="39"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02  ·  CONTEXT</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Where it happens: failure points from mandi to market</a:t>
            </a:r>
            <a:endParaRPr lang="en-US" sz="2600" dirty="0"/>
          </a:p>
        </p:txBody>
      </p:sp>
      <p:sp>
        <p:nvSpPr>
          <p:cNvPr id="4" name="Text 2"/>
          <p:cNvSpPr txBox="1"/>
          <p:nvPr/>
        </p:nvSpPr>
        <p:spPr>
          <a:xfrm>
            <a:off x="6867144" y="329184"/>
            <a:ext cx="841248" cy="210312"/>
          </a:xfrm>
          <a:prstGeom prst="rect">
            <a:avLst/>
          </a:prstGeom>
          <a:noFill/>
          <a:ln/>
        </p:spPr>
        <p:txBody>
          <a:bodyPr wrap="square" lIns="0" tIns="0" rIns="0" bIns="0" rtlCol="0" anchor="ctr"/>
          <a:lstStyle/>
          <a:p>
            <a:pPr marL="0" indent="0" algn="r">
              <a:buNone/>
            </a:pPr>
            <a:r>
              <a:rPr lang="en-US" sz="900" dirty="0">
                <a:solidFill>
                  <a:schemeClr val="accent5"/>
                </a:solidFill>
              </a:rPr>
              <a:t>Evidence key</a:t>
            </a:r>
            <a:endParaRPr lang="en-US" sz="900" dirty="0"/>
          </a:p>
        </p:txBody>
      </p:sp>
      <p:sp>
        <p:nvSpPr>
          <p:cNvPr id="5" name="Evidence tag DOCUMENTED"/>
          <p:cNvSpPr txBox="1"/>
          <p:nvPr/>
        </p:nvSpPr>
        <p:spPr>
          <a:xfrm>
            <a:off x="7781544" y="329184"/>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6" name="Evidence tag INTERPRETATION"/>
          <p:cNvSpPr txBox="1"/>
          <p:nvPr/>
        </p:nvSpPr>
        <p:spPr>
          <a:xfrm>
            <a:off x="8842248" y="329184"/>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marL="0" indent="0" algn="ctr">
              <a:buNone/>
            </a:pPr>
            <a:r>
              <a:rPr lang="en-US" sz="800" b="1" kern="0" spc="100" dirty="0">
                <a:solidFill>
                  <a:schemeClr val="tx2"/>
                </a:solidFill>
              </a:rPr>
              <a:t>INTERPRETATION</a:t>
            </a:r>
            <a:endParaRPr lang="en-US" sz="800" dirty="0"/>
          </a:p>
        </p:txBody>
      </p:sp>
      <p:sp>
        <p:nvSpPr>
          <p:cNvPr id="7" name="Evidence tag HYPOTHESIS · VALIDATE"/>
          <p:cNvSpPr txBox="1"/>
          <p:nvPr/>
        </p:nvSpPr>
        <p:spPr>
          <a:xfrm>
            <a:off x="10104120" y="329184"/>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marL="0" indent="0" algn="ctr">
              <a:buNone/>
            </a:pPr>
            <a:r>
              <a:rPr lang="en-US" sz="800" b="1" kern="0" spc="100" dirty="0">
                <a:solidFill>
                  <a:schemeClr val="tx1"/>
                </a:solidFill>
              </a:rPr>
              <a:t>HYPOTHESIS · VALIDATE</a:t>
            </a:r>
            <a:endParaRPr lang="en-US" sz="800" dirty="0"/>
          </a:p>
        </p:txBody>
      </p:sp>
      <p:sp>
        <p:nvSpPr>
          <p:cNvPr id="8" name="Focus band"/>
          <p:cNvSpPr/>
          <p:nvPr/>
        </p:nvSpPr>
        <p:spPr>
          <a:xfrm>
            <a:off x="2336292" y="1481328"/>
            <a:ext cx="7516368" cy="3977640"/>
          </a:xfrm>
          <a:prstGeom prst="roundRect">
            <a:avLst>
              <a:gd name="adj" fmla="val 1839"/>
            </a:avLst>
          </a:prstGeom>
          <a:solidFill>
            <a:schemeClr val="bg2"/>
          </a:solidFill>
          <a:ln/>
        </p:spPr>
      </p:sp>
      <p:sp>
        <p:nvSpPr>
          <p:cNvPr id="9" name="Text 7"/>
          <p:cNvSpPr txBox="1"/>
          <p:nvPr/>
        </p:nvSpPr>
        <p:spPr>
          <a:xfrm>
            <a:off x="2427732" y="1527048"/>
            <a:ext cx="2743200" cy="228600"/>
          </a:xfrm>
          <a:prstGeom prst="rect">
            <a:avLst/>
          </a:prstGeom>
          <a:noFill/>
          <a:ln/>
        </p:spPr>
        <p:txBody>
          <a:bodyPr wrap="square" lIns="0" tIns="0" rIns="0" bIns="0" rtlCol="0" anchor="ctr"/>
          <a:lstStyle/>
          <a:p>
            <a:pPr marL="0" indent="0">
              <a:buNone/>
            </a:pPr>
            <a:r>
              <a:rPr lang="en-US" sz="950" b="1" kern="0" spc="200" dirty="0">
                <a:solidFill>
                  <a:schemeClr val="accent1"/>
                </a:solidFill>
              </a:rPr>
              <a:t>FOCUS OF THIS BRIEF</a:t>
            </a:r>
            <a:endParaRPr lang="en-US" sz="950" dirty="0"/>
          </a:p>
        </p:txBody>
      </p:sp>
      <p:sp>
        <p:nvSpPr>
          <p:cNvPr id="10" name="Flow arrow 0"/>
          <p:cNvSpPr/>
          <p:nvPr/>
        </p:nvSpPr>
        <p:spPr>
          <a:xfrm>
            <a:off x="1762506" y="2194560"/>
            <a:ext cx="1147572" cy="0"/>
          </a:xfrm>
          <a:prstGeom prst="line">
            <a:avLst/>
          </a:prstGeom>
          <a:noFill/>
          <a:ln w="15875">
            <a:solidFill>
              <a:srgbClr val="5E6E7E"/>
            </a:solidFill>
            <a:prstDash val="solid"/>
            <a:tailEnd type="triangle"/>
          </a:ln>
        </p:spPr>
      </p:sp>
      <p:sp>
        <p:nvSpPr>
          <p:cNvPr id="11" name="Stage 1 circle"/>
          <p:cNvSpPr/>
          <p:nvPr/>
        </p:nvSpPr>
        <p:spPr>
          <a:xfrm>
            <a:off x="1076706" y="1874520"/>
            <a:ext cx="640080" cy="640080"/>
          </a:xfrm>
          <a:prstGeom prst="ellipse">
            <a:avLst/>
          </a:prstGeom>
          <a:solidFill>
            <a:schemeClr val="accent5"/>
          </a:solidFill>
          <a:ln/>
        </p:spPr>
      </p:sp>
      <p:pic>
        <p:nvPicPr>
          <p:cNvPr id="12" name="Stage 1 icon" descr="preencoded.png"/>
          <p:cNvPicPr>
            <a:picLocks noChangeAspect="1"/>
          </p:cNvPicPr>
          <p:nvPr/>
        </p:nvPicPr>
        <p:blipFill>
          <a:blip r:embed="rId3"/>
          <a:stretch>
            <a:fillRect/>
          </a:stretch>
        </p:blipFill>
        <p:spPr>
          <a:xfrm>
            <a:off x="1236726" y="2034540"/>
            <a:ext cx="320040" cy="320040"/>
          </a:xfrm>
          <a:prstGeom prst="rect">
            <a:avLst/>
          </a:prstGeom>
        </p:spPr>
      </p:pic>
      <p:sp>
        <p:nvSpPr>
          <p:cNvPr id="13" name="Text 10"/>
          <p:cNvSpPr txBox="1"/>
          <p:nvPr/>
        </p:nvSpPr>
        <p:spPr>
          <a:xfrm>
            <a:off x="548640" y="2578608"/>
            <a:ext cx="1696212" cy="274320"/>
          </a:xfrm>
          <a:prstGeom prst="rect">
            <a:avLst/>
          </a:prstGeom>
          <a:noFill/>
          <a:ln/>
        </p:spPr>
        <p:txBody>
          <a:bodyPr wrap="square" lIns="0" tIns="0" rIns="0" bIns="0" rtlCol="0" anchor="ctr"/>
          <a:lstStyle/>
          <a:p>
            <a:pPr marL="0" indent="0" algn="ctr">
              <a:buNone/>
            </a:pPr>
            <a:r>
              <a:rPr lang="en-US" sz="1300" b="1" dirty="0">
                <a:solidFill>
                  <a:schemeClr val="tx2"/>
                </a:solidFill>
              </a:rPr>
              <a:t>Farm &amp; harvest</a:t>
            </a:r>
            <a:endParaRPr lang="en-US" sz="1300" dirty="0"/>
          </a:p>
        </p:txBody>
      </p:sp>
      <p:sp>
        <p:nvSpPr>
          <p:cNvPr id="14" name="Text 11"/>
          <p:cNvSpPr txBox="1"/>
          <p:nvPr/>
        </p:nvSpPr>
        <p:spPr>
          <a:xfrm>
            <a:off x="548640" y="2834640"/>
            <a:ext cx="1696212" cy="228600"/>
          </a:xfrm>
          <a:prstGeom prst="rect">
            <a:avLst/>
          </a:prstGeom>
          <a:noFill/>
          <a:ln/>
        </p:spPr>
        <p:txBody>
          <a:bodyPr wrap="square" lIns="0" tIns="0" rIns="0" bIns="0" rtlCol="0" anchor="ctr"/>
          <a:lstStyle/>
          <a:p>
            <a:pPr marL="0" indent="0" algn="ctr">
              <a:buNone/>
            </a:pPr>
            <a:endParaRPr lang="en-US" sz="1000" dirty="0"/>
          </a:p>
        </p:txBody>
      </p:sp>
      <p:sp>
        <p:nvSpPr>
          <p:cNvPr id="15" name="Flow arrow 1"/>
          <p:cNvSpPr/>
          <p:nvPr/>
        </p:nvSpPr>
        <p:spPr>
          <a:xfrm>
            <a:off x="3641598" y="2194560"/>
            <a:ext cx="1147572" cy="0"/>
          </a:xfrm>
          <a:prstGeom prst="line">
            <a:avLst/>
          </a:prstGeom>
          <a:noFill/>
          <a:ln w="15875">
            <a:solidFill>
              <a:srgbClr val="5E6E7E"/>
            </a:solidFill>
            <a:prstDash val="solid"/>
            <a:tailEnd type="triangle"/>
          </a:ln>
        </p:spPr>
      </p:sp>
      <p:sp>
        <p:nvSpPr>
          <p:cNvPr id="16" name="Stage 2 circle"/>
          <p:cNvSpPr/>
          <p:nvPr/>
        </p:nvSpPr>
        <p:spPr>
          <a:xfrm>
            <a:off x="2955798" y="1874520"/>
            <a:ext cx="640080" cy="640080"/>
          </a:xfrm>
          <a:prstGeom prst="ellipse">
            <a:avLst/>
          </a:prstGeom>
          <a:solidFill>
            <a:schemeClr val="accent1"/>
          </a:solidFill>
          <a:ln/>
        </p:spPr>
      </p:sp>
      <p:pic>
        <p:nvPicPr>
          <p:cNvPr id="17" name="Stage 2 icon" descr="preencoded.png"/>
          <p:cNvPicPr>
            <a:picLocks noChangeAspect="1"/>
          </p:cNvPicPr>
          <p:nvPr/>
        </p:nvPicPr>
        <p:blipFill>
          <a:blip r:embed="rId4"/>
          <a:stretch>
            <a:fillRect/>
          </a:stretch>
        </p:blipFill>
        <p:spPr>
          <a:xfrm>
            <a:off x="3115818" y="2034540"/>
            <a:ext cx="320040" cy="320040"/>
          </a:xfrm>
          <a:prstGeom prst="rect">
            <a:avLst/>
          </a:prstGeom>
        </p:spPr>
      </p:pic>
      <p:sp>
        <p:nvSpPr>
          <p:cNvPr id="18" name="Text 14"/>
          <p:cNvSpPr txBox="1"/>
          <p:nvPr/>
        </p:nvSpPr>
        <p:spPr>
          <a:xfrm>
            <a:off x="2427732" y="2578608"/>
            <a:ext cx="1696212" cy="274320"/>
          </a:xfrm>
          <a:prstGeom prst="rect">
            <a:avLst/>
          </a:prstGeom>
          <a:noFill/>
          <a:ln/>
        </p:spPr>
        <p:txBody>
          <a:bodyPr wrap="square" lIns="0" tIns="0" rIns="0" bIns="0" rtlCol="0" anchor="ctr"/>
          <a:lstStyle/>
          <a:p>
            <a:pPr marL="0" indent="0" algn="ctr">
              <a:buNone/>
            </a:pPr>
            <a:r>
              <a:rPr lang="en-US" sz="1300" b="1" dirty="0">
                <a:solidFill>
                  <a:schemeClr val="tx2"/>
                </a:solidFill>
              </a:rPr>
              <a:t>Assembly mandi</a:t>
            </a:r>
            <a:endParaRPr lang="en-US" sz="1300" dirty="0"/>
          </a:p>
        </p:txBody>
      </p:sp>
      <p:sp>
        <p:nvSpPr>
          <p:cNvPr id="19" name="Text 15"/>
          <p:cNvSpPr txBox="1"/>
          <p:nvPr/>
        </p:nvSpPr>
        <p:spPr>
          <a:xfrm>
            <a:off x="2427732" y="2834640"/>
            <a:ext cx="1696212" cy="228600"/>
          </a:xfrm>
          <a:prstGeom prst="rect">
            <a:avLst/>
          </a:prstGeom>
          <a:noFill/>
          <a:ln/>
        </p:spPr>
        <p:txBody>
          <a:bodyPr wrap="square" lIns="0" tIns="0" rIns="0" bIns="0" rtlCol="0" anchor="ctr"/>
          <a:lstStyle/>
          <a:p>
            <a:pPr marL="0" indent="0" algn="ctr">
              <a:buNone/>
            </a:pPr>
            <a:r>
              <a:rPr lang="en-US" sz="1000" i="1" dirty="0">
                <a:solidFill>
                  <a:schemeClr val="accent5"/>
                </a:solidFill>
              </a:rPr>
              <a:t>aggregation, sale to trader</a:t>
            </a:r>
            <a:endParaRPr lang="en-US" sz="1000" dirty="0"/>
          </a:p>
        </p:txBody>
      </p:sp>
      <p:sp>
        <p:nvSpPr>
          <p:cNvPr id="20" name="Flow arrow 2"/>
          <p:cNvSpPr/>
          <p:nvPr/>
        </p:nvSpPr>
        <p:spPr>
          <a:xfrm>
            <a:off x="5520690" y="2194560"/>
            <a:ext cx="1147572" cy="0"/>
          </a:xfrm>
          <a:prstGeom prst="line">
            <a:avLst/>
          </a:prstGeom>
          <a:noFill/>
          <a:ln w="15875">
            <a:solidFill>
              <a:srgbClr val="5E6E7E"/>
            </a:solidFill>
            <a:prstDash val="solid"/>
            <a:tailEnd type="triangle"/>
          </a:ln>
        </p:spPr>
      </p:sp>
      <p:sp>
        <p:nvSpPr>
          <p:cNvPr id="21" name="Stage 3 circle"/>
          <p:cNvSpPr/>
          <p:nvPr/>
        </p:nvSpPr>
        <p:spPr>
          <a:xfrm>
            <a:off x="4834890" y="1874520"/>
            <a:ext cx="640080" cy="640080"/>
          </a:xfrm>
          <a:prstGeom prst="ellipse">
            <a:avLst/>
          </a:prstGeom>
          <a:solidFill>
            <a:schemeClr val="accent1"/>
          </a:solidFill>
          <a:ln/>
        </p:spPr>
      </p:sp>
      <p:pic>
        <p:nvPicPr>
          <p:cNvPr id="22" name="Stage 3 icon" descr="preencoded.png"/>
          <p:cNvPicPr>
            <a:picLocks noChangeAspect="1"/>
          </p:cNvPicPr>
          <p:nvPr/>
        </p:nvPicPr>
        <p:blipFill>
          <a:blip r:embed="rId5"/>
          <a:stretch>
            <a:fillRect/>
          </a:stretch>
        </p:blipFill>
        <p:spPr>
          <a:xfrm>
            <a:off x="4994910" y="2034540"/>
            <a:ext cx="320040" cy="320040"/>
          </a:xfrm>
          <a:prstGeom prst="rect">
            <a:avLst/>
          </a:prstGeom>
        </p:spPr>
      </p:pic>
      <p:sp>
        <p:nvSpPr>
          <p:cNvPr id="23" name="Text 18"/>
          <p:cNvSpPr txBox="1"/>
          <p:nvPr/>
        </p:nvSpPr>
        <p:spPr>
          <a:xfrm>
            <a:off x="4306824" y="2578608"/>
            <a:ext cx="1696212" cy="274320"/>
          </a:xfrm>
          <a:prstGeom prst="rect">
            <a:avLst/>
          </a:prstGeom>
          <a:noFill/>
          <a:ln/>
        </p:spPr>
        <p:txBody>
          <a:bodyPr wrap="square" lIns="0" tIns="0" rIns="0" bIns="0" rtlCol="0" anchor="ctr"/>
          <a:lstStyle/>
          <a:p>
            <a:pPr marL="0" indent="0" algn="ctr">
              <a:buNone/>
            </a:pPr>
            <a:r>
              <a:rPr lang="en-US" sz="1300" b="1" dirty="0">
                <a:solidFill>
                  <a:schemeClr val="tx2"/>
                </a:solidFill>
              </a:rPr>
              <a:t>Packing &amp; dispatch</a:t>
            </a:r>
            <a:endParaRPr lang="en-US" sz="1300" dirty="0"/>
          </a:p>
        </p:txBody>
      </p:sp>
      <p:sp>
        <p:nvSpPr>
          <p:cNvPr id="24" name="Text 19"/>
          <p:cNvSpPr txBox="1"/>
          <p:nvPr/>
        </p:nvSpPr>
        <p:spPr>
          <a:xfrm>
            <a:off x="4306824" y="2834640"/>
            <a:ext cx="1696212" cy="228600"/>
          </a:xfrm>
          <a:prstGeom prst="rect">
            <a:avLst/>
          </a:prstGeom>
          <a:noFill/>
          <a:ln/>
        </p:spPr>
        <p:txBody>
          <a:bodyPr wrap="square" lIns="0" tIns="0" rIns="0" bIns="0" rtlCol="0" anchor="ctr"/>
          <a:lstStyle/>
          <a:p>
            <a:pPr marL="0" indent="0" algn="ctr">
              <a:buNone/>
            </a:pPr>
            <a:r>
              <a:rPr lang="en-US" sz="1000" i="1" dirty="0">
                <a:solidFill>
                  <a:schemeClr val="accent5"/>
                </a:solidFill>
              </a:rPr>
              <a:t>loading, choice of market</a:t>
            </a:r>
            <a:endParaRPr lang="en-US" sz="1000" dirty="0"/>
          </a:p>
        </p:txBody>
      </p:sp>
      <p:sp>
        <p:nvSpPr>
          <p:cNvPr id="25" name="Flow arrow 3"/>
          <p:cNvSpPr/>
          <p:nvPr/>
        </p:nvSpPr>
        <p:spPr>
          <a:xfrm>
            <a:off x="7399782" y="2194560"/>
            <a:ext cx="1147572" cy="0"/>
          </a:xfrm>
          <a:prstGeom prst="line">
            <a:avLst/>
          </a:prstGeom>
          <a:noFill/>
          <a:ln w="15875">
            <a:solidFill>
              <a:srgbClr val="5E6E7E"/>
            </a:solidFill>
            <a:prstDash val="solid"/>
            <a:tailEnd type="triangle"/>
          </a:ln>
        </p:spPr>
      </p:sp>
      <p:sp>
        <p:nvSpPr>
          <p:cNvPr id="26" name="Stage 4 circle"/>
          <p:cNvSpPr/>
          <p:nvPr/>
        </p:nvSpPr>
        <p:spPr>
          <a:xfrm>
            <a:off x="6713982" y="1874520"/>
            <a:ext cx="640080" cy="640080"/>
          </a:xfrm>
          <a:prstGeom prst="ellipse">
            <a:avLst/>
          </a:prstGeom>
          <a:solidFill>
            <a:schemeClr val="accent1"/>
          </a:solidFill>
          <a:ln/>
        </p:spPr>
      </p:sp>
      <p:pic>
        <p:nvPicPr>
          <p:cNvPr id="27" name="Stage 4 icon" descr="preencoded.png"/>
          <p:cNvPicPr>
            <a:picLocks noChangeAspect="1"/>
          </p:cNvPicPr>
          <p:nvPr/>
        </p:nvPicPr>
        <p:blipFill>
          <a:blip r:embed="rId6"/>
          <a:stretch>
            <a:fillRect/>
          </a:stretch>
        </p:blipFill>
        <p:spPr>
          <a:xfrm>
            <a:off x="6874002" y="2034540"/>
            <a:ext cx="320040" cy="320040"/>
          </a:xfrm>
          <a:prstGeom prst="rect">
            <a:avLst/>
          </a:prstGeom>
        </p:spPr>
      </p:pic>
      <p:sp>
        <p:nvSpPr>
          <p:cNvPr id="28" name="Text 22"/>
          <p:cNvSpPr txBox="1"/>
          <p:nvPr/>
        </p:nvSpPr>
        <p:spPr>
          <a:xfrm>
            <a:off x="6185916" y="2578608"/>
            <a:ext cx="1696212" cy="274320"/>
          </a:xfrm>
          <a:prstGeom prst="rect">
            <a:avLst/>
          </a:prstGeom>
          <a:noFill/>
          <a:ln/>
        </p:spPr>
        <p:txBody>
          <a:bodyPr wrap="square" lIns="0" tIns="0" rIns="0" bIns="0" rtlCol="0" anchor="ctr"/>
          <a:lstStyle/>
          <a:p>
            <a:pPr marL="0" indent="0" algn="ctr">
              <a:buNone/>
            </a:pPr>
            <a:r>
              <a:rPr lang="en-US" sz="1300" b="1" dirty="0">
                <a:solidFill>
                  <a:schemeClr val="tx2"/>
                </a:solidFill>
              </a:rPr>
              <a:t>Road transit</a:t>
            </a:r>
            <a:endParaRPr lang="en-US" sz="1300" dirty="0"/>
          </a:p>
        </p:txBody>
      </p:sp>
      <p:sp>
        <p:nvSpPr>
          <p:cNvPr id="29" name="Text 23"/>
          <p:cNvSpPr txBox="1"/>
          <p:nvPr/>
        </p:nvSpPr>
        <p:spPr>
          <a:xfrm>
            <a:off x="6185916" y="2834640"/>
            <a:ext cx="1696212" cy="228600"/>
          </a:xfrm>
          <a:prstGeom prst="rect">
            <a:avLst/>
          </a:prstGeom>
          <a:noFill/>
          <a:ln/>
        </p:spPr>
        <p:txBody>
          <a:bodyPr wrap="square" lIns="0" tIns="0" rIns="0" bIns="0" rtlCol="0" anchor="ctr"/>
          <a:lstStyle/>
          <a:p>
            <a:pPr marL="0" indent="0" algn="ctr">
              <a:buNone/>
            </a:pPr>
            <a:r>
              <a:rPr lang="en-US" sz="1000" i="1" dirty="0">
                <a:solidFill>
                  <a:schemeClr val="accent5"/>
                </a:solidFill>
              </a:rPr>
              <a:t>hours to days</a:t>
            </a:r>
            <a:endParaRPr lang="en-US" sz="1000" dirty="0"/>
          </a:p>
        </p:txBody>
      </p:sp>
      <p:sp>
        <p:nvSpPr>
          <p:cNvPr id="30" name="Flow arrow 4"/>
          <p:cNvSpPr/>
          <p:nvPr/>
        </p:nvSpPr>
        <p:spPr>
          <a:xfrm>
            <a:off x="9278874" y="2194560"/>
            <a:ext cx="1147572" cy="0"/>
          </a:xfrm>
          <a:prstGeom prst="line">
            <a:avLst/>
          </a:prstGeom>
          <a:noFill/>
          <a:ln w="15875">
            <a:solidFill>
              <a:srgbClr val="5E6E7E"/>
            </a:solidFill>
            <a:prstDash val="solid"/>
            <a:tailEnd type="triangle"/>
          </a:ln>
        </p:spPr>
      </p:sp>
      <p:sp>
        <p:nvSpPr>
          <p:cNvPr id="31" name="Stage 5 circle"/>
          <p:cNvSpPr/>
          <p:nvPr/>
        </p:nvSpPr>
        <p:spPr>
          <a:xfrm>
            <a:off x="8593074" y="1874520"/>
            <a:ext cx="640080" cy="640080"/>
          </a:xfrm>
          <a:prstGeom prst="ellipse">
            <a:avLst/>
          </a:prstGeom>
          <a:solidFill>
            <a:schemeClr val="accent1"/>
          </a:solidFill>
          <a:ln/>
        </p:spPr>
      </p:sp>
      <p:pic>
        <p:nvPicPr>
          <p:cNvPr id="32" name="Stage 5 icon" descr="preencoded.png"/>
          <p:cNvPicPr>
            <a:picLocks noChangeAspect="1"/>
          </p:cNvPicPr>
          <p:nvPr/>
        </p:nvPicPr>
        <p:blipFill>
          <a:blip r:embed="rId7"/>
          <a:stretch>
            <a:fillRect/>
          </a:stretch>
        </p:blipFill>
        <p:spPr>
          <a:xfrm>
            <a:off x="8753094" y="2034540"/>
            <a:ext cx="320040" cy="320040"/>
          </a:xfrm>
          <a:prstGeom prst="rect">
            <a:avLst/>
          </a:prstGeom>
        </p:spPr>
      </p:pic>
      <p:sp>
        <p:nvSpPr>
          <p:cNvPr id="33" name="Text 26"/>
          <p:cNvSpPr txBox="1"/>
          <p:nvPr/>
        </p:nvSpPr>
        <p:spPr>
          <a:xfrm>
            <a:off x="8065008" y="2578608"/>
            <a:ext cx="1696212" cy="274320"/>
          </a:xfrm>
          <a:prstGeom prst="rect">
            <a:avLst/>
          </a:prstGeom>
          <a:noFill/>
          <a:ln/>
        </p:spPr>
        <p:txBody>
          <a:bodyPr wrap="square" lIns="0" tIns="0" rIns="0" bIns="0" rtlCol="0" anchor="ctr"/>
          <a:lstStyle/>
          <a:p>
            <a:pPr marL="0" indent="0" algn="ctr">
              <a:buNone/>
            </a:pPr>
            <a:r>
              <a:rPr lang="en-US" sz="1300" b="1" dirty="0">
                <a:solidFill>
                  <a:schemeClr val="tx2"/>
                </a:solidFill>
              </a:rPr>
              <a:t>Market entry</a:t>
            </a:r>
            <a:endParaRPr lang="en-US" sz="1300" dirty="0"/>
          </a:p>
        </p:txBody>
      </p:sp>
      <p:sp>
        <p:nvSpPr>
          <p:cNvPr id="34" name="Text 27"/>
          <p:cNvSpPr txBox="1"/>
          <p:nvPr/>
        </p:nvSpPr>
        <p:spPr>
          <a:xfrm>
            <a:off x="8065008" y="2834640"/>
            <a:ext cx="1696212" cy="228600"/>
          </a:xfrm>
          <a:prstGeom prst="rect">
            <a:avLst/>
          </a:prstGeom>
          <a:noFill/>
          <a:ln/>
        </p:spPr>
        <p:txBody>
          <a:bodyPr wrap="square" lIns="0" tIns="0" rIns="0" bIns="0" rtlCol="0" anchor="ctr"/>
          <a:lstStyle/>
          <a:p>
            <a:pPr marL="0" indent="0" algn="ctr">
              <a:buNone/>
            </a:pPr>
            <a:r>
              <a:rPr lang="en-US" sz="1000" i="1" dirty="0">
                <a:solidFill>
                  <a:schemeClr val="accent5"/>
                </a:solidFill>
              </a:rPr>
              <a:t>waiting, unloading</a:t>
            </a:r>
            <a:endParaRPr lang="en-US" sz="1000" dirty="0"/>
          </a:p>
        </p:txBody>
      </p:sp>
      <p:sp>
        <p:nvSpPr>
          <p:cNvPr id="35" name="Stage 6 circle"/>
          <p:cNvSpPr/>
          <p:nvPr/>
        </p:nvSpPr>
        <p:spPr>
          <a:xfrm>
            <a:off x="10472166" y="1874520"/>
            <a:ext cx="640080" cy="640080"/>
          </a:xfrm>
          <a:prstGeom prst="ellipse">
            <a:avLst/>
          </a:prstGeom>
          <a:solidFill>
            <a:schemeClr val="accent5"/>
          </a:solidFill>
          <a:ln/>
        </p:spPr>
      </p:sp>
      <p:pic>
        <p:nvPicPr>
          <p:cNvPr id="36" name="Stage 6 icon" descr="preencoded.png"/>
          <p:cNvPicPr>
            <a:picLocks noChangeAspect="1"/>
          </p:cNvPicPr>
          <p:nvPr/>
        </p:nvPicPr>
        <p:blipFill>
          <a:blip r:embed="rId8"/>
          <a:stretch>
            <a:fillRect/>
          </a:stretch>
        </p:blipFill>
        <p:spPr>
          <a:xfrm>
            <a:off x="10632186" y="2034540"/>
            <a:ext cx="320040" cy="320040"/>
          </a:xfrm>
          <a:prstGeom prst="rect">
            <a:avLst/>
          </a:prstGeom>
        </p:spPr>
      </p:pic>
      <p:sp>
        <p:nvSpPr>
          <p:cNvPr id="37" name="Text 29"/>
          <p:cNvSpPr txBox="1"/>
          <p:nvPr/>
        </p:nvSpPr>
        <p:spPr>
          <a:xfrm>
            <a:off x="9944100" y="2578608"/>
            <a:ext cx="1696212" cy="274320"/>
          </a:xfrm>
          <a:prstGeom prst="rect">
            <a:avLst/>
          </a:prstGeom>
          <a:noFill/>
          <a:ln/>
        </p:spPr>
        <p:txBody>
          <a:bodyPr wrap="square" lIns="0" tIns="0" rIns="0" bIns="0" rtlCol="0" anchor="ctr"/>
          <a:lstStyle/>
          <a:p>
            <a:pPr marL="0" indent="0" algn="ctr">
              <a:buNone/>
            </a:pPr>
            <a:r>
              <a:rPr lang="en-US" sz="1300" b="1" dirty="0">
                <a:solidFill>
                  <a:schemeClr val="tx2"/>
                </a:solidFill>
              </a:rPr>
              <a:t>Wholesale → retail</a:t>
            </a:r>
            <a:endParaRPr lang="en-US" sz="1300" dirty="0"/>
          </a:p>
        </p:txBody>
      </p:sp>
      <p:sp>
        <p:nvSpPr>
          <p:cNvPr id="38" name="Text 30"/>
          <p:cNvSpPr txBox="1"/>
          <p:nvPr/>
        </p:nvSpPr>
        <p:spPr>
          <a:xfrm>
            <a:off x="9944100" y="2834640"/>
            <a:ext cx="1696212" cy="228600"/>
          </a:xfrm>
          <a:prstGeom prst="rect">
            <a:avLst/>
          </a:prstGeom>
          <a:noFill/>
          <a:ln/>
        </p:spPr>
        <p:txBody>
          <a:bodyPr wrap="square" lIns="0" tIns="0" rIns="0" bIns="0" rtlCol="0" anchor="ctr"/>
          <a:lstStyle/>
          <a:p>
            <a:pPr marL="0" indent="0" algn="ctr">
              <a:buNone/>
            </a:pPr>
            <a:r>
              <a:rPr lang="en-US" sz="1000" i="1" dirty="0">
                <a:solidFill>
                  <a:schemeClr val="accent5"/>
                </a:solidFill>
              </a:rPr>
              <a:t>sale, resale</a:t>
            </a:r>
            <a:endParaRPr lang="en-US" sz="1000" dirty="0"/>
          </a:p>
        </p:txBody>
      </p:sp>
      <p:sp>
        <p:nvSpPr>
          <p:cNvPr id="39" name="Failure point 1.1"/>
          <p:cNvSpPr/>
          <p:nvPr/>
        </p:nvSpPr>
        <p:spPr>
          <a:xfrm>
            <a:off x="548640" y="3154680"/>
            <a:ext cx="1696212" cy="1051560"/>
          </a:xfrm>
          <a:prstGeom prst="roundRect">
            <a:avLst>
              <a:gd name="adj" fmla="val 5217"/>
            </a:avLst>
          </a:prstGeom>
          <a:solidFill>
            <a:schemeClr val="bg1"/>
          </a:solidFill>
          <a:ln w="12700">
            <a:solidFill>
              <a:srgbClr val="D3E2E6"/>
            </a:solidFill>
            <a:prstDash val="solid"/>
          </a:ln>
        </p:spPr>
      </p:sp>
      <p:sp>
        <p:nvSpPr>
          <p:cNvPr id="40" name="Text 32"/>
          <p:cNvSpPr txBox="1"/>
          <p:nvPr/>
        </p:nvSpPr>
        <p:spPr>
          <a:xfrm>
            <a:off x="640080" y="3218688"/>
            <a:ext cx="1513332" cy="713232"/>
          </a:xfrm>
          <a:prstGeom prst="rect">
            <a:avLst/>
          </a:prstGeom>
          <a:noFill/>
          <a:ln/>
        </p:spPr>
        <p:txBody>
          <a:bodyPr wrap="square" lIns="0" tIns="0" rIns="0" bIns="0" rtlCol="0" anchor="t"/>
          <a:lstStyle/>
          <a:p>
            <a:pPr marL="0" indent="0">
              <a:buNone/>
            </a:pPr>
            <a:r>
              <a:rPr lang="en-US" sz="1100" dirty="0">
                <a:solidFill>
                  <a:schemeClr val="accent5"/>
                </a:solidFill>
              </a:rPr>
              <a:t>Harvest maturity is chosen to suit travel distance [3]</a:t>
            </a:r>
            <a:endParaRPr lang="en-US" sz="1100" dirty="0"/>
          </a:p>
        </p:txBody>
      </p:sp>
      <p:sp>
        <p:nvSpPr>
          <p:cNvPr id="41" name="Evidence tag DOCUMENTED"/>
          <p:cNvSpPr txBox="1"/>
          <p:nvPr/>
        </p:nvSpPr>
        <p:spPr>
          <a:xfrm>
            <a:off x="640080"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42" name="Failure point 1.2"/>
          <p:cNvSpPr/>
          <p:nvPr/>
        </p:nvSpPr>
        <p:spPr>
          <a:xfrm>
            <a:off x="548640" y="4297680"/>
            <a:ext cx="1696212" cy="1051560"/>
          </a:xfrm>
          <a:prstGeom prst="roundRect">
            <a:avLst>
              <a:gd name="adj" fmla="val 5217"/>
            </a:avLst>
          </a:prstGeom>
          <a:solidFill>
            <a:schemeClr val="bg1"/>
          </a:solidFill>
          <a:ln w="12700">
            <a:solidFill>
              <a:srgbClr val="D3E2E6"/>
            </a:solidFill>
            <a:prstDash val="solid"/>
          </a:ln>
        </p:spPr>
      </p:sp>
      <p:sp>
        <p:nvSpPr>
          <p:cNvPr id="43" name="Text 35"/>
          <p:cNvSpPr txBox="1"/>
          <p:nvPr/>
        </p:nvSpPr>
        <p:spPr>
          <a:xfrm>
            <a:off x="640080" y="4361688"/>
            <a:ext cx="1513332" cy="713232"/>
          </a:xfrm>
          <a:prstGeom prst="rect">
            <a:avLst/>
          </a:prstGeom>
          <a:noFill/>
          <a:ln/>
        </p:spPr>
        <p:txBody>
          <a:bodyPr wrap="square" lIns="0" tIns="0" rIns="0" bIns="0" rtlCol="0" anchor="t"/>
          <a:lstStyle/>
          <a:p>
            <a:pPr marL="0" indent="0">
              <a:buNone/>
            </a:pPr>
            <a:r>
              <a:rPr lang="en-US" sz="1100" dirty="0">
                <a:solidFill>
                  <a:schemeClr val="accent5"/>
                </a:solidFill>
              </a:rPr>
              <a:t>Farm stage carries the largest share of tomato loss: 8.37% [1]</a:t>
            </a:r>
            <a:endParaRPr lang="en-US" sz="1100" dirty="0"/>
          </a:p>
        </p:txBody>
      </p:sp>
      <p:sp>
        <p:nvSpPr>
          <p:cNvPr id="44" name="Evidence tag DOCUMENTED"/>
          <p:cNvSpPr txBox="1"/>
          <p:nvPr/>
        </p:nvSpPr>
        <p:spPr>
          <a:xfrm>
            <a:off x="640080" y="5074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45" name="Failure point 2.1"/>
          <p:cNvSpPr/>
          <p:nvPr/>
        </p:nvSpPr>
        <p:spPr>
          <a:xfrm>
            <a:off x="2427732" y="3154680"/>
            <a:ext cx="1696212" cy="1051560"/>
          </a:xfrm>
          <a:prstGeom prst="roundRect">
            <a:avLst>
              <a:gd name="adj" fmla="val 5217"/>
            </a:avLst>
          </a:prstGeom>
          <a:solidFill>
            <a:schemeClr val="bg1"/>
          </a:solidFill>
          <a:ln w="12700">
            <a:solidFill>
              <a:srgbClr val="D3E2E6"/>
            </a:solidFill>
            <a:prstDash val="solid"/>
          </a:ln>
        </p:spPr>
      </p:sp>
      <p:sp>
        <p:nvSpPr>
          <p:cNvPr id="46" name="Text 38"/>
          <p:cNvSpPr txBox="1"/>
          <p:nvPr/>
        </p:nvSpPr>
        <p:spPr>
          <a:xfrm>
            <a:off x="2519172" y="3218688"/>
            <a:ext cx="1513332" cy="713232"/>
          </a:xfrm>
          <a:prstGeom prst="rect">
            <a:avLst/>
          </a:prstGeom>
          <a:noFill/>
          <a:ln/>
        </p:spPr>
        <p:txBody>
          <a:bodyPr wrap="square" lIns="0" tIns="0" rIns="0" bIns="0" rtlCol="0" anchor="t"/>
          <a:lstStyle/>
          <a:p>
            <a:pPr marL="0" indent="0">
              <a:buNone/>
            </a:pPr>
            <a:r>
              <a:rPr lang="en-US" sz="1100" dirty="0">
                <a:solidFill>
                  <a:schemeClr val="tx1"/>
                </a:solidFill>
              </a:rPr>
              <a:t>Poor sorting and grading at origin show up later as transit loss [3]</a:t>
            </a:r>
            <a:endParaRPr lang="en-US" sz="1100" dirty="0"/>
          </a:p>
        </p:txBody>
      </p:sp>
      <p:sp>
        <p:nvSpPr>
          <p:cNvPr id="47" name="Evidence tag DOCUMENTED"/>
          <p:cNvSpPr txBox="1"/>
          <p:nvPr/>
        </p:nvSpPr>
        <p:spPr>
          <a:xfrm>
            <a:off x="2519172"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48" name="Failure point 2.2"/>
          <p:cNvSpPr/>
          <p:nvPr/>
        </p:nvSpPr>
        <p:spPr>
          <a:xfrm>
            <a:off x="2427732" y="4297680"/>
            <a:ext cx="1696212" cy="1051560"/>
          </a:xfrm>
          <a:prstGeom prst="roundRect">
            <a:avLst>
              <a:gd name="adj" fmla="val 5217"/>
            </a:avLst>
          </a:prstGeom>
          <a:solidFill>
            <a:schemeClr val="bg1"/>
          </a:solidFill>
          <a:ln w="19050">
            <a:solidFill>
              <a:srgbClr val="D9A21B"/>
            </a:solidFill>
            <a:prstDash val="dash"/>
          </a:ln>
        </p:spPr>
      </p:sp>
      <p:sp>
        <p:nvSpPr>
          <p:cNvPr id="49" name="Text 41"/>
          <p:cNvSpPr txBox="1"/>
          <p:nvPr/>
        </p:nvSpPr>
        <p:spPr>
          <a:xfrm>
            <a:off x="2519172" y="4361688"/>
            <a:ext cx="1513332" cy="713232"/>
          </a:xfrm>
          <a:prstGeom prst="rect">
            <a:avLst/>
          </a:prstGeom>
          <a:noFill/>
          <a:ln/>
        </p:spPr>
        <p:txBody>
          <a:bodyPr wrap="square" lIns="0" tIns="0" rIns="0" bIns="0" rtlCol="0" anchor="t"/>
          <a:lstStyle/>
          <a:p>
            <a:pPr marL="0" indent="0">
              <a:buNone/>
            </a:pPr>
            <a:r>
              <a:rPr lang="en-US" sz="1100" dirty="0">
                <a:solidFill>
                  <a:schemeClr val="tx1"/>
                </a:solidFill>
              </a:rPr>
              <a:t>Destination picked without sight of arrivals at other markets</a:t>
            </a:r>
            <a:endParaRPr lang="en-US" sz="1100" dirty="0"/>
          </a:p>
        </p:txBody>
      </p:sp>
      <p:sp>
        <p:nvSpPr>
          <p:cNvPr id="50" name="Evidence tag HYPOTHESIS · VALIDATE"/>
          <p:cNvSpPr txBox="1"/>
          <p:nvPr/>
        </p:nvSpPr>
        <p:spPr>
          <a:xfrm>
            <a:off x="2519172" y="5074920"/>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marL="0" indent="0" algn="ctr">
              <a:buNone/>
            </a:pPr>
            <a:r>
              <a:rPr lang="en-US" sz="800" b="1" kern="0" spc="100" dirty="0">
                <a:solidFill>
                  <a:schemeClr val="tx1"/>
                </a:solidFill>
              </a:rPr>
              <a:t>HYPOTHESIS · VALIDATE</a:t>
            </a:r>
            <a:endParaRPr lang="en-US" sz="800" dirty="0"/>
          </a:p>
        </p:txBody>
      </p:sp>
      <p:sp>
        <p:nvSpPr>
          <p:cNvPr id="51" name="Failure point 3.1"/>
          <p:cNvSpPr/>
          <p:nvPr/>
        </p:nvSpPr>
        <p:spPr>
          <a:xfrm>
            <a:off x="4306824" y="3154680"/>
            <a:ext cx="1696212" cy="1051560"/>
          </a:xfrm>
          <a:prstGeom prst="roundRect">
            <a:avLst>
              <a:gd name="adj" fmla="val 5217"/>
            </a:avLst>
          </a:prstGeom>
          <a:solidFill>
            <a:schemeClr val="bg1"/>
          </a:solidFill>
          <a:ln w="12700">
            <a:solidFill>
              <a:srgbClr val="D3E2E6"/>
            </a:solidFill>
            <a:prstDash val="solid"/>
          </a:ln>
        </p:spPr>
      </p:sp>
      <p:sp>
        <p:nvSpPr>
          <p:cNvPr id="52" name="Text 44"/>
          <p:cNvSpPr txBox="1"/>
          <p:nvPr/>
        </p:nvSpPr>
        <p:spPr>
          <a:xfrm>
            <a:off x="4398264" y="3218688"/>
            <a:ext cx="1513332" cy="713232"/>
          </a:xfrm>
          <a:prstGeom prst="rect">
            <a:avLst/>
          </a:prstGeom>
          <a:noFill/>
          <a:ln/>
        </p:spPr>
        <p:txBody>
          <a:bodyPr wrap="square" lIns="0" tIns="0" rIns="0" bIns="0" rtlCol="0" anchor="t"/>
          <a:lstStyle/>
          <a:p>
            <a:pPr marL="0" indent="0">
              <a:buNone/>
            </a:pPr>
            <a:r>
              <a:rPr lang="en-US" sz="1100" dirty="0">
                <a:solidFill>
                  <a:schemeClr val="tx1"/>
                </a:solidFill>
              </a:rPr>
              <a:t>Crates vs polythene bags; crates overfilled when paid per crate [3]</a:t>
            </a:r>
            <a:endParaRPr lang="en-US" sz="1100" dirty="0"/>
          </a:p>
        </p:txBody>
      </p:sp>
      <p:sp>
        <p:nvSpPr>
          <p:cNvPr id="53" name="Evidence tag DOCUMENTED"/>
          <p:cNvSpPr txBox="1"/>
          <p:nvPr/>
        </p:nvSpPr>
        <p:spPr>
          <a:xfrm>
            <a:off x="4398264"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54" name="Failure point 3.2"/>
          <p:cNvSpPr/>
          <p:nvPr/>
        </p:nvSpPr>
        <p:spPr>
          <a:xfrm>
            <a:off x="4306824" y="4297680"/>
            <a:ext cx="1696212" cy="1051560"/>
          </a:xfrm>
          <a:prstGeom prst="roundRect">
            <a:avLst>
              <a:gd name="adj" fmla="val 5217"/>
            </a:avLst>
          </a:prstGeom>
          <a:solidFill>
            <a:schemeClr val="bg1"/>
          </a:solidFill>
          <a:ln w="12700">
            <a:solidFill>
              <a:srgbClr val="D3E2E6"/>
            </a:solidFill>
            <a:prstDash val="solid"/>
          </a:ln>
        </p:spPr>
      </p:sp>
      <p:sp>
        <p:nvSpPr>
          <p:cNvPr id="55" name="Text 47"/>
          <p:cNvSpPr txBox="1"/>
          <p:nvPr/>
        </p:nvSpPr>
        <p:spPr>
          <a:xfrm>
            <a:off x="4398264" y="4361688"/>
            <a:ext cx="1513332" cy="713232"/>
          </a:xfrm>
          <a:prstGeom prst="rect">
            <a:avLst/>
          </a:prstGeom>
          <a:noFill/>
          <a:ln/>
        </p:spPr>
        <p:txBody>
          <a:bodyPr wrap="square" lIns="0" tIns="0" rIns="0" bIns="0" rtlCol="0" anchor="t"/>
          <a:lstStyle/>
          <a:p>
            <a:pPr marL="0" indent="0">
              <a:buNone/>
            </a:pPr>
            <a:r>
              <a:rPr lang="en-US" sz="1100" dirty="0">
                <a:solidFill>
                  <a:schemeClr val="tx1"/>
                </a:solidFill>
              </a:rPr>
              <a:t>Non-refrigerated trucks; none used in the study area [3]</a:t>
            </a:r>
            <a:endParaRPr lang="en-US" sz="1100" dirty="0"/>
          </a:p>
        </p:txBody>
      </p:sp>
      <p:sp>
        <p:nvSpPr>
          <p:cNvPr id="56" name="Evidence tag DOCUMENTED"/>
          <p:cNvSpPr txBox="1"/>
          <p:nvPr/>
        </p:nvSpPr>
        <p:spPr>
          <a:xfrm>
            <a:off x="4398264" y="5074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57" name="Failure point 4.1"/>
          <p:cNvSpPr/>
          <p:nvPr/>
        </p:nvSpPr>
        <p:spPr>
          <a:xfrm>
            <a:off x="6185916" y="3154680"/>
            <a:ext cx="1696212" cy="1051560"/>
          </a:xfrm>
          <a:prstGeom prst="roundRect">
            <a:avLst>
              <a:gd name="adj" fmla="val 5217"/>
            </a:avLst>
          </a:prstGeom>
          <a:solidFill>
            <a:schemeClr val="bg1"/>
          </a:solidFill>
          <a:ln w="12700">
            <a:solidFill>
              <a:srgbClr val="D3E2E6"/>
            </a:solidFill>
            <a:prstDash val="solid"/>
          </a:ln>
        </p:spPr>
      </p:sp>
      <p:sp>
        <p:nvSpPr>
          <p:cNvPr id="58" name="Text 50"/>
          <p:cNvSpPr txBox="1"/>
          <p:nvPr/>
        </p:nvSpPr>
        <p:spPr>
          <a:xfrm>
            <a:off x="6277356" y="3218688"/>
            <a:ext cx="1513332" cy="713232"/>
          </a:xfrm>
          <a:prstGeom prst="rect">
            <a:avLst/>
          </a:prstGeom>
          <a:noFill/>
          <a:ln/>
        </p:spPr>
        <p:txBody>
          <a:bodyPr wrap="square" lIns="0" tIns="0" rIns="0" bIns="0" rtlCol="0" anchor="t"/>
          <a:lstStyle/>
          <a:p>
            <a:pPr marL="0" indent="0">
              <a:buNone/>
            </a:pPr>
            <a:r>
              <a:rPr lang="en-US" sz="1100" dirty="0">
                <a:solidFill>
                  <a:schemeClr val="tx1"/>
                </a:solidFill>
              </a:rPr>
              <a:t>Heat and vibration on poor roads damage produce [3]</a:t>
            </a:r>
            <a:endParaRPr lang="en-US" sz="1100" dirty="0"/>
          </a:p>
        </p:txBody>
      </p:sp>
      <p:sp>
        <p:nvSpPr>
          <p:cNvPr id="59" name="Evidence tag DOCUMENTED"/>
          <p:cNvSpPr txBox="1"/>
          <p:nvPr/>
        </p:nvSpPr>
        <p:spPr>
          <a:xfrm>
            <a:off x="6277356"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60" name="Failure point 4.2"/>
          <p:cNvSpPr/>
          <p:nvPr/>
        </p:nvSpPr>
        <p:spPr>
          <a:xfrm>
            <a:off x="6185916" y="4297680"/>
            <a:ext cx="1696212" cy="1051560"/>
          </a:xfrm>
          <a:prstGeom prst="roundRect">
            <a:avLst>
              <a:gd name="adj" fmla="val 5217"/>
            </a:avLst>
          </a:prstGeom>
          <a:solidFill>
            <a:schemeClr val="bg1"/>
          </a:solidFill>
          <a:ln w="12700">
            <a:solidFill>
              <a:srgbClr val="D3E2E6"/>
            </a:solidFill>
            <a:prstDash val="solid"/>
          </a:ln>
        </p:spPr>
      </p:sp>
      <p:sp>
        <p:nvSpPr>
          <p:cNvPr id="61" name="Text 53"/>
          <p:cNvSpPr txBox="1"/>
          <p:nvPr/>
        </p:nvSpPr>
        <p:spPr>
          <a:xfrm>
            <a:off x="6277356" y="4361688"/>
            <a:ext cx="1513332" cy="713232"/>
          </a:xfrm>
          <a:prstGeom prst="rect">
            <a:avLst/>
          </a:prstGeom>
          <a:noFill/>
          <a:ln/>
        </p:spPr>
        <p:txBody>
          <a:bodyPr wrap="square" lIns="0" tIns="0" rIns="0" bIns="0" rtlCol="0" anchor="t"/>
          <a:lstStyle/>
          <a:p>
            <a:pPr marL="0" indent="0">
              <a:buNone/>
            </a:pPr>
            <a:r>
              <a:rPr lang="en-US" sz="1100" dirty="0">
                <a:solidFill>
                  <a:schemeClr val="tx1"/>
                </a:solidFill>
              </a:rPr>
              <a:t>Delays from inter-state permits, traffic and breakdowns [3]</a:t>
            </a:r>
            <a:endParaRPr lang="en-US" sz="1100" dirty="0"/>
          </a:p>
        </p:txBody>
      </p:sp>
      <p:sp>
        <p:nvSpPr>
          <p:cNvPr id="62" name="Evidence tag DOCUMENTED"/>
          <p:cNvSpPr txBox="1"/>
          <p:nvPr/>
        </p:nvSpPr>
        <p:spPr>
          <a:xfrm>
            <a:off x="6277356" y="5074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63" name="Failure point 5.1"/>
          <p:cNvSpPr/>
          <p:nvPr/>
        </p:nvSpPr>
        <p:spPr>
          <a:xfrm>
            <a:off x="8065008" y="3154680"/>
            <a:ext cx="1696212" cy="1051560"/>
          </a:xfrm>
          <a:prstGeom prst="roundRect">
            <a:avLst>
              <a:gd name="adj" fmla="val 5217"/>
            </a:avLst>
          </a:prstGeom>
          <a:solidFill>
            <a:schemeClr val="bg1"/>
          </a:solidFill>
          <a:ln w="12700">
            <a:solidFill>
              <a:srgbClr val="D3E2E6"/>
            </a:solidFill>
            <a:prstDash val="solid"/>
          </a:ln>
        </p:spPr>
      </p:sp>
      <p:sp>
        <p:nvSpPr>
          <p:cNvPr id="64" name="Text 56"/>
          <p:cNvSpPr txBox="1"/>
          <p:nvPr/>
        </p:nvSpPr>
        <p:spPr>
          <a:xfrm>
            <a:off x="8156448" y="3218688"/>
            <a:ext cx="1513332" cy="713232"/>
          </a:xfrm>
          <a:prstGeom prst="rect">
            <a:avLst/>
          </a:prstGeom>
          <a:noFill/>
          <a:ln/>
        </p:spPr>
        <p:txBody>
          <a:bodyPr wrap="square" lIns="0" tIns="0" rIns="0" bIns="0" rtlCol="0" anchor="t"/>
          <a:lstStyle/>
          <a:p>
            <a:pPr marL="0" indent="0">
              <a:buNone/>
            </a:pPr>
            <a:r>
              <a:rPr lang="en-US" sz="1100" dirty="0">
                <a:solidFill>
                  <a:schemeClr val="tx1"/>
                </a:solidFill>
              </a:rPr>
              <a:t>Waiting outside the market; trade mostly in morning hours [3]</a:t>
            </a:r>
            <a:endParaRPr lang="en-US" sz="1100" dirty="0"/>
          </a:p>
        </p:txBody>
      </p:sp>
      <p:sp>
        <p:nvSpPr>
          <p:cNvPr id="65" name="Evidence tag DOCUMENTED"/>
          <p:cNvSpPr txBox="1"/>
          <p:nvPr/>
        </p:nvSpPr>
        <p:spPr>
          <a:xfrm>
            <a:off x="8156448"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66" name="Failure point 5.2"/>
          <p:cNvSpPr/>
          <p:nvPr/>
        </p:nvSpPr>
        <p:spPr>
          <a:xfrm>
            <a:off x="8065008" y="4297680"/>
            <a:ext cx="1696212" cy="1051560"/>
          </a:xfrm>
          <a:prstGeom prst="roundRect">
            <a:avLst>
              <a:gd name="adj" fmla="val 5217"/>
            </a:avLst>
          </a:prstGeom>
          <a:solidFill>
            <a:schemeClr val="bg1"/>
          </a:solidFill>
          <a:ln w="12700">
            <a:solidFill>
              <a:srgbClr val="D3E2E6"/>
            </a:solidFill>
            <a:prstDash val="solid"/>
          </a:ln>
        </p:spPr>
      </p:sp>
      <p:sp>
        <p:nvSpPr>
          <p:cNvPr id="67" name="Text 59"/>
          <p:cNvSpPr txBox="1"/>
          <p:nvPr/>
        </p:nvSpPr>
        <p:spPr>
          <a:xfrm>
            <a:off x="8156448" y="4361688"/>
            <a:ext cx="1513332" cy="713232"/>
          </a:xfrm>
          <a:prstGeom prst="rect">
            <a:avLst/>
          </a:prstGeom>
          <a:noFill/>
          <a:ln/>
        </p:spPr>
        <p:txBody>
          <a:bodyPr wrap="square" lIns="0" tIns="0" rIns="0" bIns="0" rtlCol="0" anchor="t"/>
          <a:lstStyle/>
          <a:p>
            <a:pPr marL="0" indent="0">
              <a:buNone/>
            </a:pPr>
            <a:r>
              <a:rPr lang="en-US" sz="1100" dirty="0">
                <a:solidFill>
                  <a:schemeClr val="tx1"/>
                </a:solidFill>
              </a:rPr>
              <a:t>No storage at the market, so unsold lots go at distress prices [3]</a:t>
            </a:r>
            <a:endParaRPr lang="en-US" sz="1100" dirty="0"/>
          </a:p>
        </p:txBody>
      </p:sp>
      <p:sp>
        <p:nvSpPr>
          <p:cNvPr id="68" name="Evidence tag DOCUMENTED"/>
          <p:cNvSpPr txBox="1"/>
          <p:nvPr/>
        </p:nvSpPr>
        <p:spPr>
          <a:xfrm>
            <a:off x="8156448" y="5074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69" name="Failure point 6.1"/>
          <p:cNvSpPr/>
          <p:nvPr/>
        </p:nvSpPr>
        <p:spPr>
          <a:xfrm>
            <a:off x="9944100" y="3154680"/>
            <a:ext cx="1696212" cy="1051560"/>
          </a:xfrm>
          <a:prstGeom prst="roundRect">
            <a:avLst>
              <a:gd name="adj" fmla="val 5217"/>
            </a:avLst>
          </a:prstGeom>
          <a:solidFill>
            <a:schemeClr val="bg1"/>
          </a:solidFill>
          <a:ln w="12700">
            <a:solidFill>
              <a:srgbClr val="D3E2E6"/>
            </a:solidFill>
            <a:prstDash val="solid"/>
          </a:ln>
        </p:spPr>
      </p:sp>
      <p:sp>
        <p:nvSpPr>
          <p:cNvPr id="70" name="Text 62"/>
          <p:cNvSpPr txBox="1"/>
          <p:nvPr/>
        </p:nvSpPr>
        <p:spPr>
          <a:xfrm>
            <a:off x="10035540" y="3218688"/>
            <a:ext cx="1513332" cy="713232"/>
          </a:xfrm>
          <a:prstGeom prst="rect">
            <a:avLst/>
          </a:prstGeom>
          <a:noFill/>
          <a:ln/>
        </p:spPr>
        <p:txBody>
          <a:bodyPr wrap="square" lIns="0" tIns="0" rIns="0" bIns="0" rtlCol="0" anchor="t"/>
          <a:lstStyle/>
          <a:p>
            <a:pPr marL="0" indent="0">
              <a:buNone/>
            </a:pPr>
            <a:r>
              <a:rPr lang="en-US" sz="1100" dirty="0">
                <a:solidFill>
                  <a:schemeClr val="tx1"/>
                </a:solidFill>
              </a:rPr>
              <a:t>A glut on arrival lowers price; damaged lots sell for less [3]</a:t>
            </a:r>
            <a:endParaRPr lang="en-US" sz="1100" dirty="0"/>
          </a:p>
        </p:txBody>
      </p:sp>
      <p:sp>
        <p:nvSpPr>
          <p:cNvPr id="71" name="Evidence tag DOCUMENTED"/>
          <p:cNvSpPr txBox="1"/>
          <p:nvPr/>
        </p:nvSpPr>
        <p:spPr>
          <a:xfrm>
            <a:off x="10035540" y="3931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72" name="Failure point 6.2"/>
          <p:cNvSpPr/>
          <p:nvPr/>
        </p:nvSpPr>
        <p:spPr>
          <a:xfrm>
            <a:off x="9944100" y="4297680"/>
            <a:ext cx="1696212" cy="1051560"/>
          </a:xfrm>
          <a:prstGeom prst="roundRect">
            <a:avLst>
              <a:gd name="adj" fmla="val 5217"/>
            </a:avLst>
          </a:prstGeom>
          <a:solidFill>
            <a:schemeClr val="bg1"/>
          </a:solidFill>
          <a:ln w="12700">
            <a:solidFill>
              <a:srgbClr val="D3E2E6"/>
            </a:solidFill>
            <a:prstDash val="solid"/>
          </a:ln>
        </p:spPr>
      </p:sp>
      <p:sp>
        <p:nvSpPr>
          <p:cNvPr id="73" name="Text 65"/>
          <p:cNvSpPr txBox="1"/>
          <p:nvPr/>
        </p:nvSpPr>
        <p:spPr>
          <a:xfrm>
            <a:off x="10035540" y="4361688"/>
            <a:ext cx="1513332" cy="713232"/>
          </a:xfrm>
          <a:prstGeom prst="rect">
            <a:avLst/>
          </a:prstGeom>
          <a:noFill/>
          <a:ln/>
        </p:spPr>
        <p:txBody>
          <a:bodyPr wrap="square" lIns="0" tIns="0" rIns="0" bIns="0" rtlCol="0" anchor="t"/>
          <a:lstStyle/>
          <a:p>
            <a:pPr marL="0" indent="0">
              <a:buNone/>
            </a:pPr>
            <a:r>
              <a:rPr lang="en-US" sz="1100" dirty="0">
                <a:solidFill>
                  <a:schemeClr val="tx1"/>
                </a:solidFill>
              </a:rPr>
              <a:t>Delhi receives tomato all year from many states; long hauls are routine [5]</a:t>
            </a:r>
            <a:endParaRPr lang="en-US" sz="1100" dirty="0"/>
          </a:p>
        </p:txBody>
      </p:sp>
      <p:sp>
        <p:nvSpPr>
          <p:cNvPr id="74" name="Evidence tag DOCUMENTED"/>
          <p:cNvSpPr txBox="1"/>
          <p:nvPr/>
        </p:nvSpPr>
        <p:spPr>
          <a:xfrm>
            <a:off x="10035540" y="5074920"/>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75" name="Evidence tag HYPOTHESIS · VALIDATE"/>
          <p:cNvSpPr txBox="1"/>
          <p:nvPr/>
        </p:nvSpPr>
        <p:spPr>
          <a:xfrm>
            <a:off x="548640" y="5596128"/>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marL="0" indent="0" algn="ctr">
              <a:buNone/>
            </a:pPr>
            <a:r>
              <a:rPr lang="en-US" sz="800" b="1" kern="0" spc="100" dirty="0">
                <a:solidFill>
                  <a:schemeClr val="tx1"/>
                </a:solidFill>
              </a:rPr>
              <a:t>HYPOTHESIS · VALIDATE</a:t>
            </a:r>
            <a:endParaRPr lang="en-US" sz="800" dirty="0"/>
          </a:p>
        </p:txBody>
      </p:sp>
      <p:sp>
        <p:nvSpPr>
          <p:cNvPr id="76" name="Text 68"/>
          <p:cNvSpPr txBox="1"/>
          <p:nvPr/>
        </p:nvSpPr>
        <p:spPr>
          <a:xfrm>
            <a:off x="2194560" y="5522976"/>
            <a:ext cx="9445752" cy="384048"/>
          </a:xfrm>
          <a:prstGeom prst="rect">
            <a:avLst/>
          </a:prstGeom>
          <a:noFill/>
          <a:ln/>
        </p:spPr>
        <p:txBody>
          <a:bodyPr wrap="square" lIns="0" tIns="0" rIns="0" bIns="0" rtlCol="0" anchor="ctr"/>
          <a:lstStyle/>
          <a:p>
            <a:pPr marL="0" indent="0">
              <a:buNone/>
            </a:pPr>
            <a:r>
              <a:rPr lang="en-US" sz="1150" i="1" dirty="0">
                <a:solidFill>
                  <a:schemeClr val="tx2"/>
                </a:solidFill>
              </a:rPr>
              <a:t>The field evidence comes from short, local flows (markets 25–30 km away, Madhya Pradesh tomato) [3]. Whether these failure points grow on long inter-state hauls has not been tested.</a:t>
            </a:r>
            <a:endParaRPr lang="en-US" sz="1150" dirty="0"/>
          </a:p>
        </p:txBody>
      </p:sp>
      <p:sp>
        <p:nvSpPr>
          <p:cNvPr id="77"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Sources: [1] NABCONS 2022, Annexure-II via PIB (1 Aug 2025); [3] Lamba, Singh &amp; Anand, WRI India (2024), Tomato trail, Madhya Pradesh field study; [5] Roy et al., RBI WPS 08/2024.</a:t>
            </a:r>
            <a:endParaRPr lang="en-US" sz="950" dirty="0"/>
          </a:p>
        </p:txBody>
      </p:sp>
      <p:sp>
        <p:nvSpPr>
          <p:cNvPr id="78"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03  ·  HOW SIGNIFICANT IS IT?</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Most fruit and vegetables lose 3–6× more than grains at the market stage</a:t>
            </a:r>
            <a:endParaRPr lang="en-US" sz="2600" dirty="0"/>
          </a:p>
        </p:txBody>
      </p:sp>
      <p:graphicFrame>
        <p:nvGraphicFramePr>
          <p:cNvPr id="4" name="Chart loss by stage"/>
          <p:cNvGraphicFramePr/>
          <p:nvPr/>
        </p:nvGraphicFramePr>
        <p:xfrm>
          <a:off x="548640" y="1572768"/>
          <a:ext cx="685800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1143000" y="1810512"/>
            <a:ext cx="1280160" cy="228600"/>
          </a:xfrm>
          <a:prstGeom prst="rect">
            <a:avLst/>
          </a:prstGeom>
          <a:noFill/>
          <a:ln/>
        </p:spPr>
        <p:txBody>
          <a:bodyPr wrap="square" lIns="0" tIns="0" rIns="0" bIns="0" rtlCol="0" anchor="ctr"/>
          <a:lstStyle/>
          <a:p>
            <a:pPr marL="0" indent="0" algn="ctr">
              <a:buNone/>
            </a:pPr>
            <a:r>
              <a:rPr lang="en-US" sz="1000" b="1" dirty="0">
                <a:solidFill>
                  <a:schemeClr val="accent5"/>
                </a:solidFill>
              </a:rPr>
              <a:t>Grains</a:t>
            </a:r>
            <a:endParaRPr lang="en-US" sz="1000" dirty="0"/>
          </a:p>
        </p:txBody>
      </p:sp>
      <p:sp>
        <p:nvSpPr>
          <p:cNvPr id="6" name="Text 3"/>
          <p:cNvSpPr txBox="1"/>
          <p:nvPr/>
        </p:nvSpPr>
        <p:spPr>
          <a:xfrm>
            <a:off x="3291840" y="1810512"/>
            <a:ext cx="3840480" cy="228600"/>
          </a:xfrm>
          <a:prstGeom prst="rect">
            <a:avLst/>
          </a:prstGeom>
          <a:noFill/>
          <a:ln/>
        </p:spPr>
        <p:txBody>
          <a:bodyPr wrap="square" lIns="0" tIns="0" rIns="0" bIns="0" rtlCol="0" anchor="ctr"/>
          <a:lstStyle/>
          <a:p>
            <a:pPr marL="0" indent="0" algn="ctr">
              <a:buNone/>
            </a:pPr>
            <a:r>
              <a:rPr lang="en-US" sz="1000" b="1" dirty="0">
                <a:solidFill>
                  <a:schemeClr val="accent4"/>
                </a:solidFill>
              </a:rPr>
              <a:t>Perishables</a:t>
            </a:r>
            <a:endParaRPr lang="en-US" sz="1000" dirty="0"/>
          </a:p>
        </p:txBody>
      </p:sp>
      <p:sp>
        <p:nvSpPr>
          <p:cNvPr id="7" name="card"/>
          <p:cNvSpPr/>
          <p:nvPr/>
        </p:nvSpPr>
        <p:spPr>
          <a:xfrm>
            <a:off x="7680960" y="1572768"/>
            <a:ext cx="3959352" cy="1325880"/>
          </a:xfrm>
          <a:prstGeom prst="roundRect">
            <a:avLst>
              <a:gd name="adj" fmla="val 5517"/>
            </a:avLst>
          </a:prstGeom>
          <a:solidFill>
            <a:schemeClr val="bg2"/>
          </a:solidFill>
          <a:ln/>
        </p:spPr>
      </p:sp>
      <p:sp>
        <p:nvSpPr>
          <p:cNvPr id="8" name="Text 5"/>
          <p:cNvSpPr txBox="1"/>
          <p:nvPr/>
        </p:nvSpPr>
        <p:spPr>
          <a:xfrm>
            <a:off x="7863840" y="1645920"/>
            <a:ext cx="3657600" cy="566928"/>
          </a:xfrm>
          <a:prstGeom prst="rect">
            <a:avLst/>
          </a:prstGeom>
          <a:noFill/>
          <a:ln/>
        </p:spPr>
        <p:txBody>
          <a:bodyPr wrap="square" lIns="0" tIns="0" rIns="0" bIns="0" rtlCol="0" anchor="ctr"/>
          <a:lstStyle/>
          <a:p>
            <a:pPr marL="0" indent="0">
              <a:buNone/>
            </a:pPr>
            <a:r>
              <a:rPr lang="en-US" sz="3400" b="1" dirty="0">
                <a:solidFill>
                  <a:schemeClr val="accent4"/>
                </a:solidFill>
                <a:latin typeface="Cambria" pitchFamily="34" charset="0"/>
                <a:ea typeface="Cambria" pitchFamily="34" charset="-122"/>
                <a:cs typeface="Cambria" pitchFamily="34" charset="-120"/>
              </a:rPr>
              <a:t>19.3 Mt</a:t>
            </a:r>
            <a:endParaRPr lang="en-US" sz="3400" dirty="0"/>
          </a:p>
        </p:txBody>
      </p:sp>
      <p:sp>
        <p:nvSpPr>
          <p:cNvPr id="9" name="Text 6"/>
          <p:cNvSpPr txBox="1"/>
          <p:nvPr/>
        </p:nvSpPr>
        <p:spPr>
          <a:xfrm>
            <a:off x="7863840" y="2240280"/>
            <a:ext cx="3611880" cy="594360"/>
          </a:xfrm>
          <a:prstGeom prst="rect">
            <a:avLst/>
          </a:prstGeom>
          <a:noFill/>
          <a:ln/>
        </p:spPr>
        <p:txBody>
          <a:bodyPr wrap="square" lIns="0" tIns="0" rIns="0" bIns="0" rtlCol="0" anchor="t"/>
          <a:lstStyle/>
          <a:p>
            <a:pPr marL="0" indent="0">
              <a:buNone/>
            </a:pPr>
            <a:r>
              <a:rPr lang="en-US" sz="1200" dirty="0">
                <a:solidFill>
                  <a:schemeClr val="tx1"/>
                </a:solidFill>
              </a:rPr>
              <a:t>fruit (7.36 Mt) + vegetables (11.97 Mt) lost a year, all stages farm to retail [1]</a:t>
            </a:r>
            <a:endParaRPr lang="en-US" sz="1200" dirty="0"/>
          </a:p>
        </p:txBody>
      </p:sp>
      <p:sp>
        <p:nvSpPr>
          <p:cNvPr id="10" name="card"/>
          <p:cNvSpPr/>
          <p:nvPr/>
        </p:nvSpPr>
        <p:spPr>
          <a:xfrm>
            <a:off x="7680960" y="3035808"/>
            <a:ext cx="3959352" cy="1325880"/>
          </a:xfrm>
          <a:prstGeom prst="roundRect">
            <a:avLst>
              <a:gd name="adj" fmla="val 5517"/>
            </a:avLst>
          </a:prstGeom>
          <a:solidFill>
            <a:schemeClr val="bg2"/>
          </a:solidFill>
          <a:ln/>
        </p:spPr>
      </p:sp>
      <p:sp>
        <p:nvSpPr>
          <p:cNvPr id="11" name="Text 8"/>
          <p:cNvSpPr txBox="1"/>
          <p:nvPr/>
        </p:nvSpPr>
        <p:spPr>
          <a:xfrm>
            <a:off x="7863840" y="3108960"/>
            <a:ext cx="3657600" cy="566928"/>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₹1.53 lakh crore</a:t>
            </a:r>
            <a:endParaRPr lang="en-US" sz="2800" dirty="0"/>
          </a:p>
        </p:txBody>
      </p:sp>
      <p:sp>
        <p:nvSpPr>
          <p:cNvPr id="12" name="Text 9"/>
          <p:cNvSpPr txBox="1"/>
          <p:nvPr/>
        </p:nvSpPr>
        <p:spPr>
          <a:xfrm>
            <a:off x="7863840" y="3675888"/>
            <a:ext cx="3611880" cy="658368"/>
          </a:xfrm>
          <a:prstGeom prst="rect">
            <a:avLst/>
          </a:prstGeom>
          <a:noFill/>
          <a:ln/>
        </p:spPr>
        <p:txBody>
          <a:bodyPr wrap="square" lIns="0" tIns="0" rIns="0" bIns="0" rtlCol="0" anchor="t"/>
          <a:lstStyle/>
          <a:p>
            <a:pPr marL="0" indent="0">
              <a:buNone/>
            </a:pPr>
            <a:r>
              <a:rPr lang="en-US" sz="1150" dirty="0">
                <a:solidFill>
                  <a:schemeClr val="tx1"/>
                </a:solidFill>
              </a:rPr>
              <a:t>annual value of post-harvest loss across all 54 commodities studied, not F&amp;V alone (2020–21 production, 3-yr avg prices) [1]</a:t>
            </a:r>
            <a:endParaRPr lang="en-US" sz="1150" dirty="0"/>
          </a:p>
        </p:txBody>
      </p:sp>
      <p:sp>
        <p:nvSpPr>
          <p:cNvPr id="13" name="Caution box"/>
          <p:cNvSpPr/>
          <p:nvPr/>
        </p:nvSpPr>
        <p:spPr>
          <a:xfrm>
            <a:off x="7680960" y="4498848"/>
            <a:ext cx="3959352" cy="1463040"/>
          </a:xfrm>
          <a:prstGeom prst="roundRect">
            <a:avLst>
              <a:gd name="adj" fmla="val 5000"/>
            </a:avLst>
          </a:prstGeom>
          <a:solidFill>
            <a:schemeClr val="bg1"/>
          </a:solidFill>
          <a:ln w="12700">
            <a:solidFill>
              <a:srgbClr val="12263A"/>
            </a:solidFill>
            <a:prstDash val="solid"/>
          </a:ln>
        </p:spPr>
      </p:sp>
      <p:sp>
        <p:nvSpPr>
          <p:cNvPr id="14" name="Evidence tag INTERPRETATION"/>
          <p:cNvSpPr txBox="1"/>
          <p:nvPr/>
        </p:nvSpPr>
        <p:spPr>
          <a:xfrm>
            <a:off x="7845552" y="4608576"/>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marL="0" indent="0" algn="ctr">
              <a:buNone/>
            </a:pPr>
            <a:r>
              <a:rPr lang="en-US" sz="800" b="1" kern="0" spc="100" dirty="0">
                <a:solidFill>
                  <a:schemeClr val="tx2"/>
                </a:solidFill>
              </a:rPr>
              <a:t>INTERPRETATION</a:t>
            </a:r>
            <a:endParaRPr lang="en-US" sz="800" dirty="0"/>
          </a:p>
        </p:txBody>
      </p:sp>
      <p:sp>
        <p:nvSpPr>
          <p:cNvPr id="15" name="Text 12"/>
          <p:cNvSpPr txBox="1"/>
          <p:nvPr/>
        </p:nvSpPr>
        <p:spPr>
          <a:xfrm>
            <a:off x="7845552" y="4873752"/>
            <a:ext cx="3657600" cy="1051560"/>
          </a:xfrm>
          <a:prstGeom prst="rect">
            <a:avLst/>
          </a:prstGeom>
          <a:noFill/>
          <a:ln/>
        </p:spPr>
        <p:txBody>
          <a:bodyPr wrap="square" lIns="0" tIns="0" rIns="0" bIns="0" rtlCol="0" anchor="t"/>
          <a:lstStyle/>
          <a:p>
            <a:pPr marL="0" indent="0">
              <a:buNone/>
            </a:pPr>
            <a:r>
              <a:rPr lang="en-US" sz="1150" dirty="0">
                <a:solidFill>
                  <a:schemeClr val="tx1"/>
                </a:solidFill>
              </a:rPr>
              <a:t>Read with care: “market level” bundles transport, wholesale, retail and processing. No transport-only share is published here, so these figures bound the problem; they do not measure transit loss.</a:t>
            </a:r>
            <a:endParaRPr lang="en-US" sz="1150" dirty="0"/>
          </a:p>
        </p:txBody>
      </p:sp>
      <p:sp>
        <p:nvSpPr>
          <p:cNvPr id="16"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[1] NABCONS (2022) for MoFPI, as tabled in Rajya Sabha reply, PIB release 2151371 (1 Aug 2025), Annexure-II Tables 1–2. Earlier ICAR-CIPHET (2015) estimate [2]: ₹92,651 crore at 2014 prices. Methods and base years differ, so the two are not a trend.</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04  ·  WHO IS AFFECTED?</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The dispatcher decides the journey; the farmer often pays for it</a:t>
            </a:r>
            <a:endParaRPr lang="en-US" sz="2600" dirty="0"/>
          </a:p>
        </p:txBody>
      </p:sp>
      <p:sp>
        <p:nvSpPr>
          <p:cNvPr id="4" name="Primary user card"/>
          <p:cNvSpPr/>
          <p:nvPr/>
        </p:nvSpPr>
        <p:spPr>
          <a:xfrm>
            <a:off x="548640" y="1572768"/>
            <a:ext cx="3977640" cy="3730752"/>
          </a:xfrm>
          <a:prstGeom prst="roundRect">
            <a:avLst>
              <a:gd name="adj" fmla="val 1961"/>
            </a:avLst>
          </a:prstGeom>
          <a:solidFill>
            <a:schemeClr val="tx2"/>
          </a:solidFill>
          <a:ln/>
        </p:spPr>
      </p:sp>
      <p:sp>
        <p:nvSpPr>
          <p:cNvPr id="5" name="Text 3"/>
          <p:cNvSpPr txBox="1"/>
          <p:nvPr/>
        </p:nvSpPr>
        <p:spPr>
          <a:xfrm>
            <a:off x="777240" y="1783080"/>
            <a:ext cx="1325880" cy="246888"/>
          </a:xfrm>
          <a:prstGeom prst="roundRect">
            <a:avLst>
              <a:gd name="adj" fmla="val 44444"/>
            </a:avLst>
          </a:prstGeom>
          <a:solidFill>
            <a:schemeClr val="accent2"/>
          </a:solidFill>
          <a:ln/>
        </p:spPr>
        <p:txBody>
          <a:bodyPr wrap="square" lIns="0" tIns="0" rIns="0" bIns="0" rtlCol="0" anchor="ctr"/>
          <a:lstStyle/>
          <a:p>
            <a:pPr marL="0" indent="0" algn="ctr">
              <a:buNone/>
            </a:pPr>
            <a:r>
              <a:rPr lang="en-US" sz="950" b="1" kern="0" spc="100" dirty="0">
                <a:solidFill>
                  <a:schemeClr val="tx2"/>
                </a:solidFill>
              </a:rPr>
              <a:t>PRIMARY USER</a:t>
            </a:r>
            <a:endParaRPr lang="en-US" sz="950" dirty="0"/>
          </a:p>
        </p:txBody>
      </p:sp>
      <p:sp>
        <p:nvSpPr>
          <p:cNvPr id="6" name="Dispatcher circle"/>
          <p:cNvSpPr/>
          <p:nvPr/>
        </p:nvSpPr>
        <p:spPr>
          <a:xfrm>
            <a:off x="3611880" y="1755648"/>
            <a:ext cx="685800" cy="685800"/>
          </a:xfrm>
          <a:prstGeom prst="ellipse">
            <a:avLst/>
          </a:prstGeom>
          <a:solidFill>
            <a:schemeClr val="accent1"/>
          </a:solidFill>
          <a:ln/>
        </p:spPr>
      </p:sp>
      <p:pic>
        <p:nvPicPr>
          <p:cNvPr id="7" name="Dispatcher icon" descr="preencoded.png"/>
          <p:cNvPicPr>
            <a:picLocks noChangeAspect="1"/>
          </p:cNvPicPr>
          <p:nvPr/>
        </p:nvPicPr>
        <p:blipFill>
          <a:blip r:embed="rId3"/>
          <a:stretch>
            <a:fillRect/>
          </a:stretch>
        </p:blipFill>
        <p:spPr>
          <a:xfrm>
            <a:off x="3783330" y="1927098"/>
            <a:ext cx="342900" cy="342900"/>
          </a:xfrm>
          <a:prstGeom prst="rect">
            <a:avLst/>
          </a:prstGeom>
        </p:spPr>
      </p:pic>
      <p:sp>
        <p:nvSpPr>
          <p:cNvPr id="8" name="Text 5"/>
          <p:cNvSpPr txBox="1"/>
          <p:nvPr/>
        </p:nvSpPr>
        <p:spPr>
          <a:xfrm>
            <a:off x="777240" y="2148840"/>
            <a:ext cx="2926080" cy="4572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The dispatcher</a:t>
            </a:r>
            <a:endParaRPr lang="en-US" sz="2200" dirty="0"/>
          </a:p>
        </p:txBody>
      </p:sp>
      <p:sp>
        <p:nvSpPr>
          <p:cNvPr id="9" name="Text 6"/>
          <p:cNvSpPr txBox="1"/>
          <p:nvPr/>
        </p:nvSpPr>
        <p:spPr>
          <a:xfrm>
            <a:off x="777240" y="2606040"/>
            <a:ext cx="3520440" cy="502920"/>
          </a:xfrm>
          <a:prstGeom prst="rect">
            <a:avLst/>
          </a:prstGeom>
          <a:noFill/>
          <a:ln/>
        </p:spPr>
        <p:txBody>
          <a:bodyPr wrap="square" lIns="0" tIns="0" rIns="0" bIns="0" rtlCol="0" anchor="t"/>
          <a:lstStyle/>
          <a:p>
            <a:pPr marL="0" indent="0">
              <a:buNone/>
            </a:pPr>
            <a:r>
              <a:rPr lang="en-US" sz="1250" i="1" dirty="0">
                <a:solidFill>
                  <a:schemeClr val="accent6"/>
                </a:solidFill>
              </a:rPr>
              <a:t>Commission agent, trader or FPO marketing lead at the assembly mandi</a:t>
            </a:r>
            <a:endParaRPr lang="en-US" sz="1250" dirty="0"/>
          </a:p>
        </p:txBody>
      </p:sp>
      <p:sp>
        <p:nvSpPr>
          <p:cNvPr id="10" name="Text 7"/>
          <p:cNvSpPr txBox="1"/>
          <p:nvPr/>
        </p:nvSpPr>
        <p:spPr>
          <a:xfrm>
            <a:off x="777240" y="3154680"/>
            <a:ext cx="3520440" cy="1143000"/>
          </a:xfrm>
          <a:prstGeom prst="rect">
            <a:avLst/>
          </a:prstGeom>
          <a:noFill/>
          <a:ln/>
        </p:spPr>
        <p:txBody>
          <a:bodyPr wrap="square" lIns="0" tIns="0" rIns="0" bIns="0" rtlCol="0" anchor="t"/>
          <a:lstStyle/>
          <a:p>
            <a:pPr marL="0" indent="0">
              <a:buNone/>
            </a:pPr>
            <a:r>
              <a:rPr lang="en-US" sz="1300" dirty="0">
                <a:solidFill>
                  <a:schemeClr val="bg1"/>
                </a:solidFill>
              </a:rPr>
              <a:t>Chooses the destination, timing and packing for a load they cannot observe once it leaves. Field evidence shows these wholesale-level choices of packaging and destination distance shape shelf life [3].</a:t>
            </a:r>
            <a:endParaRPr lang="en-US" sz="1300" dirty="0"/>
          </a:p>
        </p:txBody>
      </p:sp>
      <p:sp>
        <p:nvSpPr>
          <p:cNvPr id="11" name="Text 8"/>
          <p:cNvSpPr txBox="1"/>
          <p:nvPr/>
        </p:nvSpPr>
        <p:spPr>
          <a:xfrm>
            <a:off x="777240" y="4434840"/>
            <a:ext cx="3520440" cy="731520"/>
          </a:xfrm>
          <a:prstGeom prst="rect">
            <a:avLst/>
          </a:prstGeom>
          <a:noFill/>
          <a:ln/>
        </p:spPr>
        <p:txBody>
          <a:bodyPr wrap="square" lIns="0" tIns="0" rIns="0" bIns="0" rtlCol="0" anchor="t"/>
          <a:lstStyle/>
          <a:p>
            <a:pPr marL="0" indent="0">
              <a:buNone/>
            </a:pPr>
            <a:r>
              <a:rPr lang="en-US" sz="1200" b="1" dirty="0">
                <a:solidFill>
                  <a:schemeClr val="accent2"/>
                </a:solidFill>
              </a:rPr>
              <a:t>Why primary: </a:t>
            </a:r>
            <a:r>
              <a:rPr lang="en-US" sz="1200" dirty="0">
                <a:solidFill>
                  <a:schemeClr val="accent2"/>
                </a:solidFill>
              </a:rPr>
              <a:t>the difficulty starts at this decision point, and it is narrow enough to study directly.</a:t>
            </a:r>
            <a:endParaRPr lang="en-US" sz="1200" dirty="0"/>
          </a:p>
        </p:txBody>
      </p:sp>
      <p:sp>
        <p:nvSpPr>
          <p:cNvPr id="12" name="Stakeholder Farmer / FPO member"/>
          <p:cNvSpPr/>
          <p:nvPr/>
        </p:nvSpPr>
        <p:spPr>
          <a:xfrm>
            <a:off x="4800600" y="1847088"/>
            <a:ext cx="3337560" cy="1673352"/>
          </a:xfrm>
          <a:prstGeom prst="roundRect">
            <a:avLst>
              <a:gd name="adj" fmla="val 4372"/>
            </a:avLst>
          </a:prstGeom>
          <a:solidFill>
            <a:schemeClr val="bg2"/>
          </a:solidFill>
          <a:ln/>
        </p:spPr>
      </p:sp>
      <p:sp>
        <p:nvSpPr>
          <p:cNvPr id="13" name="Farmer / FPO member circle"/>
          <p:cNvSpPr/>
          <p:nvPr/>
        </p:nvSpPr>
        <p:spPr>
          <a:xfrm>
            <a:off x="4965192" y="2011680"/>
            <a:ext cx="457200" cy="457200"/>
          </a:xfrm>
          <a:prstGeom prst="ellipse">
            <a:avLst/>
          </a:prstGeom>
          <a:solidFill>
            <a:schemeClr val="accent5"/>
          </a:solidFill>
          <a:ln/>
        </p:spPr>
      </p:sp>
      <p:pic>
        <p:nvPicPr>
          <p:cNvPr id="14" name="Farmer / FPO member icon" descr="preencoded.png"/>
          <p:cNvPicPr>
            <a:picLocks noChangeAspect="1"/>
          </p:cNvPicPr>
          <p:nvPr/>
        </p:nvPicPr>
        <p:blipFill>
          <a:blip r:embed="rId4"/>
          <a:stretch>
            <a:fillRect/>
          </a:stretch>
        </p:blipFill>
        <p:spPr>
          <a:xfrm>
            <a:off x="5079492" y="2125980"/>
            <a:ext cx="228600" cy="228600"/>
          </a:xfrm>
          <a:prstGeom prst="rect">
            <a:avLst/>
          </a:prstGeom>
        </p:spPr>
      </p:pic>
      <p:sp>
        <p:nvSpPr>
          <p:cNvPr id="15" name="Text 11"/>
          <p:cNvSpPr txBox="1"/>
          <p:nvPr/>
        </p:nvSpPr>
        <p:spPr>
          <a:xfrm>
            <a:off x="5532120" y="2011680"/>
            <a:ext cx="2514600" cy="457200"/>
          </a:xfrm>
          <a:prstGeom prst="rect">
            <a:avLst/>
          </a:prstGeom>
          <a:noFill/>
          <a:ln/>
        </p:spPr>
        <p:txBody>
          <a:bodyPr wrap="square" lIns="0" tIns="0" rIns="0" bIns="0" rtlCol="0" anchor="ctr"/>
          <a:lstStyle/>
          <a:p>
            <a:pPr marL="0" indent="0">
              <a:buNone/>
            </a:pPr>
            <a:r>
              <a:rPr lang="en-US" sz="1400" b="1" dirty="0">
                <a:solidFill>
                  <a:schemeClr val="tx2"/>
                </a:solidFill>
              </a:rPr>
              <a:t>Farmer / FPO member</a:t>
            </a:r>
            <a:endParaRPr lang="en-US" sz="1400" dirty="0"/>
          </a:p>
        </p:txBody>
      </p:sp>
      <p:sp>
        <p:nvSpPr>
          <p:cNvPr id="16" name="Text 12"/>
          <p:cNvSpPr txBox="1"/>
          <p:nvPr/>
        </p:nvSpPr>
        <p:spPr>
          <a:xfrm>
            <a:off x="4965192" y="2532888"/>
            <a:ext cx="3035808" cy="932688"/>
          </a:xfrm>
          <a:prstGeom prst="rect">
            <a:avLst/>
          </a:prstGeom>
          <a:noFill/>
          <a:ln/>
        </p:spPr>
        <p:txBody>
          <a:bodyPr wrap="square" lIns="0" tIns="0" rIns="0" bIns="0" rtlCol="0" anchor="t"/>
          <a:lstStyle/>
          <a:p>
            <a:pPr marL="0" indent="0">
              <a:buNone/>
            </a:pPr>
            <a:r>
              <a:rPr lang="en-US" sz="1150" dirty="0">
                <a:solidFill>
                  <a:schemeClr val="tx1"/>
                </a:solidFill>
              </a:rPr>
              <a:t>Damaged lots sell for less, and that loss is borne mostly by the farmer [3]. Farmers get about 33% of the Delhi consumer price for tomato [5].</a:t>
            </a:r>
            <a:endParaRPr lang="en-US" sz="1150" dirty="0"/>
          </a:p>
        </p:txBody>
      </p:sp>
      <p:sp>
        <p:nvSpPr>
          <p:cNvPr id="17" name="Stakeholder Transporter / driver"/>
          <p:cNvSpPr/>
          <p:nvPr/>
        </p:nvSpPr>
        <p:spPr>
          <a:xfrm>
            <a:off x="8302752" y="1847088"/>
            <a:ext cx="3337560" cy="1673352"/>
          </a:xfrm>
          <a:prstGeom prst="roundRect">
            <a:avLst>
              <a:gd name="adj" fmla="val 4372"/>
            </a:avLst>
          </a:prstGeom>
          <a:solidFill>
            <a:schemeClr val="bg2"/>
          </a:solidFill>
          <a:ln/>
        </p:spPr>
      </p:sp>
      <p:sp>
        <p:nvSpPr>
          <p:cNvPr id="18" name="Transporter / driver circle"/>
          <p:cNvSpPr/>
          <p:nvPr/>
        </p:nvSpPr>
        <p:spPr>
          <a:xfrm>
            <a:off x="8467344" y="2011680"/>
            <a:ext cx="457200" cy="457200"/>
          </a:xfrm>
          <a:prstGeom prst="ellipse">
            <a:avLst/>
          </a:prstGeom>
          <a:solidFill>
            <a:schemeClr val="accent5"/>
          </a:solidFill>
          <a:ln/>
        </p:spPr>
      </p:sp>
      <p:pic>
        <p:nvPicPr>
          <p:cNvPr id="19" name="Transporter / driver icon" descr="preencoded.png"/>
          <p:cNvPicPr>
            <a:picLocks noChangeAspect="1"/>
          </p:cNvPicPr>
          <p:nvPr/>
        </p:nvPicPr>
        <p:blipFill>
          <a:blip r:embed="rId5"/>
          <a:stretch>
            <a:fillRect/>
          </a:stretch>
        </p:blipFill>
        <p:spPr>
          <a:xfrm>
            <a:off x="8581644" y="2125980"/>
            <a:ext cx="228600" cy="228600"/>
          </a:xfrm>
          <a:prstGeom prst="rect">
            <a:avLst/>
          </a:prstGeom>
        </p:spPr>
      </p:pic>
      <p:sp>
        <p:nvSpPr>
          <p:cNvPr id="20" name="Text 15"/>
          <p:cNvSpPr txBox="1"/>
          <p:nvPr/>
        </p:nvSpPr>
        <p:spPr>
          <a:xfrm>
            <a:off x="9034272" y="2011680"/>
            <a:ext cx="2514600" cy="457200"/>
          </a:xfrm>
          <a:prstGeom prst="rect">
            <a:avLst/>
          </a:prstGeom>
          <a:noFill/>
          <a:ln/>
        </p:spPr>
        <p:txBody>
          <a:bodyPr wrap="square" lIns="0" tIns="0" rIns="0" bIns="0" rtlCol="0" anchor="ctr"/>
          <a:lstStyle/>
          <a:p>
            <a:pPr marL="0" indent="0">
              <a:buNone/>
            </a:pPr>
            <a:r>
              <a:rPr lang="en-US" sz="1400" b="1" dirty="0">
                <a:solidFill>
                  <a:schemeClr val="tx2"/>
                </a:solidFill>
              </a:rPr>
              <a:t>Transporter / driver</a:t>
            </a:r>
            <a:endParaRPr lang="en-US" sz="1400" dirty="0"/>
          </a:p>
        </p:txBody>
      </p:sp>
      <p:sp>
        <p:nvSpPr>
          <p:cNvPr id="21" name="Text 16"/>
          <p:cNvSpPr txBox="1"/>
          <p:nvPr/>
        </p:nvSpPr>
        <p:spPr>
          <a:xfrm>
            <a:off x="8467344" y="2532888"/>
            <a:ext cx="3035808" cy="932688"/>
          </a:xfrm>
          <a:prstGeom prst="rect">
            <a:avLst/>
          </a:prstGeom>
          <a:noFill/>
          <a:ln/>
        </p:spPr>
        <p:txBody>
          <a:bodyPr wrap="square" lIns="0" tIns="0" rIns="0" bIns="0" rtlCol="0" anchor="t"/>
          <a:lstStyle/>
          <a:p>
            <a:pPr marL="0" indent="0">
              <a:buNone/>
            </a:pPr>
            <a:r>
              <a:rPr lang="en-US" sz="1150" dirty="0">
                <a:solidFill>
                  <a:schemeClr val="tx1"/>
                </a:solidFill>
              </a:rPr>
              <a:t>Deals with heat, rough roads, permit checks, waiting at market gates and breakdowns, in trucks without refrigeration [3].</a:t>
            </a:r>
            <a:endParaRPr lang="en-US" sz="1150" dirty="0"/>
          </a:p>
        </p:txBody>
      </p:sp>
      <p:sp>
        <p:nvSpPr>
          <p:cNvPr id="22" name="Stakeholder Receiving wholesaler / retailer"/>
          <p:cNvSpPr/>
          <p:nvPr/>
        </p:nvSpPr>
        <p:spPr>
          <a:xfrm>
            <a:off x="4800600" y="3630168"/>
            <a:ext cx="3337560" cy="1673352"/>
          </a:xfrm>
          <a:prstGeom prst="roundRect">
            <a:avLst>
              <a:gd name="adj" fmla="val 4372"/>
            </a:avLst>
          </a:prstGeom>
          <a:solidFill>
            <a:schemeClr val="bg2"/>
          </a:solidFill>
          <a:ln/>
        </p:spPr>
      </p:sp>
      <p:sp>
        <p:nvSpPr>
          <p:cNvPr id="23" name="Receiving wholesaler / retailer circle"/>
          <p:cNvSpPr/>
          <p:nvPr/>
        </p:nvSpPr>
        <p:spPr>
          <a:xfrm>
            <a:off x="4965192" y="3794760"/>
            <a:ext cx="457200" cy="457200"/>
          </a:xfrm>
          <a:prstGeom prst="ellipse">
            <a:avLst/>
          </a:prstGeom>
          <a:solidFill>
            <a:schemeClr val="accent5"/>
          </a:solidFill>
          <a:ln/>
        </p:spPr>
      </p:sp>
      <p:pic>
        <p:nvPicPr>
          <p:cNvPr id="24" name="Receiving wholesaler / retailer icon" descr="preencoded.png"/>
          <p:cNvPicPr>
            <a:picLocks noChangeAspect="1"/>
          </p:cNvPicPr>
          <p:nvPr/>
        </p:nvPicPr>
        <p:blipFill>
          <a:blip r:embed="rId6"/>
          <a:stretch>
            <a:fillRect/>
          </a:stretch>
        </p:blipFill>
        <p:spPr>
          <a:xfrm>
            <a:off x="5079492" y="3909060"/>
            <a:ext cx="228600" cy="228600"/>
          </a:xfrm>
          <a:prstGeom prst="rect">
            <a:avLst/>
          </a:prstGeom>
        </p:spPr>
      </p:pic>
      <p:sp>
        <p:nvSpPr>
          <p:cNvPr id="25" name="Text 19"/>
          <p:cNvSpPr txBox="1"/>
          <p:nvPr/>
        </p:nvSpPr>
        <p:spPr>
          <a:xfrm>
            <a:off x="5532120" y="3794760"/>
            <a:ext cx="2514600" cy="457200"/>
          </a:xfrm>
          <a:prstGeom prst="rect">
            <a:avLst/>
          </a:prstGeom>
          <a:noFill/>
          <a:ln/>
        </p:spPr>
        <p:txBody>
          <a:bodyPr wrap="square" lIns="0" tIns="0" rIns="0" bIns="0" rtlCol="0" anchor="ctr"/>
          <a:lstStyle/>
          <a:p>
            <a:pPr marL="0" indent="0">
              <a:buNone/>
            </a:pPr>
            <a:r>
              <a:rPr lang="en-US" sz="1400" b="1" dirty="0">
                <a:solidFill>
                  <a:schemeClr val="tx2"/>
                </a:solidFill>
              </a:rPr>
              <a:t>Receiving wholesaler / retailer</a:t>
            </a:r>
            <a:endParaRPr lang="en-US" sz="1400" dirty="0"/>
          </a:p>
        </p:txBody>
      </p:sp>
      <p:sp>
        <p:nvSpPr>
          <p:cNvPr id="26" name="Text 20"/>
          <p:cNvSpPr txBox="1"/>
          <p:nvPr/>
        </p:nvSpPr>
        <p:spPr>
          <a:xfrm>
            <a:off x="4965192" y="4315968"/>
            <a:ext cx="3035808" cy="932688"/>
          </a:xfrm>
          <a:prstGeom prst="rect">
            <a:avLst/>
          </a:prstGeom>
          <a:noFill/>
          <a:ln/>
        </p:spPr>
        <p:txBody>
          <a:bodyPr wrap="square" lIns="0" tIns="0" rIns="0" bIns="0" rtlCol="0" anchor="t"/>
          <a:lstStyle/>
          <a:p>
            <a:pPr marL="0" indent="0">
              <a:buNone/>
            </a:pPr>
            <a:r>
              <a:rPr lang="en-US" sz="1150" dirty="0">
                <a:solidFill>
                  <a:schemeClr val="tx1"/>
                </a:solidFill>
              </a:rPr>
              <a:t>No storage on site, so stock must sell the same day. In the study, 12% of tomatoes were wasted at retail and 11% sold as Grade II at about half price [3].</a:t>
            </a:r>
            <a:endParaRPr lang="en-US" sz="1150" dirty="0"/>
          </a:p>
        </p:txBody>
      </p:sp>
      <p:sp>
        <p:nvSpPr>
          <p:cNvPr id="27" name="Stakeholder Consumer"/>
          <p:cNvSpPr/>
          <p:nvPr/>
        </p:nvSpPr>
        <p:spPr>
          <a:xfrm>
            <a:off x="8302752" y="3630168"/>
            <a:ext cx="3337560" cy="1673352"/>
          </a:xfrm>
          <a:prstGeom prst="roundRect">
            <a:avLst>
              <a:gd name="adj" fmla="val 4372"/>
            </a:avLst>
          </a:prstGeom>
          <a:solidFill>
            <a:schemeClr val="bg2"/>
          </a:solidFill>
          <a:ln/>
        </p:spPr>
      </p:sp>
      <p:sp>
        <p:nvSpPr>
          <p:cNvPr id="28" name="Consumer circle"/>
          <p:cNvSpPr/>
          <p:nvPr/>
        </p:nvSpPr>
        <p:spPr>
          <a:xfrm>
            <a:off x="8467344" y="3794760"/>
            <a:ext cx="457200" cy="457200"/>
          </a:xfrm>
          <a:prstGeom prst="ellipse">
            <a:avLst/>
          </a:prstGeom>
          <a:solidFill>
            <a:schemeClr val="accent5"/>
          </a:solidFill>
          <a:ln/>
        </p:spPr>
      </p:sp>
      <p:pic>
        <p:nvPicPr>
          <p:cNvPr id="29" name="Consumer icon" descr="preencoded.png"/>
          <p:cNvPicPr>
            <a:picLocks noChangeAspect="1"/>
          </p:cNvPicPr>
          <p:nvPr/>
        </p:nvPicPr>
        <p:blipFill>
          <a:blip r:embed="rId7"/>
          <a:stretch>
            <a:fillRect/>
          </a:stretch>
        </p:blipFill>
        <p:spPr>
          <a:xfrm>
            <a:off x="8581644" y="3909060"/>
            <a:ext cx="228600" cy="228600"/>
          </a:xfrm>
          <a:prstGeom prst="rect">
            <a:avLst/>
          </a:prstGeom>
        </p:spPr>
      </p:pic>
      <p:sp>
        <p:nvSpPr>
          <p:cNvPr id="30" name="Text 23"/>
          <p:cNvSpPr txBox="1"/>
          <p:nvPr/>
        </p:nvSpPr>
        <p:spPr>
          <a:xfrm>
            <a:off x="9034272" y="3794760"/>
            <a:ext cx="2514600" cy="457200"/>
          </a:xfrm>
          <a:prstGeom prst="rect">
            <a:avLst/>
          </a:prstGeom>
          <a:noFill/>
          <a:ln/>
        </p:spPr>
        <p:txBody>
          <a:bodyPr wrap="square" lIns="0" tIns="0" rIns="0" bIns="0" rtlCol="0" anchor="ctr"/>
          <a:lstStyle/>
          <a:p>
            <a:pPr marL="0" indent="0">
              <a:buNone/>
            </a:pPr>
            <a:r>
              <a:rPr lang="en-US" sz="1400" b="1" dirty="0">
                <a:solidFill>
                  <a:schemeClr val="tx2"/>
                </a:solidFill>
              </a:rPr>
              <a:t>Consumer</a:t>
            </a:r>
            <a:endParaRPr lang="en-US" sz="1400" dirty="0"/>
          </a:p>
        </p:txBody>
      </p:sp>
      <p:sp>
        <p:nvSpPr>
          <p:cNvPr id="31" name="Text 24"/>
          <p:cNvSpPr txBox="1"/>
          <p:nvPr/>
        </p:nvSpPr>
        <p:spPr>
          <a:xfrm>
            <a:off x="8467344" y="4315968"/>
            <a:ext cx="3035808" cy="932688"/>
          </a:xfrm>
          <a:prstGeom prst="rect">
            <a:avLst/>
          </a:prstGeom>
          <a:noFill/>
          <a:ln/>
        </p:spPr>
        <p:txBody>
          <a:bodyPr wrap="square" lIns="0" tIns="0" rIns="0" bIns="0" rtlCol="0" anchor="t"/>
          <a:lstStyle/>
          <a:p>
            <a:pPr marL="0" indent="0">
              <a:buNone/>
            </a:pPr>
            <a:r>
              <a:rPr lang="en-US" sz="1150" dirty="0">
                <a:solidFill>
                  <a:schemeClr val="tx1"/>
                </a:solidFill>
              </a:rPr>
              <a:t>Perishability and short crop cycles make tomato, onion and potato prices swing sharply [5].</a:t>
            </a:r>
            <a:endParaRPr lang="en-US" sz="1150" dirty="0"/>
          </a:p>
        </p:txBody>
      </p:sp>
      <p:sp>
        <p:nvSpPr>
          <p:cNvPr id="32" name="Text 25"/>
          <p:cNvSpPr txBox="1"/>
          <p:nvPr/>
        </p:nvSpPr>
        <p:spPr>
          <a:xfrm>
            <a:off x="4800600" y="1572768"/>
            <a:ext cx="6839712" cy="237744"/>
          </a:xfrm>
          <a:prstGeom prst="rect">
            <a:avLst/>
          </a:prstGeom>
          <a:noFill/>
          <a:ln/>
        </p:spPr>
        <p:txBody>
          <a:bodyPr wrap="square" lIns="0" tIns="0" rIns="0" bIns="0" rtlCol="0" anchor="ctr"/>
          <a:lstStyle/>
          <a:p>
            <a:pPr marL="0" indent="0">
              <a:buNone/>
            </a:pPr>
            <a:r>
              <a:rPr lang="en-US" sz="950" b="1" kern="0" spc="100" dirty="0">
                <a:solidFill>
                  <a:schemeClr val="accent5"/>
                </a:solidFill>
              </a:rPr>
              <a:t>SECONDARY STAKEHOLDERS: affected by the outcome</a:t>
            </a:r>
            <a:endParaRPr lang="en-US" sz="950" dirty="0"/>
          </a:p>
        </p:txBody>
      </p:sp>
      <p:sp>
        <p:nvSpPr>
          <p:cNvPr id="33" name="Text 26"/>
          <p:cNvSpPr txBox="1"/>
          <p:nvPr/>
        </p:nvSpPr>
        <p:spPr>
          <a:xfrm>
            <a:off x="548640" y="5486400"/>
            <a:ext cx="1920240" cy="384048"/>
          </a:xfrm>
          <a:prstGeom prst="rect">
            <a:avLst/>
          </a:prstGeom>
          <a:noFill/>
          <a:ln/>
        </p:spPr>
        <p:txBody>
          <a:bodyPr wrap="square" lIns="0" tIns="0" rIns="0" bIns="0" rtlCol="0" anchor="ctr"/>
          <a:lstStyle/>
          <a:p>
            <a:pPr marL="0" indent="0">
              <a:buNone/>
            </a:pPr>
            <a:r>
              <a:rPr lang="en-US" sz="950" b="1" kern="0" spc="100" dirty="0">
                <a:solidFill>
                  <a:schemeClr val="accent5"/>
                </a:solidFill>
              </a:rPr>
              <a:t>SHAPE THE CONDITIONS</a:t>
            </a:r>
            <a:endParaRPr lang="en-US" sz="950" dirty="0"/>
          </a:p>
        </p:txBody>
      </p:sp>
      <p:sp>
        <p:nvSpPr>
          <p:cNvPr id="34" name="Influencer APMC boards &amp;amp; state governments"/>
          <p:cNvSpPr txBox="1"/>
          <p:nvPr/>
        </p:nvSpPr>
        <p:spPr>
          <a:xfrm>
            <a:off x="2514600" y="5504688"/>
            <a:ext cx="2377440" cy="347472"/>
          </a:xfrm>
          <a:prstGeom prst="roundRect">
            <a:avLst>
              <a:gd name="adj" fmla="val 47368"/>
            </a:avLst>
          </a:prstGeom>
          <a:solidFill>
            <a:schemeClr val="bg1"/>
          </a:solidFill>
          <a:ln w="9525">
            <a:solidFill>
              <a:srgbClr val="5E6E7E"/>
            </a:solidFill>
          </a:ln>
        </p:spPr>
        <p:txBody>
          <a:bodyPr wrap="square" lIns="0" tIns="0" rIns="0" bIns="0" rtlCol="0" anchor="ctr"/>
          <a:lstStyle/>
          <a:p>
            <a:pPr marL="0" indent="0" algn="ctr">
              <a:buNone/>
            </a:pPr>
            <a:r>
              <a:rPr lang="en-US" sz="1100" dirty="0">
                <a:solidFill>
                  <a:schemeClr val="tx2"/>
                </a:solidFill>
              </a:rPr>
              <a:t>APMC boards &amp; state governments</a:t>
            </a:r>
            <a:endParaRPr lang="en-US" sz="1100" dirty="0"/>
          </a:p>
        </p:txBody>
      </p:sp>
      <p:sp>
        <p:nvSpPr>
          <p:cNvPr id="35" name="Influencer e-NAM / Ministry of Agriculture"/>
          <p:cNvSpPr txBox="1"/>
          <p:nvPr/>
        </p:nvSpPr>
        <p:spPr>
          <a:xfrm>
            <a:off x="5001768" y="5504688"/>
            <a:ext cx="2240280" cy="347472"/>
          </a:xfrm>
          <a:prstGeom prst="roundRect">
            <a:avLst>
              <a:gd name="adj" fmla="val 47368"/>
            </a:avLst>
          </a:prstGeom>
          <a:solidFill>
            <a:schemeClr val="bg1"/>
          </a:solidFill>
          <a:ln w="9525">
            <a:solidFill>
              <a:srgbClr val="5E6E7E"/>
            </a:solidFill>
          </a:ln>
        </p:spPr>
        <p:txBody>
          <a:bodyPr wrap="square" lIns="0" tIns="0" rIns="0" bIns="0" rtlCol="0" anchor="ctr"/>
          <a:lstStyle/>
          <a:p>
            <a:pPr marL="0" indent="0" algn="ctr">
              <a:buNone/>
            </a:pPr>
            <a:r>
              <a:rPr lang="en-US" sz="1100" dirty="0">
                <a:solidFill>
                  <a:schemeClr val="tx2"/>
                </a:solidFill>
              </a:rPr>
              <a:t>e-NAM / Ministry of Agriculture</a:t>
            </a:r>
            <a:endParaRPr lang="en-US" sz="1100" dirty="0"/>
          </a:p>
        </p:txBody>
      </p:sp>
      <p:sp>
        <p:nvSpPr>
          <p:cNvPr id="36" name="Influencer MoFPI &amp;amp; NCCD (cold chain)"/>
          <p:cNvSpPr txBox="1"/>
          <p:nvPr/>
        </p:nvSpPr>
        <p:spPr>
          <a:xfrm>
            <a:off x="7351776" y="5504688"/>
            <a:ext cx="2011680" cy="347472"/>
          </a:xfrm>
          <a:prstGeom prst="roundRect">
            <a:avLst>
              <a:gd name="adj" fmla="val 47368"/>
            </a:avLst>
          </a:prstGeom>
          <a:solidFill>
            <a:schemeClr val="bg1"/>
          </a:solidFill>
          <a:ln w="9525">
            <a:solidFill>
              <a:srgbClr val="5E6E7E"/>
            </a:solidFill>
          </a:ln>
        </p:spPr>
        <p:txBody>
          <a:bodyPr wrap="square" lIns="0" tIns="0" rIns="0" bIns="0" rtlCol="0" anchor="ctr"/>
          <a:lstStyle/>
          <a:p>
            <a:pPr marL="0" indent="0" algn="ctr">
              <a:buNone/>
            </a:pPr>
            <a:r>
              <a:rPr lang="en-US" sz="1100" dirty="0">
                <a:solidFill>
                  <a:schemeClr val="tx2"/>
                </a:solidFill>
              </a:rPr>
              <a:t>MoFPI &amp; NCCD (cold chain)</a:t>
            </a:r>
            <a:endParaRPr lang="en-US" sz="1100" dirty="0"/>
          </a:p>
        </p:txBody>
      </p:sp>
      <p:sp>
        <p:nvSpPr>
          <p:cNvPr id="37" name="Influencer Permits, roads &amp;amp; checkpoints"/>
          <p:cNvSpPr txBox="1"/>
          <p:nvPr/>
        </p:nvSpPr>
        <p:spPr>
          <a:xfrm>
            <a:off x="9473184" y="5504688"/>
            <a:ext cx="2011680" cy="347472"/>
          </a:xfrm>
          <a:prstGeom prst="roundRect">
            <a:avLst>
              <a:gd name="adj" fmla="val 47368"/>
            </a:avLst>
          </a:prstGeom>
          <a:solidFill>
            <a:schemeClr val="bg1"/>
          </a:solidFill>
          <a:ln w="9525">
            <a:solidFill>
              <a:srgbClr val="5E6E7E"/>
            </a:solidFill>
          </a:ln>
        </p:spPr>
        <p:txBody>
          <a:bodyPr wrap="square" lIns="0" tIns="0" rIns="0" bIns="0" rtlCol="0" anchor="ctr"/>
          <a:lstStyle/>
          <a:p>
            <a:pPr marL="0" indent="0" algn="ctr">
              <a:buNone/>
            </a:pPr>
            <a:r>
              <a:rPr lang="en-US" sz="1100" dirty="0">
                <a:solidFill>
                  <a:schemeClr val="tx2"/>
                </a:solidFill>
              </a:rPr>
              <a:t>Permits, roads &amp; checkpoints</a:t>
            </a:r>
            <a:endParaRPr lang="en-US" sz="1100" dirty="0"/>
          </a:p>
        </p:txBody>
      </p:sp>
      <p:sp>
        <p:nvSpPr>
          <p:cNvPr id="38"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Stakeholder difficulties come from published studies; we have not yet run our own interviews. [3] WRI India 2024 (MP tomato chain); [5] RBI WPS 08/2024 (Delhi value chain).</a:t>
            </a:r>
            <a:endParaRPr lang="en-US" sz="950" dirty="0"/>
          </a:p>
        </p:txBody>
      </p:sp>
      <p:sp>
        <p:nvSpPr>
          <p:cNvPr id="39"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05  ·  WHY DOES IT HAPPEN?</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Why it persists: produce moves warm through an unmeasured chain</a:t>
            </a:r>
            <a:endParaRPr lang="en-US" sz="2600" dirty="0"/>
          </a:p>
        </p:txBody>
      </p:sp>
      <p:sp>
        <p:nvSpPr>
          <p:cNvPr id="4" name="Text 2"/>
          <p:cNvSpPr txBox="1"/>
          <p:nvPr/>
        </p:nvSpPr>
        <p:spPr>
          <a:xfrm>
            <a:off x="6867144" y="329184"/>
            <a:ext cx="841248" cy="210312"/>
          </a:xfrm>
          <a:prstGeom prst="rect">
            <a:avLst/>
          </a:prstGeom>
          <a:noFill/>
          <a:ln/>
        </p:spPr>
        <p:txBody>
          <a:bodyPr wrap="square" lIns="0" tIns="0" rIns="0" bIns="0" rtlCol="0" anchor="ctr"/>
          <a:lstStyle/>
          <a:p>
            <a:pPr marL="0" indent="0" algn="r">
              <a:buNone/>
            </a:pPr>
            <a:r>
              <a:rPr lang="en-US" sz="900" dirty="0">
                <a:solidFill>
                  <a:schemeClr val="accent5"/>
                </a:solidFill>
              </a:rPr>
              <a:t>Evidence key</a:t>
            </a:r>
            <a:endParaRPr lang="en-US" sz="900" dirty="0"/>
          </a:p>
        </p:txBody>
      </p:sp>
      <p:sp>
        <p:nvSpPr>
          <p:cNvPr id="5" name="Evidence tag DOCUMENTED"/>
          <p:cNvSpPr txBox="1"/>
          <p:nvPr/>
        </p:nvSpPr>
        <p:spPr>
          <a:xfrm>
            <a:off x="7781544" y="329184"/>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6" name="Evidence tag INTERPRETATION"/>
          <p:cNvSpPr txBox="1"/>
          <p:nvPr/>
        </p:nvSpPr>
        <p:spPr>
          <a:xfrm>
            <a:off x="8842248" y="329184"/>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marL="0" indent="0" algn="ctr">
              <a:buNone/>
            </a:pPr>
            <a:r>
              <a:rPr lang="en-US" sz="800" b="1" kern="0" spc="100" dirty="0">
                <a:solidFill>
                  <a:schemeClr val="tx2"/>
                </a:solidFill>
              </a:rPr>
              <a:t>INTERPRETATION</a:t>
            </a:r>
            <a:endParaRPr lang="en-US" sz="800" dirty="0"/>
          </a:p>
        </p:txBody>
      </p:sp>
      <p:sp>
        <p:nvSpPr>
          <p:cNvPr id="7" name="Evidence tag HYPOTHESIS · VALIDATE"/>
          <p:cNvSpPr txBox="1"/>
          <p:nvPr/>
        </p:nvSpPr>
        <p:spPr>
          <a:xfrm>
            <a:off x="10104120" y="329184"/>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marL="0" indent="0" algn="ctr">
              <a:buNone/>
            </a:pPr>
            <a:r>
              <a:rPr lang="en-US" sz="800" b="1" kern="0" spc="100" dirty="0">
                <a:solidFill>
                  <a:schemeClr val="tx1"/>
                </a:solidFill>
              </a:rPr>
              <a:t>HYPOTHESIS · VALIDATE</a:t>
            </a:r>
            <a:endParaRPr lang="en-US" sz="800" dirty="0"/>
          </a:p>
        </p:txBody>
      </p:sp>
      <p:sp>
        <p:nvSpPr>
          <p:cNvPr id="8" name="Text 6"/>
          <p:cNvSpPr txBox="1"/>
          <p:nvPr/>
        </p:nvSpPr>
        <p:spPr>
          <a:xfrm>
            <a:off x="548640" y="1572768"/>
            <a:ext cx="3429000" cy="384048"/>
          </a:xfrm>
          <a:prstGeom prst="rect">
            <a:avLst/>
          </a:prstGeom>
          <a:solidFill>
            <a:schemeClr val="tx2"/>
          </a:solidFill>
          <a:ln/>
        </p:spPr>
        <p:txBody>
          <a:bodyPr wrap="square" lIns="0" tIns="0" rIns="0" bIns="0" rtlCol="0" anchor="ctr"/>
          <a:lstStyle/>
          <a:p>
            <a:pPr marL="0" indent="0" algn="ctr">
              <a:buNone/>
            </a:pPr>
            <a:r>
              <a:rPr lang="en-US" sz="1200" b="1" kern="0" spc="200" dirty="0">
                <a:solidFill>
                  <a:schemeClr val="bg1"/>
                </a:solidFill>
              </a:rPr>
              <a:t>UNDERLYING CONDITIONS</a:t>
            </a:r>
            <a:endParaRPr lang="en-US" sz="1200" dirty="0"/>
          </a:p>
        </p:txBody>
      </p:sp>
      <p:sp>
        <p:nvSpPr>
          <p:cNvPr id="9" name="UNDERLYING CONDITIONS 1"/>
          <p:cNvSpPr/>
          <p:nvPr/>
        </p:nvSpPr>
        <p:spPr>
          <a:xfrm>
            <a:off x="548640" y="2057400"/>
            <a:ext cx="3429000" cy="877824"/>
          </a:xfrm>
          <a:prstGeom prst="rect">
            <a:avLst/>
          </a:prstGeom>
          <a:solidFill>
            <a:schemeClr val="bg2"/>
          </a:solidFill>
          <a:ln/>
        </p:spPr>
      </p:sp>
      <p:sp>
        <p:nvSpPr>
          <p:cNvPr id="10" name="Text 8"/>
          <p:cNvSpPr txBox="1"/>
          <p:nvPr/>
        </p:nvSpPr>
        <p:spPr>
          <a:xfrm>
            <a:off x="676656" y="2112264"/>
            <a:ext cx="3172968" cy="566928"/>
          </a:xfrm>
          <a:prstGeom prst="rect">
            <a:avLst/>
          </a:prstGeom>
          <a:noFill/>
          <a:ln/>
        </p:spPr>
        <p:txBody>
          <a:bodyPr wrap="square" lIns="0" tIns="0" rIns="0" bIns="0" rtlCol="0" anchor="t"/>
          <a:lstStyle/>
          <a:p>
            <a:pPr marL="0" indent="0">
              <a:buNone/>
            </a:pPr>
            <a:r>
              <a:rPr lang="en-US" sz="1150" dirty="0">
                <a:solidFill>
                  <a:schemeClr val="tx1"/>
                </a:solidFill>
              </a:rPr>
              <a:t>Cold chain built for storage, not movement: an 85% shortfall in reefer vehicles and 99.6% in pack-houses (2014–15) [4]</a:t>
            </a:r>
            <a:endParaRPr lang="en-US" sz="1150" dirty="0"/>
          </a:p>
        </p:txBody>
      </p:sp>
      <p:sp>
        <p:nvSpPr>
          <p:cNvPr id="11" name="Evidence tag DOCUMENTED"/>
          <p:cNvSpPr txBox="1"/>
          <p:nvPr/>
        </p:nvSpPr>
        <p:spPr>
          <a:xfrm>
            <a:off x="676656" y="2688336"/>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12" name="UNDERLYING CONDITIONS 2"/>
          <p:cNvSpPr/>
          <p:nvPr/>
        </p:nvSpPr>
        <p:spPr>
          <a:xfrm>
            <a:off x="548640" y="3008376"/>
            <a:ext cx="3429000" cy="877824"/>
          </a:xfrm>
          <a:prstGeom prst="rect">
            <a:avLst/>
          </a:prstGeom>
          <a:solidFill>
            <a:schemeClr val="bg2"/>
          </a:solidFill>
          <a:ln/>
        </p:spPr>
      </p:sp>
      <p:sp>
        <p:nvSpPr>
          <p:cNvPr id="13" name="Text 11"/>
          <p:cNvSpPr txBox="1"/>
          <p:nvPr/>
        </p:nvSpPr>
        <p:spPr>
          <a:xfrm>
            <a:off x="676656" y="3063240"/>
            <a:ext cx="3172968" cy="566928"/>
          </a:xfrm>
          <a:prstGeom prst="rect">
            <a:avLst/>
          </a:prstGeom>
          <a:noFill/>
          <a:ln/>
        </p:spPr>
        <p:txBody>
          <a:bodyPr wrap="square" lIns="0" tIns="0" rIns="0" bIns="0" rtlCol="0" anchor="t"/>
          <a:lstStyle/>
          <a:p>
            <a:pPr marL="0" indent="0">
              <a:buNone/>
            </a:pPr>
            <a:r>
              <a:rPr lang="en-US" sz="1150" dirty="0">
                <a:solidFill>
                  <a:schemeClr val="tx1"/>
                </a:solidFill>
              </a:rPr>
              <a:t>A fragmented chain with many intermediaries; decisions are split across actors [5]</a:t>
            </a:r>
            <a:endParaRPr lang="en-US" sz="1150" dirty="0"/>
          </a:p>
        </p:txBody>
      </p:sp>
      <p:sp>
        <p:nvSpPr>
          <p:cNvPr id="14" name="Evidence tag DOCUMENTED"/>
          <p:cNvSpPr txBox="1"/>
          <p:nvPr/>
        </p:nvSpPr>
        <p:spPr>
          <a:xfrm>
            <a:off x="676656" y="3639312"/>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15" name="UNDERLYING CONDITIONS 3"/>
          <p:cNvSpPr/>
          <p:nvPr/>
        </p:nvSpPr>
        <p:spPr>
          <a:xfrm>
            <a:off x="548640" y="3959352"/>
            <a:ext cx="3429000" cy="877824"/>
          </a:xfrm>
          <a:prstGeom prst="rect">
            <a:avLst/>
          </a:prstGeom>
          <a:solidFill>
            <a:schemeClr val="bg2"/>
          </a:solidFill>
          <a:ln/>
        </p:spPr>
      </p:sp>
      <p:sp>
        <p:nvSpPr>
          <p:cNvPr id="16" name="Text 14"/>
          <p:cNvSpPr txBox="1"/>
          <p:nvPr/>
        </p:nvSpPr>
        <p:spPr>
          <a:xfrm>
            <a:off x="676656" y="4014216"/>
            <a:ext cx="3172968" cy="566928"/>
          </a:xfrm>
          <a:prstGeom prst="rect">
            <a:avLst/>
          </a:prstGeom>
          <a:noFill/>
          <a:ln/>
        </p:spPr>
        <p:txBody>
          <a:bodyPr wrap="square" lIns="0" tIns="0" rIns="0" bIns="0" rtlCol="0" anchor="t"/>
          <a:lstStyle/>
          <a:p>
            <a:pPr marL="0" indent="0">
              <a:buNone/>
            </a:pPr>
            <a:r>
              <a:rPr lang="en-US" sz="1150" dirty="0">
                <a:solidFill>
                  <a:schemeClr val="tx1"/>
                </a:solidFill>
              </a:rPr>
              <a:t>Transit conditions and outcomes are not recorded in any public dataset (slide 9)</a:t>
            </a:r>
            <a:endParaRPr lang="en-US" sz="1150" dirty="0"/>
          </a:p>
        </p:txBody>
      </p:sp>
      <p:sp>
        <p:nvSpPr>
          <p:cNvPr id="17" name="Evidence tag DOCUMENTED"/>
          <p:cNvSpPr txBox="1"/>
          <p:nvPr/>
        </p:nvSpPr>
        <p:spPr>
          <a:xfrm>
            <a:off x="676656" y="4590288"/>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18" name="UNDERLYING CONDITIONS 4"/>
          <p:cNvSpPr/>
          <p:nvPr/>
        </p:nvSpPr>
        <p:spPr>
          <a:xfrm>
            <a:off x="548640" y="4910328"/>
            <a:ext cx="3429000" cy="877824"/>
          </a:xfrm>
          <a:prstGeom prst="rect">
            <a:avLst/>
          </a:prstGeom>
          <a:solidFill>
            <a:srgbClr val="FBF3DF"/>
          </a:solidFill>
          <a:ln w="15875">
            <a:solidFill>
              <a:srgbClr val="D9A21B"/>
            </a:solidFill>
            <a:prstDash val="dash"/>
          </a:ln>
        </p:spPr>
      </p:sp>
      <p:sp>
        <p:nvSpPr>
          <p:cNvPr id="19" name="Text 17"/>
          <p:cNvSpPr txBox="1"/>
          <p:nvPr/>
        </p:nvSpPr>
        <p:spPr>
          <a:xfrm>
            <a:off x="676656" y="4965192"/>
            <a:ext cx="3172968" cy="566928"/>
          </a:xfrm>
          <a:prstGeom prst="rect">
            <a:avLst/>
          </a:prstGeom>
          <a:noFill/>
          <a:ln/>
        </p:spPr>
        <p:txBody>
          <a:bodyPr wrap="square" lIns="0" tIns="0" rIns="0" bIns="0" rtlCol="0" anchor="t"/>
          <a:lstStyle/>
          <a:p>
            <a:pPr marL="0" indent="0">
              <a:buNone/>
            </a:pPr>
            <a:r>
              <a:rPr lang="en-US" sz="1150" dirty="0">
                <a:solidFill>
                  <a:schemeClr val="tx1"/>
                </a:solidFill>
              </a:rPr>
              <a:t>Dispatchers lack a timely view of conditions at destination and on the way</a:t>
            </a:r>
            <a:endParaRPr lang="en-US" sz="1150" dirty="0"/>
          </a:p>
        </p:txBody>
      </p:sp>
      <p:sp>
        <p:nvSpPr>
          <p:cNvPr id="20" name="Evidence tag HYPOTHESIS · VALIDATE"/>
          <p:cNvSpPr txBox="1"/>
          <p:nvPr/>
        </p:nvSpPr>
        <p:spPr>
          <a:xfrm>
            <a:off x="676656" y="5541264"/>
            <a:ext cx="1536192" cy="210312"/>
          </a:xfrm>
          <a:prstGeom prst="roundRect">
            <a:avLst>
              <a:gd name="adj" fmla="val 52174"/>
            </a:avLst>
          </a:prstGeom>
          <a:solidFill>
            <a:schemeClr val="accent3"/>
          </a:solidFill>
          <a:ln w="9525">
            <a:solidFill>
              <a:schemeClr val="accent3"/>
            </a:solidFill>
          </a:ln>
        </p:spPr>
        <p:txBody>
          <a:bodyPr wrap="square" lIns="0" tIns="0" rIns="0" bIns="0" rtlCol="0" anchor="ctr"/>
          <a:lstStyle/>
          <a:p>
            <a:pPr marL="0" indent="0" algn="ctr">
              <a:buNone/>
            </a:pPr>
            <a:r>
              <a:rPr lang="en-US" sz="800" b="1" kern="0" spc="100" dirty="0">
                <a:solidFill>
                  <a:schemeClr val="tx1"/>
                </a:solidFill>
              </a:rPr>
              <a:t>HYPOTHESIS · VALIDATE</a:t>
            </a:r>
            <a:endParaRPr lang="en-US" sz="800" dirty="0"/>
          </a:p>
        </p:txBody>
      </p:sp>
      <p:sp>
        <p:nvSpPr>
          <p:cNvPr id="21" name="Cause arrow 0"/>
          <p:cNvSpPr/>
          <p:nvPr/>
        </p:nvSpPr>
        <p:spPr>
          <a:xfrm>
            <a:off x="4050792" y="3520440"/>
            <a:ext cx="256032" cy="457200"/>
          </a:xfrm>
          <a:prstGeom prst="rightArrow">
            <a:avLst/>
          </a:prstGeom>
          <a:solidFill>
            <a:schemeClr val="accent5"/>
          </a:solidFill>
          <a:ln/>
        </p:spPr>
      </p:sp>
      <p:sp>
        <p:nvSpPr>
          <p:cNvPr id="22" name="Text 20"/>
          <p:cNvSpPr txBox="1"/>
          <p:nvPr/>
        </p:nvSpPr>
        <p:spPr>
          <a:xfrm>
            <a:off x="4379976" y="1572768"/>
            <a:ext cx="3429000" cy="384048"/>
          </a:xfrm>
          <a:prstGeom prst="rect">
            <a:avLst/>
          </a:prstGeom>
          <a:solidFill>
            <a:schemeClr val="accent1"/>
          </a:solidFill>
          <a:ln/>
        </p:spPr>
        <p:txBody>
          <a:bodyPr wrap="square" lIns="0" tIns="0" rIns="0" bIns="0" rtlCol="0" anchor="ctr"/>
          <a:lstStyle/>
          <a:p>
            <a:pPr marL="0" indent="0" algn="ctr">
              <a:buNone/>
            </a:pPr>
            <a:r>
              <a:rPr lang="en-US" sz="1200" b="1" kern="0" spc="200" dirty="0">
                <a:solidFill>
                  <a:schemeClr val="bg1"/>
                </a:solidFill>
              </a:rPr>
              <a:t>PROXIMATE CAUSES</a:t>
            </a:r>
            <a:endParaRPr lang="en-US" sz="1200" dirty="0"/>
          </a:p>
        </p:txBody>
      </p:sp>
      <p:sp>
        <p:nvSpPr>
          <p:cNvPr id="23" name="PROXIMATE CAUSES 1"/>
          <p:cNvSpPr/>
          <p:nvPr/>
        </p:nvSpPr>
        <p:spPr>
          <a:xfrm>
            <a:off x="4379976" y="2057400"/>
            <a:ext cx="3429000" cy="877824"/>
          </a:xfrm>
          <a:prstGeom prst="rect">
            <a:avLst/>
          </a:prstGeom>
          <a:solidFill>
            <a:schemeClr val="bg2"/>
          </a:solidFill>
          <a:ln/>
        </p:spPr>
      </p:sp>
      <p:sp>
        <p:nvSpPr>
          <p:cNvPr id="24" name="Text 22"/>
          <p:cNvSpPr txBox="1"/>
          <p:nvPr/>
        </p:nvSpPr>
        <p:spPr>
          <a:xfrm>
            <a:off x="4507992" y="2112264"/>
            <a:ext cx="3172968" cy="566928"/>
          </a:xfrm>
          <a:prstGeom prst="rect">
            <a:avLst/>
          </a:prstGeom>
          <a:noFill/>
          <a:ln/>
        </p:spPr>
        <p:txBody>
          <a:bodyPr wrap="square" lIns="0" tIns="0" rIns="0" bIns="0" rtlCol="0" anchor="t"/>
          <a:lstStyle/>
          <a:p>
            <a:pPr marL="0" indent="0">
              <a:buNone/>
            </a:pPr>
            <a:r>
              <a:rPr lang="en-US" sz="1150" dirty="0">
                <a:solidFill>
                  <a:schemeClr val="tx1"/>
                </a:solidFill>
              </a:rPr>
              <a:t>Heat exposure: perishables deteriorate 2–3× faster for every 10°C rise [6]</a:t>
            </a:r>
            <a:endParaRPr lang="en-US" sz="1150" dirty="0"/>
          </a:p>
        </p:txBody>
      </p:sp>
      <p:sp>
        <p:nvSpPr>
          <p:cNvPr id="25" name="Evidence tag DOCUMENTED"/>
          <p:cNvSpPr txBox="1"/>
          <p:nvPr/>
        </p:nvSpPr>
        <p:spPr>
          <a:xfrm>
            <a:off x="4507992" y="2688336"/>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26" name="PROXIMATE CAUSES 2"/>
          <p:cNvSpPr/>
          <p:nvPr/>
        </p:nvSpPr>
        <p:spPr>
          <a:xfrm>
            <a:off x="4379976" y="3008376"/>
            <a:ext cx="3429000" cy="877824"/>
          </a:xfrm>
          <a:prstGeom prst="rect">
            <a:avLst/>
          </a:prstGeom>
          <a:solidFill>
            <a:schemeClr val="bg2"/>
          </a:solidFill>
          <a:ln/>
        </p:spPr>
      </p:sp>
      <p:sp>
        <p:nvSpPr>
          <p:cNvPr id="27" name="Text 25"/>
          <p:cNvSpPr txBox="1"/>
          <p:nvPr/>
        </p:nvSpPr>
        <p:spPr>
          <a:xfrm>
            <a:off x="4507992" y="3063240"/>
            <a:ext cx="3172968" cy="566928"/>
          </a:xfrm>
          <a:prstGeom prst="rect">
            <a:avLst/>
          </a:prstGeom>
          <a:noFill/>
          <a:ln/>
        </p:spPr>
        <p:txBody>
          <a:bodyPr wrap="square" lIns="0" tIns="0" rIns="0" bIns="0" rtlCol="0" anchor="t"/>
          <a:lstStyle/>
          <a:p>
            <a:pPr marL="0" indent="0">
              <a:buNone/>
            </a:pPr>
            <a:r>
              <a:rPr lang="en-US" sz="1150" dirty="0">
                <a:solidFill>
                  <a:schemeClr val="tx1"/>
                </a:solidFill>
              </a:rPr>
              <a:t>Delay: inter-state permits, waiting outside markets, traffic, breakdowns [3]</a:t>
            </a:r>
            <a:endParaRPr lang="en-US" sz="1150" dirty="0"/>
          </a:p>
        </p:txBody>
      </p:sp>
      <p:sp>
        <p:nvSpPr>
          <p:cNvPr id="28" name="Evidence tag DOCUMENTED"/>
          <p:cNvSpPr txBox="1"/>
          <p:nvPr/>
        </p:nvSpPr>
        <p:spPr>
          <a:xfrm>
            <a:off x="4507992" y="3639312"/>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29" name="PROXIMATE CAUSES 3"/>
          <p:cNvSpPr/>
          <p:nvPr/>
        </p:nvSpPr>
        <p:spPr>
          <a:xfrm>
            <a:off x="4379976" y="3959352"/>
            <a:ext cx="3429000" cy="877824"/>
          </a:xfrm>
          <a:prstGeom prst="rect">
            <a:avLst/>
          </a:prstGeom>
          <a:solidFill>
            <a:schemeClr val="bg2"/>
          </a:solidFill>
          <a:ln/>
        </p:spPr>
      </p:sp>
      <p:sp>
        <p:nvSpPr>
          <p:cNvPr id="30" name="Text 28"/>
          <p:cNvSpPr txBox="1"/>
          <p:nvPr/>
        </p:nvSpPr>
        <p:spPr>
          <a:xfrm>
            <a:off x="4507992" y="4014216"/>
            <a:ext cx="3172968" cy="566928"/>
          </a:xfrm>
          <a:prstGeom prst="rect">
            <a:avLst/>
          </a:prstGeom>
          <a:noFill/>
          <a:ln/>
        </p:spPr>
        <p:txBody>
          <a:bodyPr wrap="square" lIns="0" tIns="0" rIns="0" bIns="0" rtlCol="0" anchor="t"/>
          <a:lstStyle/>
          <a:p>
            <a:pPr marL="0" indent="0">
              <a:buNone/>
            </a:pPr>
            <a:r>
              <a:rPr lang="en-US" sz="1150" dirty="0">
                <a:solidFill>
                  <a:schemeClr val="tx1"/>
                </a:solidFill>
              </a:rPr>
              <a:t>Mechanical damage: vibration, poor roads, polythene bags, overfilled crates [3]</a:t>
            </a:r>
            <a:endParaRPr lang="en-US" sz="1150" dirty="0"/>
          </a:p>
        </p:txBody>
      </p:sp>
      <p:sp>
        <p:nvSpPr>
          <p:cNvPr id="31" name="Evidence tag DOCUMENTED"/>
          <p:cNvSpPr txBox="1"/>
          <p:nvPr/>
        </p:nvSpPr>
        <p:spPr>
          <a:xfrm>
            <a:off x="4507992" y="4590288"/>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32" name="PROXIMATE CAUSES 4"/>
          <p:cNvSpPr/>
          <p:nvPr/>
        </p:nvSpPr>
        <p:spPr>
          <a:xfrm>
            <a:off x="4379976" y="4910328"/>
            <a:ext cx="3429000" cy="877824"/>
          </a:xfrm>
          <a:prstGeom prst="rect">
            <a:avLst/>
          </a:prstGeom>
          <a:solidFill>
            <a:schemeClr val="bg2"/>
          </a:solidFill>
          <a:ln/>
        </p:spPr>
      </p:sp>
      <p:sp>
        <p:nvSpPr>
          <p:cNvPr id="33" name="Text 31"/>
          <p:cNvSpPr txBox="1"/>
          <p:nvPr/>
        </p:nvSpPr>
        <p:spPr>
          <a:xfrm>
            <a:off x="4507992" y="4965192"/>
            <a:ext cx="3172968" cy="566928"/>
          </a:xfrm>
          <a:prstGeom prst="rect">
            <a:avLst/>
          </a:prstGeom>
          <a:noFill/>
          <a:ln/>
        </p:spPr>
        <p:txBody>
          <a:bodyPr wrap="square" lIns="0" tIns="0" rIns="0" bIns="0" rtlCol="0" anchor="t"/>
          <a:lstStyle/>
          <a:p>
            <a:pPr marL="0" indent="0">
              <a:buNone/>
            </a:pPr>
            <a:r>
              <a:rPr lang="en-US" sz="1150" dirty="0">
                <a:solidFill>
                  <a:schemeClr val="tx1"/>
                </a:solidFill>
              </a:rPr>
              <a:t>Arrival mismatch: produce reaches a glutted market with no storage to wait in [3][5]</a:t>
            </a:r>
            <a:endParaRPr lang="en-US" sz="1150" dirty="0"/>
          </a:p>
        </p:txBody>
      </p:sp>
      <p:sp>
        <p:nvSpPr>
          <p:cNvPr id="34" name="Evidence tag DOCUMENTED"/>
          <p:cNvSpPr txBox="1"/>
          <p:nvPr/>
        </p:nvSpPr>
        <p:spPr>
          <a:xfrm>
            <a:off x="4507992" y="5541264"/>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35" name="Cause arrow 1"/>
          <p:cNvSpPr/>
          <p:nvPr/>
        </p:nvSpPr>
        <p:spPr>
          <a:xfrm>
            <a:off x="7882128" y="3520440"/>
            <a:ext cx="256032" cy="457200"/>
          </a:xfrm>
          <a:prstGeom prst="rightArrow">
            <a:avLst/>
          </a:prstGeom>
          <a:solidFill>
            <a:schemeClr val="accent5"/>
          </a:solidFill>
          <a:ln/>
        </p:spPr>
      </p:sp>
      <p:sp>
        <p:nvSpPr>
          <p:cNvPr id="36" name="Text 34"/>
          <p:cNvSpPr txBox="1"/>
          <p:nvPr/>
        </p:nvSpPr>
        <p:spPr>
          <a:xfrm>
            <a:off x="8211312" y="1572768"/>
            <a:ext cx="3429000" cy="384048"/>
          </a:xfrm>
          <a:prstGeom prst="rect">
            <a:avLst/>
          </a:prstGeom>
          <a:solidFill>
            <a:schemeClr val="accent4"/>
          </a:solidFill>
          <a:ln/>
        </p:spPr>
        <p:txBody>
          <a:bodyPr wrap="square" lIns="0" tIns="0" rIns="0" bIns="0" rtlCol="0" anchor="ctr"/>
          <a:lstStyle/>
          <a:p>
            <a:pPr marL="0" indent="0" algn="ctr">
              <a:buNone/>
            </a:pPr>
            <a:r>
              <a:rPr lang="en-US" sz="1200" b="1" kern="0" spc="200" dirty="0">
                <a:solidFill>
                  <a:schemeClr val="bg1"/>
                </a:solidFill>
              </a:rPr>
              <a:t>OBSERVABLE SYMPTOMS</a:t>
            </a:r>
            <a:endParaRPr lang="en-US" sz="1200" dirty="0"/>
          </a:p>
        </p:txBody>
      </p:sp>
      <p:sp>
        <p:nvSpPr>
          <p:cNvPr id="37" name="OBSERVABLE SYMPTOMS 1"/>
          <p:cNvSpPr/>
          <p:nvPr/>
        </p:nvSpPr>
        <p:spPr>
          <a:xfrm>
            <a:off x="8211312" y="2057400"/>
            <a:ext cx="3429000" cy="877824"/>
          </a:xfrm>
          <a:prstGeom prst="rect">
            <a:avLst/>
          </a:prstGeom>
          <a:solidFill>
            <a:schemeClr val="bg2"/>
          </a:solidFill>
          <a:ln/>
        </p:spPr>
      </p:sp>
      <p:sp>
        <p:nvSpPr>
          <p:cNvPr id="38" name="Text 36"/>
          <p:cNvSpPr txBox="1"/>
          <p:nvPr/>
        </p:nvSpPr>
        <p:spPr>
          <a:xfrm>
            <a:off x="8339328" y="2112264"/>
            <a:ext cx="3172968" cy="566928"/>
          </a:xfrm>
          <a:prstGeom prst="rect">
            <a:avLst/>
          </a:prstGeom>
          <a:noFill/>
          <a:ln/>
        </p:spPr>
        <p:txBody>
          <a:bodyPr wrap="square" lIns="0" tIns="0" rIns="0" bIns="0" rtlCol="0" anchor="t"/>
          <a:lstStyle/>
          <a:p>
            <a:pPr marL="0" indent="0">
              <a:buNone/>
            </a:pPr>
            <a:r>
              <a:rPr lang="en-US" sz="1150" dirty="0">
                <a:solidFill>
                  <a:schemeClr val="tx1"/>
                </a:solidFill>
              </a:rPr>
              <a:t>Produce downgraded on arrival (Grade II sold at about half price) [3]</a:t>
            </a:r>
            <a:endParaRPr lang="en-US" sz="1150" dirty="0"/>
          </a:p>
        </p:txBody>
      </p:sp>
      <p:sp>
        <p:nvSpPr>
          <p:cNvPr id="39" name="Evidence tag DOCUMENTED"/>
          <p:cNvSpPr txBox="1"/>
          <p:nvPr/>
        </p:nvSpPr>
        <p:spPr>
          <a:xfrm>
            <a:off x="8339328" y="2688336"/>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40" name="OBSERVABLE SYMPTOMS 2"/>
          <p:cNvSpPr/>
          <p:nvPr/>
        </p:nvSpPr>
        <p:spPr>
          <a:xfrm>
            <a:off x="8211312" y="3008376"/>
            <a:ext cx="3429000" cy="877824"/>
          </a:xfrm>
          <a:prstGeom prst="rect">
            <a:avLst/>
          </a:prstGeom>
          <a:solidFill>
            <a:schemeClr val="bg2"/>
          </a:solidFill>
          <a:ln/>
        </p:spPr>
      </p:sp>
      <p:sp>
        <p:nvSpPr>
          <p:cNvPr id="41" name="Text 39"/>
          <p:cNvSpPr txBox="1"/>
          <p:nvPr/>
        </p:nvSpPr>
        <p:spPr>
          <a:xfrm>
            <a:off x="8339328" y="3063240"/>
            <a:ext cx="3172968" cy="566928"/>
          </a:xfrm>
          <a:prstGeom prst="rect">
            <a:avLst/>
          </a:prstGeom>
          <a:noFill/>
          <a:ln/>
        </p:spPr>
        <p:txBody>
          <a:bodyPr wrap="square" lIns="0" tIns="0" rIns="0" bIns="0" rtlCol="0" anchor="t"/>
          <a:lstStyle/>
          <a:p>
            <a:pPr marL="0" indent="0">
              <a:buNone/>
            </a:pPr>
            <a:r>
              <a:rPr lang="en-US" sz="1150" dirty="0">
                <a:solidFill>
                  <a:schemeClr val="tx1"/>
                </a:solidFill>
              </a:rPr>
              <a:t>Distress and same-day selling at markets and retail [3]</a:t>
            </a:r>
            <a:endParaRPr lang="en-US" sz="1150" dirty="0"/>
          </a:p>
        </p:txBody>
      </p:sp>
      <p:sp>
        <p:nvSpPr>
          <p:cNvPr id="42" name="Evidence tag DOCUMENTED"/>
          <p:cNvSpPr txBox="1"/>
          <p:nvPr/>
        </p:nvSpPr>
        <p:spPr>
          <a:xfrm>
            <a:off x="8339328" y="3639312"/>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43" name="OBSERVABLE SYMPTOMS 3"/>
          <p:cNvSpPr/>
          <p:nvPr/>
        </p:nvSpPr>
        <p:spPr>
          <a:xfrm>
            <a:off x="8211312" y="3959352"/>
            <a:ext cx="3429000" cy="877824"/>
          </a:xfrm>
          <a:prstGeom prst="rect">
            <a:avLst/>
          </a:prstGeom>
          <a:solidFill>
            <a:schemeClr val="bg2"/>
          </a:solidFill>
          <a:ln/>
        </p:spPr>
      </p:sp>
      <p:sp>
        <p:nvSpPr>
          <p:cNvPr id="44" name="Text 42"/>
          <p:cNvSpPr txBox="1"/>
          <p:nvPr/>
        </p:nvSpPr>
        <p:spPr>
          <a:xfrm>
            <a:off x="8339328" y="4014216"/>
            <a:ext cx="3172968" cy="566928"/>
          </a:xfrm>
          <a:prstGeom prst="rect">
            <a:avLst/>
          </a:prstGeom>
          <a:noFill/>
          <a:ln/>
        </p:spPr>
        <p:txBody>
          <a:bodyPr wrap="square" lIns="0" tIns="0" rIns="0" bIns="0" rtlCol="0" anchor="t"/>
          <a:lstStyle/>
          <a:p>
            <a:pPr marL="0" indent="0">
              <a:buNone/>
            </a:pPr>
            <a:r>
              <a:rPr lang="en-US" sz="1150" dirty="0">
                <a:solidFill>
                  <a:schemeClr val="tx1"/>
                </a:solidFill>
              </a:rPr>
              <a:t>Physical wastage at the market stage: 2–3.5% for most F&amp;V [1]</a:t>
            </a:r>
            <a:endParaRPr lang="en-US" sz="1150" dirty="0"/>
          </a:p>
        </p:txBody>
      </p:sp>
      <p:sp>
        <p:nvSpPr>
          <p:cNvPr id="45" name="Evidence tag DOCUMENTED"/>
          <p:cNvSpPr txBox="1"/>
          <p:nvPr/>
        </p:nvSpPr>
        <p:spPr>
          <a:xfrm>
            <a:off x="8339328" y="4590288"/>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46" name="OBSERVABLE SYMPTOMS 4"/>
          <p:cNvSpPr/>
          <p:nvPr/>
        </p:nvSpPr>
        <p:spPr>
          <a:xfrm>
            <a:off x="8211312" y="4910328"/>
            <a:ext cx="3429000" cy="877824"/>
          </a:xfrm>
          <a:prstGeom prst="rect">
            <a:avLst/>
          </a:prstGeom>
          <a:solidFill>
            <a:schemeClr val="bg2"/>
          </a:solidFill>
          <a:ln/>
        </p:spPr>
      </p:sp>
      <p:sp>
        <p:nvSpPr>
          <p:cNvPr id="47" name="Text 45"/>
          <p:cNvSpPr txBox="1"/>
          <p:nvPr/>
        </p:nvSpPr>
        <p:spPr>
          <a:xfrm>
            <a:off x="8339328" y="4965192"/>
            <a:ext cx="3172968" cy="566928"/>
          </a:xfrm>
          <a:prstGeom prst="rect">
            <a:avLst/>
          </a:prstGeom>
          <a:noFill/>
          <a:ln/>
        </p:spPr>
        <p:txBody>
          <a:bodyPr wrap="square" lIns="0" tIns="0" rIns="0" bIns="0" rtlCol="0" anchor="t"/>
          <a:lstStyle/>
          <a:p>
            <a:pPr marL="0" indent="0">
              <a:buNone/>
            </a:pPr>
            <a:r>
              <a:rPr lang="en-US" sz="1150" dirty="0">
                <a:solidFill>
                  <a:schemeClr val="tx1"/>
                </a:solidFill>
              </a:rPr>
              <a:t>Sharp price swings across seasons and markets [5]</a:t>
            </a:r>
            <a:endParaRPr lang="en-US" sz="1150" dirty="0"/>
          </a:p>
        </p:txBody>
      </p:sp>
      <p:sp>
        <p:nvSpPr>
          <p:cNvPr id="48" name="Evidence tag DOCUMENTED"/>
          <p:cNvSpPr txBox="1"/>
          <p:nvPr/>
        </p:nvSpPr>
        <p:spPr>
          <a:xfrm>
            <a:off x="8339328" y="5541264"/>
            <a:ext cx="987552" cy="210312"/>
          </a:xfrm>
          <a:prstGeom prst="roundRect">
            <a:avLst>
              <a:gd name="adj" fmla="val 52174"/>
            </a:avLst>
          </a:prstGeom>
          <a:solidFill>
            <a:schemeClr val="accent1"/>
          </a:solidFill>
          <a:ln w="9525">
            <a:solidFill>
              <a:schemeClr val="accent1"/>
            </a:solidFill>
          </a:ln>
        </p:spPr>
        <p:txBody>
          <a:bodyPr wrap="square" lIns="0" tIns="0" rIns="0" bIns="0" rtlCol="0" anchor="ctr"/>
          <a:lstStyle/>
          <a:p>
            <a:pPr marL="0" indent="0" algn="ctr">
              <a:buNone/>
            </a:pPr>
            <a:r>
              <a:rPr lang="en-US" sz="800" b="1" kern="0" spc="100" dirty="0">
                <a:solidFill>
                  <a:schemeClr val="bg1"/>
                </a:solidFill>
              </a:rPr>
              <a:t>DOCUMENTED</a:t>
            </a:r>
            <a:endParaRPr lang="en-US" sz="800" dirty="0"/>
          </a:p>
        </p:txBody>
      </p:sp>
      <p:sp>
        <p:nvSpPr>
          <p:cNvPr id="49"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How much each cause contributes in transit has not been quantified in published Indian data. Consequences are on slide 8. Sources: [1] NABCONS 2022; [3] WRI India 2024; [4] NCCD 2015; [5] RBI 2024; [6] Kader &amp; Rolle, FAO AGS Bulletin 152 (2004).</a:t>
            </a:r>
            <a:endParaRPr lang="en-US" sz="950" dirty="0"/>
          </a:p>
        </p:txBody>
      </p:sp>
      <p:sp>
        <p:nvSpPr>
          <p:cNvPr id="50"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06  ·  WHAT IS BEING DONE TODAY?</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Today's efforts address storage, prices and trucks more than the trip</a:t>
            </a:r>
            <a:endParaRPr lang="en-US" sz="2600" dirty="0"/>
          </a:p>
        </p:txBody>
      </p:sp>
      <p:graphicFrame>
        <p:nvGraphicFramePr>
          <p:cNvPr id="8" name="Existing approaches matrix"/>
          <p:cNvGraphicFramePr>
            <a:graphicFrameLocks noGrp="1"/>
          </p:cNvGraphicFramePr>
          <p:nvPr>
            <p:extLst>
              <p:ext uri="{D42A27DB-BD31-4B8C-83A1-F6EECF244321}">
                <p14:modId xmlns:p14="http://schemas.microsoft.com/office/powerpoint/2010/main" val="1579011935"/>
              </p:ext>
            </p:extLst>
          </p:nvPr>
        </p:nvGraphicFramePr>
        <p:xfrm>
          <a:off x="548640" y="1536192"/>
          <a:ext cx="11091672" cy="914400"/>
        </p:xfrm>
        <a:graphic>
          <a:graphicData uri="http://schemas.openxmlformats.org/drawingml/2006/table">
            <a:tbl>
              <a:tblPr/>
              <a:tblGrid>
                <a:gridCol w="23317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3730752">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29184">
                <a:tc>
                  <a:txBody>
                    <a:bodyPr/>
                    <a:lstStyle/>
                    <a:p>
                      <a:pPr marL="0" indent="0">
                        <a:buNone/>
                      </a:pPr>
                      <a:r>
                        <a:rPr lang="en-US" sz="1200" b="1" dirty="0">
                          <a:solidFill>
                            <a:schemeClr val="bg1"/>
                          </a:solidFill>
                        </a:rPr>
                        <a:t>Approach</a:t>
                      </a:r>
                      <a:endParaRPr lang="en-US" sz="12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What it does</a:t>
                      </a:r>
                      <a:endParaRPr lang="en-US" sz="12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Addresses</a:t>
                      </a:r>
                      <a:endParaRPr lang="en-US" sz="12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Gap that remains within our scope</a:t>
                      </a:r>
                      <a:endParaRPr lang="en-US" sz="12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Evidence</a:t>
                      </a:r>
                      <a:endParaRPr lang="en-US" sz="12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94944">
                <a:tc>
                  <a:txBody>
                    <a:bodyPr/>
                    <a:lstStyle/>
                    <a:p>
                      <a:pPr marL="0" indent="0">
                        <a:buNone/>
                      </a:pPr>
                      <a:r>
                        <a:rPr lang="en-US" sz="1100" b="1" dirty="0">
                          <a:solidFill>
                            <a:schemeClr val="tx2"/>
                          </a:solidFill>
                        </a:rPr>
                        <a:t>Cold-chain infrastructure (PMKSY Cold Chain scheme; NCCD planning)</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Funds cold stores, pack-houses, reefer transport</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Heat exposure, holding</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Shortfall concentrated in movement: reefers 85%, pack-houses 99.6% (2014–15); storage skewed to bulk, single-commodity stores such as potato</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b="1" dirty="0">
                          <a:solidFill>
                            <a:schemeClr val="accent1"/>
                          </a:solidFill>
                        </a:rPr>
                        <a:t>Documented [4]</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4944">
                <a:tc>
                  <a:txBody>
                    <a:bodyPr/>
                    <a:lstStyle/>
                    <a:p>
                      <a:pPr marL="0" indent="0">
                        <a:buNone/>
                      </a:pPr>
                      <a:r>
                        <a:rPr lang="en-US" sz="1100" b="1" dirty="0">
                          <a:solidFill>
                            <a:schemeClr val="tx2"/>
                          </a:solidFill>
                        </a:rPr>
                        <a:t>Digital market information &amp; trading (Agmarknet; e-NAM, 1,656 mandis by Mar 2026)</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Daily arrivals and prices; online bidding across mandis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Price discovery, buyer reach</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Records what arrived and at what price, not trip time or arrival condition. Government calls logistics “a major hurdle” for inter-mandi trade</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b="1" dirty="0">
                          <a:solidFill>
                            <a:schemeClr val="accent1"/>
                          </a:solidFill>
                        </a:rPr>
                        <a:t>Documented [7][8]; dataset scope: interpretation [9]</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03504">
                <a:tc>
                  <a:txBody>
                    <a:bodyPr/>
                    <a:lstStyle/>
                    <a:p>
                      <a:pPr marL="0" indent="0">
                        <a:buNone/>
                      </a:pPr>
                      <a:r>
                        <a:rPr lang="en-US" sz="1100" b="1" dirty="0">
                          <a:solidFill>
                            <a:schemeClr val="tx2"/>
                          </a:solidFill>
                        </a:rPr>
                        <a:t>Kisan Rath app (MoA&amp;FW, 2020)</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Matches consignors with trucks and aggregators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Truck availability</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Downloads fell over time; over half of users rely on local transport outside the app</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b="1" dirty="0">
                          <a:solidFill>
                            <a:schemeClr val="accent1"/>
                          </a:solidFill>
                        </a:rPr>
                        <a:t>Documented [10]</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40080">
                <a:tc>
                  <a:txBody>
                    <a:bodyPr/>
                    <a:lstStyle/>
                    <a:p>
                      <a:pPr marL="0" indent="0">
                        <a:buNone/>
                      </a:pPr>
                      <a:r>
                        <a:rPr lang="en-US" sz="1100" b="1" dirty="0">
                          <a:solidFill>
                            <a:schemeClr val="tx2"/>
                          </a:solidFill>
                        </a:rPr>
                        <a:t>Operation Greens “TOP to TOTAL”: 50% freight subsidy on Kisan Rail</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Subsidised moving notified F&amp;V from surplus to consumption areas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Cost of long hauls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Time-bound pilot (Oct 2020–Mar 2021), rail-only; current status not verified</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b="1" dirty="0">
                          <a:solidFill>
                            <a:schemeClr val="accent1"/>
                          </a:solidFill>
                        </a:rPr>
                        <a:t>Documented [11]</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94944">
                <a:tc>
                  <a:txBody>
                    <a:bodyPr/>
                    <a:lstStyle/>
                    <a:p>
                      <a:pPr marL="0" indent="0">
                        <a:buNone/>
                      </a:pPr>
                      <a:r>
                        <a:rPr lang="en-US" sz="1100" b="1" dirty="0">
                          <a:solidFill>
                            <a:schemeClr val="tx2"/>
                          </a:solidFill>
                        </a:rPr>
                        <a:t>Navigation &amp; route-optimisation tools (e.g. Google Maps, Route Optimization API)</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Traffic-aware ETAs; time windows, vehicle capacity, cost per km/hour</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Travel time, fleet planning</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No built-in model of produce quality decay in public documentation; shelf life can only be approximated as a time window</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tc>
                  <a:txBody>
                    <a:bodyPr/>
                    <a:lstStyle/>
                    <a:p>
                      <a:pPr marL="0" indent="0">
                        <a:buNone/>
                      </a:pPr>
                      <a:r>
                        <a:rPr lang="en-US" sz="1100" b="1" dirty="0">
                          <a:solidFill>
                            <a:schemeClr val="tx2"/>
                          </a:solidFill>
                        </a:rPr>
                        <a:t>Interpretation of public docs [12]; validate</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94944">
                <a:tc>
                  <a:txBody>
                    <a:bodyPr/>
                    <a:lstStyle/>
                    <a:p>
                      <a:pPr marL="0" indent="0">
                        <a:buNone/>
                      </a:pPr>
                      <a:r>
                        <a:rPr lang="en-US" sz="1100" b="1" dirty="0">
                          <a:solidFill>
                            <a:schemeClr val="tx2"/>
                          </a:solidFill>
                        </a:rPr>
                        <a:t>Research on perishable-goods routing</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Models quality decay inside vehicle-routing problems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Planning under perishability</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Review of 65 papers: dynamic, quality-aware routing still open; no agreed decay model; mostly cold-chain settings</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tc>
                  <a:txBody>
                    <a:bodyPr/>
                    <a:lstStyle/>
                    <a:p>
                      <a:pPr marL="0" indent="0">
                        <a:buNone/>
                      </a:pPr>
                      <a:r>
                        <a:rPr lang="en-US" sz="1100" b="1" dirty="0">
                          <a:solidFill>
                            <a:schemeClr val="tx2"/>
                          </a:solidFill>
                        </a:rPr>
                        <a:t>Documented [13]; India-ambient gap: to confirm</a:t>
                      </a:r>
                      <a:endParaRPr lang="en-US" sz="1100" dirty="0"/>
                    </a:p>
                  </a:txBody>
                  <a:tcPr marL="73152" marR="73152" marT="36576" marB="36576" anchor="ctr">
                    <a:lnL w="9525" cap="flat" cmpd="sng" algn="ctr">
                      <a:solidFill>
                        <a:srgbClr val="D3E2E6"/>
                      </a:solidFill>
                      <a:prstDash val="solid"/>
                      <a:round/>
                      <a:headEnd type="none" w="med" len="med"/>
                      <a:tailEnd type="none" w="med" len="med"/>
                    </a:lnL>
                    <a:lnR w="9525" cap="flat" cmpd="sng" algn="ctr">
                      <a:solidFill>
                        <a:srgbClr val="D3E2E6"/>
                      </a:solidFill>
                      <a:prstDash val="solid"/>
                      <a:round/>
                      <a:headEnd type="none" w="med" len="med"/>
                      <a:tailEnd type="none" w="med" len="med"/>
                    </a:lnR>
                    <a:lnT w="9525" cap="flat" cmpd="sng" algn="ctr">
                      <a:solidFill>
                        <a:srgbClr val="D3E2E6"/>
                      </a:solidFill>
                      <a:prstDash val="solid"/>
                      <a:round/>
                      <a:headEnd type="none" w="med" len="med"/>
                      <a:tailEnd type="none" w="med" len="med"/>
                    </a:lnT>
                    <a:lnB w="9525" cap="flat" cmpd="sng" algn="ctr">
                      <a:solidFill>
                        <a:srgbClr val="D3E2E6"/>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5"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None of these is ineffective. Each targets a different part of the problem. [4] NCCD 2015; [7] Rajya Sabha reply, 7 Feb 2025; [8] PIB, Apr 2026; [9] agmarknet.gov.in; [10] Shalendra et al. 2021 (MANAGE); [11] MoFPI / Lok Sabha reply on Operation Greens; [12] Google Route Optimization API docs; [13] Awad, Ndiaye &amp; Osman 2021.</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07  ·  WHAT ARE THE CONSEQUENCES?</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Costs fall on farm income, market quality and consumer prices</a:t>
            </a:r>
            <a:endParaRPr lang="en-US" sz="2600" dirty="0"/>
          </a:p>
        </p:txBody>
      </p:sp>
      <p:sp>
        <p:nvSpPr>
          <p:cNvPr id="4" name="Consequence FARMER"/>
          <p:cNvSpPr/>
          <p:nvPr/>
        </p:nvSpPr>
        <p:spPr>
          <a:xfrm>
            <a:off x="548640" y="1572768"/>
            <a:ext cx="2601468" cy="3291840"/>
          </a:xfrm>
          <a:prstGeom prst="roundRect">
            <a:avLst>
              <a:gd name="adj" fmla="val 2812"/>
            </a:avLst>
          </a:prstGeom>
          <a:solidFill>
            <a:schemeClr val="bg2"/>
          </a:solidFill>
          <a:ln/>
        </p:spPr>
      </p:sp>
      <p:sp>
        <p:nvSpPr>
          <p:cNvPr id="5" name="FARMER circle"/>
          <p:cNvSpPr/>
          <p:nvPr/>
        </p:nvSpPr>
        <p:spPr>
          <a:xfrm>
            <a:off x="749808" y="1755648"/>
            <a:ext cx="548640" cy="548640"/>
          </a:xfrm>
          <a:prstGeom prst="ellipse">
            <a:avLst/>
          </a:prstGeom>
          <a:solidFill>
            <a:schemeClr val="accent4"/>
          </a:solidFill>
          <a:ln/>
        </p:spPr>
      </p:sp>
      <p:pic>
        <p:nvPicPr>
          <p:cNvPr id="6" name="FARMER icon" descr="preencoded.png"/>
          <p:cNvPicPr>
            <a:picLocks noChangeAspect="1"/>
          </p:cNvPicPr>
          <p:nvPr/>
        </p:nvPicPr>
        <p:blipFill>
          <a:blip r:embed="rId3"/>
          <a:stretch>
            <a:fillRect/>
          </a:stretch>
        </p:blipFill>
        <p:spPr>
          <a:xfrm>
            <a:off x="886968" y="1892808"/>
            <a:ext cx="274320" cy="274320"/>
          </a:xfrm>
          <a:prstGeom prst="rect">
            <a:avLst/>
          </a:prstGeom>
        </p:spPr>
      </p:pic>
      <p:sp>
        <p:nvSpPr>
          <p:cNvPr id="7" name="Text 4"/>
          <p:cNvSpPr txBox="1"/>
          <p:nvPr/>
        </p:nvSpPr>
        <p:spPr>
          <a:xfrm>
            <a:off x="1417320" y="1755648"/>
            <a:ext cx="1641348" cy="548640"/>
          </a:xfrm>
          <a:prstGeom prst="rect">
            <a:avLst/>
          </a:prstGeom>
          <a:noFill/>
          <a:ln/>
        </p:spPr>
        <p:txBody>
          <a:bodyPr wrap="square" lIns="0" tIns="0" rIns="0" bIns="0" rtlCol="0" anchor="ctr"/>
          <a:lstStyle/>
          <a:p>
            <a:pPr marL="0" indent="0">
              <a:buNone/>
            </a:pPr>
            <a:r>
              <a:rPr lang="en-US" sz="1100" b="1" kern="0" spc="100" dirty="0">
                <a:solidFill>
                  <a:schemeClr val="accent5"/>
                </a:solidFill>
              </a:rPr>
              <a:t>FARMER</a:t>
            </a:r>
            <a:endParaRPr lang="en-US" sz="1100" dirty="0"/>
          </a:p>
        </p:txBody>
      </p:sp>
      <p:sp>
        <p:nvSpPr>
          <p:cNvPr id="8" name="Text 5"/>
          <p:cNvSpPr txBox="1"/>
          <p:nvPr/>
        </p:nvSpPr>
        <p:spPr>
          <a:xfrm>
            <a:off x="749808" y="2423160"/>
            <a:ext cx="2235708"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~33%</a:t>
            </a:r>
            <a:endParaRPr lang="en-US" sz="3400" dirty="0"/>
          </a:p>
        </p:txBody>
      </p:sp>
      <p:sp>
        <p:nvSpPr>
          <p:cNvPr id="9" name="Text 6"/>
          <p:cNvSpPr txBox="1"/>
          <p:nvPr/>
        </p:nvSpPr>
        <p:spPr>
          <a:xfrm>
            <a:off x="749808" y="3154680"/>
            <a:ext cx="2217420" cy="1645920"/>
          </a:xfrm>
          <a:prstGeom prst="rect">
            <a:avLst/>
          </a:prstGeom>
          <a:noFill/>
          <a:ln/>
        </p:spPr>
        <p:txBody>
          <a:bodyPr wrap="square" lIns="0" tIns="0" rIns="0" bIns="0" rtlCol="0" anchor="t"/>
          <a:lstStyle/>
          <a:p>
            <a:pPr marL="0" indent="0">
              <a:buNone/>
            </a:pPr>
            <a:r>
              <a:rPr lang="en-US" sz="1200" dirty="0">
                <a:solidFill>
                  <a:schemeClr val="tx1"/>
                </a:solidFill>
              </a:rPr>
              <a:t>farmers' share of the Delhi consumer price for tomato (onion ~36%, potato ~37%). The rest covers transport, fees, losses and margins [5]</a:t>
            </a:r>
            <a:endParaRPr lang="en-US" sz="1200" dirty="0"/>
          </a:p>
        </p:txBody>
      </p:sp>
      <p:sp>
        <p:nvSpPr>
          <p:cNvPr id="10" name="Consequence TRADER"/>
          <p:cNvSpPr/>
          <p:nvPr/>
        </p:nvSpPr>
        <p:spPr>
          <a:xfrm>
            <a:off x="3378708" y="1572768"/>
            <a:ext cx="2601468" cy="3291840"/>
          </a:xfrm>
          <a:prstGeom prst="roundRect">
            <a:avLst>
              <a:gd name="adj" fmla="val 2812"/>
            </a:avLst>
          </a:prstGeom>
          <a:solidFill>
            <a:schemeClr val="bg2"/>
          </a:solidFill>
          <a:ln/>
        </p:spPr>
      </p:sp>
      <p:sp>
        <p:nvSpPr>
          <p:cNvPr id="11" name="TRADER circle"/>
          <p:cNvSpPr/>
          <p:nvPr/>
        </p:nvSpPr>
        <p:spPr>
          <a:xfrm>
            <a:off x="3579876" y="1755648"/>
            <a:ext cx="548640" cy="548640"/>
          </a:xfrm>
          <a:prstGeom prst="ellipse">
            <a:avLst/>
          </a:prstGeom>
          <a:solidFill>
            <a:schemeClr val="accent4"/>
          </a:solidFill>
          <a:ln/>
        </p:spPr>
      </p:sp>
      <p:pic>
        <p:nvPicPr>
          <p:cNvPr id="12" name="TRADER icon" descr="preencoded.png"/>
          <p:cNvPicPr>
            <a:picLocks noChangeAspect="1"/>
          </p:cNvPicPr>
          <p:nvPr/>
        </p:nvPicPr>
        <p:blipFill>
          <a:blip r:embed="rId4"/>
          <a:stretch>
            <a:fillRect/>
          </a:stretch>
        </p:blipFill>
        <p:spPr>
          <a:xfrm>
            <a:off x="3717036" y="1892808"/>
            <a:ext cx="274320" cy="274320"/>
          </a:xfrm>
          <a:prstGeom prst="rect">
            <a:avLst/>
          </a:prstGeom>
        </p:spPr>
      </p:pic>
      <p:sp>
        <p:nvSpPr>
          <p:cNvPr id="13" name="Text 9"/>
          <p:cNvSpPr txBox="1"/>
          <p:nvPr/>
        </p:nvSpPr>
        <p:spPr>
          <a:xfrm>
            <a:off x="4247388" y="1755648"/>
            <a:ext cx="1641348" cy="548640"/>
          </a:xfrm>
          <a:prstGeom prst="rect">
            <a:avLst/>
          </a:prstGeom>
          <a:noFill/>
          <a:ln/>
        </p:spPr>
        <p:txBody>
          <a:bodyPr wrap="square" lIns="0" tIns="0" rIns="0" bIns="0" rtlCol="0" anchor="ctr"/>
          <a:lstStyle/>
          <a:p>
            <a:pPr marL="0" indent="0">
              <a:buNone/>
            </a:pPr>
            <a:r>
              <a:rPr lang="en-US" sz="1100" b="1" kern="0" spc="100" dirty="0">
                <a:solidFill>
                  <a:schemeClr val="accent5"/>
                </a:solidFill>
              </a:rPr>
              <a:t>TRADER</a:t>
            </a:r>
            <a:endParaRPr lang="en-US" sz="1100" dirty="0"/>
          </a:p>
        </p:txBody>
      </p:sp>
      <p:sp>
        <p:nvSpPr>
          <p:cNvPr id="14" name="Text 10"/>
          <p:cNvSpPr txBox="1"/>
          <p:nvPr/>
        </p:nvSpPr>
        <p:spPr>
          <a:xfrm>
            <a:off x="3579876" y="2423160"/>
            <a:ext cx="2235708"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5–10%</a:t>
            </a:r>
            <a:endParaRPr lang="en-US" sz="3400" dirty="0"/>
          </a:p>
        </p:txBody>
      </p:sp>
      <p:sp>
        <p:nvSpPr>
          <p:cNvPr id="15" name="Text 11"/>
          <p:cNvSpPr txBox="1"/>
          <p:nvPr/>
        </p:nvSpPr>
        <p:spPr>
          <a:xfrm>
            <a:off x="3579876" y="3154680"/>
            <a:ext cx="2217420" cy="1645920"/>
          </a:xfrm>
          <a:prstGeom prst="rect">
            <a:avLst/>
          </a:prstGeom>
          <a:noFill/>
          <a:ln/>
        </p:spPr>
        <p:txBody>
          <a:bodyPr wrap="square" lIns="0" tIns="0" rIns="0" bIns="0" rtlCol="0" anchor="t"/>
          <a:lstStyle/>
          <a:p>
            <a:pPr marL="0" indent="0">
              <a:buNone/>
            </a:pPr>
            <a:r>
              <a:rPr lang="en-US" sz="1200" dirty="0">
                <a:solidFill>
                  <a:schemeClr val="tx1"/>
                </a:solidFill>
              </a:rPr>
              <a:t>weight loss traders absorb on onion: about 5% for the rabi crop, about 10% for kharif [5]</a:t>
            </a:r>
            <a:endParaRPr lang="en-US" sz="1200" dirty="0"/>
          </a:p>
        </p:txBody>
      </p:sp>
      <p:sp>
        <p:nvSpPr>
          <p:cNvPr id="16" name="Consequence RECEIVING MARKET"/>
          <p:cNvSpPr/>
          <p:nvPr/>
        </p:nvSpPr>
        <p:spPr>
          <a:xfrm>
            <a:off x="6208776" y="1572768"/>
            <a:ext cx="2601468" cy="3291840"/>
          </a:xfrm>
          <a:prstGeom prst="roundRect">
            <a:avLst>
              <a:gd name="adj" fmla="val 2812"/>
            </a:avLst>
          </a:prstGeom>
          <a:solidFill>
            <a:schemeClr val="bg2"/>
          </a:solidFill>
          <a:ln/>
        </p:spPr>
      </p:sp>
      <p:sp>
        <p:nvSpPr>
          <p:cNvPr id="17" name="RECEIVING MARKET circle"/>
          <p:cNvSpPr/>
          <p:nvPr/>
        </p:nvSpPr>
        <p:spPr>
          <a:xfrm>
            <a:off x="6409944" y="1755648"/>
            <a:ext cx="548640" cy="548640"/>
          </a:xfrm>
          <a:prstGeom prst="ellipse">
            <a:avLst/>
          </a:prstGeom>
          <a:solidFill>
            <a:schemeClr val="accent4"/>
          </a:solidFill>
          <a:ln/>
        </p:spPr>
      </p:sp>
      <p:pic>
        <p:nvPicPr>
          <p:cNvPr id="18" name="RECEIVING MARKET icon" descr="preencoded.png"/>
          <p:cNvPicPr>
            <a:picLocks noChangeAspect="1"/>
          </p:cNvPicPr>
          <p:nvPr/>
        </p:nvPicPr>
        <p:blipFill>
          <a:blip r:embed="rId5"/>
          <a:stretch>
            <a:fillRect/>
          </a:stretch>
        </p:blipFill>
        <p:spPr>
          <a:xfrm>
            <a:off x="6547104" y="1892808"/>
            <a:ext cx="274320" cy="274320"/>
          </a:xfrm>
          <a:prstGeom prst="rect">
            <a:avLst/>
          </a:prstGeom>
        </p:spPr>
      </p:pic>
      <p:sp>
        <p:nvSpPr>
          <p:cNvPr id="19" name="Text 14"/>
          <p:cNvSpPr txBox="1"/>
          <p:nvPr/>
        </p:nvSpPr>
        <p:spPr>
          <a:xfrm>
            <a:off x="7077456" y="1755648"/>
            <a:ext cx="1641348" cy="548640"/>
          </a:xfrm>
          <a:prstGeom prst="rect">
            <a:avLst/>
          </a:prstGeom>
          <a:noFill/>
          <a:ln/>
        </p:spPr>
        <p:txBody>
          <a:bodyPr wrap="square" lIns="0" tIns="0" rIns="0" bIns="0" rtlCol="0" anchor="ctr"/>
          <a:lstStyle/>
          <a:p>
            <a:pPr marL="0" indent="0">
              <a:buNone/>
            </a:pPr>
            <a:r>
              <a:rPr lang="en-US" sz="1100" b="1" kern="0" spc="100" dirty="0">
                <a:solidFill>
                  <a:schemeClr val="accent5"/>
                </a:solidFill>
              </a:rPr>
              <a:t>RECEIVING MARKET</a:t>
            </a:r>
            <a:endParaRPr lang="en-US" sz="1100" dirty="0"/>
          </a:p>
        </p:txBody>
      </p:sp>
      <p:sp>
        <p:nvSpPr>
          <p:cNvPr id="20" name="Text 15"/>
          <p:cNvSpPr txBox="1"/>
          <p:nvPr/>
        </p:nvSpPr>
        <p:spPr>
          <a:xfrm>
            <a:off x="6409944" y="2423160"/>
            <a:ext cx="2235708"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12%</a:t>
            </a:r>
            <a:endParaRPr lang="en-US" sz="3400" dirty="0"/>
          </a:p>
        </p:txBody>
      </p:sp>
      <p:sp>
        <p:nvSpPr>
          <p:cNvPr id="21" name="Text 16"/>
          <p:cNvSpPr txBox="1"/>
          <p:nvPr/>
        </p:nvSpPr>
        <p:spPr>
          <a:xfrm>
            <a:off x="6409944" y="3154680"/>
            <a:ext cx="2217420" cy="1645920"/>
          </a:xfrm>
          <a:prstGeom prst="rect">
            <a:avLst/>
          </a:prstGeom>
          <a:noFill/>
          <a:ln/>
        </p:spPr>
        <p:txBody>
          <a:bodyPr wrap="square" lIns="0" tIns="0" rIns="0" bIns="0" rtlCol="0" anchor="t"/>
          <a:lstStyle/>
          <a:p>
            <a:pPr marL="0" indent="0">
              <a:buNone/>
            </a:pPr>
            <a:r>
              <a:rPr lang="en-US" sz="1200" dirty="0">
                <a:solidFill>
                  <a:schemeClr val="tx1"/>
                </a:solidFill>
              </a:rPr>
              <a:t>of tomatoes wasted at retail by day's end in the MP study, with another 11% sold as Grade II at about half price [3]</a:t>
            </a:r>
            <a:endParaRPr lang="en-US" sz="1200" dirty="0"/>
          </a:p>
        </p:txBody>
      </p:sp>
      <p:sp>
        <p:nvSpPr>
          <p:cNvPr id="22" name="Consequence CONSUMER"/>
          <p:cNvSpPr/>
          <p:nvPr/>
        </p:nvSpPr>
        <p:spPr>
          <a:xfrm>
            <a:off x="9038844" y="1572768"/>
            <a:ext cx="2601468" cy="3291840"/>
          </a:xfrm>
          <a:prstGeom prst="roundRect">
            <a:avLst>
              <a:gd name="adj" fmla="val 2812"/>
            </a:avLst>
          </a:prstGeom>
          <a:solidFill>
            <a:schemeClr val="bg2"/>
          </a:solidFill>
          <a:ln/>
        </p:spPr>
      </p:sp>
      <p:sp>
        <p:nvSpPr>
          <p:cNvPr id="23" name="CONSUMER circle"/>
          <p:cNvSpPr/>
          <p:nvPr/>
        </p:nvSpPr>
        <p:spPr>
          <a:xfrm>
            <a:off x="9240012" y="1755648"/>
            <a:ext cx="548640" cy="548640"/>
          </a:xfrm>
          <a:prstGeom prst="ellipse">
            <a:avLst/>
          </a:prstGeom>
          <a:solidFill>
            <a:schemeClr val="accent4"/>
          </a:solidFill>
          <a:ln/>
        </p:spPr>
      </p:sp>
      <p:pic>
        <p:nvPicPr>
          <p:cNvPr id="24" name="CONSUMER icon" descr="preencoded.png"/>
          <p:cNvPicPr>
            <a:picLocks noChangeAspect="1"/>
          </p:cNvPicPr>
          <p:nvPr/>
        </p:nvPicPr>
        <p:blipFill>
          <a:blip r:embed="rId6"/>
          <a:stretch>
            <a:fillRect/>
          </a:stretch>
        </p:blipFill>
        <p:spPr>
          <a:xfrm>
            <a:off x="9377172" y="1892808"/>
            <a:ext cx="274320" cy="274320"/>
          </a:xfrm>
          <a:prstGeom prst="rect">
            <a:avLst/>
          </a:prstGeom>
        </p:spPr>
      </p:pic>
      <p:sp>
        <p:nvSpPr>
          <p:cNvPr id="25" name="Text 19"/>
          <p:cNvSpPr txBox="1"/>
          <p:nvPr/>
        </p:nvSpPr>
        <p:spPr>
          <a:xfrm>
            <a:off x="9907524" y="1755648"/>
            <a:ext cx="1641348" cy="548640"/>
          </a:xfrm>
          <a:prstGeom prst="rect">
            <a:avLst/>
          </a:prstGeom>
          <a:noFill/>
          <a:ln/>
        </p:spPr>
        <p:txBody>
          <a:bodyPr wrap="square" lIns="0" tIns="0" rIns="0" bIns="0" rtlCol="0" anchor="ctr"/>
          <a:lstStyle/>
          <a:p>
            <a:pPr marL="0" indent="0">
              <a:buNone/>
            </a:pPr>
            <a:r>
              <a:rPr lang="en-US" sz="1100" b="1" kern="0" spc="100" dirty="0">
                <a:solidFill>
                  <a:schemeClr val="accent5"/>
                </a:solidFill>
              </a:rPr>
              <a:t>CONSUMER</a:t>
            </a:r>
            <a:endParaRPr lang="en-US" sz="1100" dirty="0"/>
          </a:p>
        </p:txBody>
      </p:sp>
      <p:sp>
        <p:nvSpPr>
          <p:cNvPr id="26" name="Text 20"/>
          <p:cNvSpPr txBox="1"/>
          <p:nvPr/>
        </p:nvSpPr>
        <p:spPr>
          <a:xfrm>
            <a:off x="9240012" y="2423160"/>
            <a:ext cx="2235708"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Volatile</a:t>
            </a:r>
            <a:endParaRPr lang="en-US" sz="3400" dirty="0"/>
          </a:p>
        </p:txBody>
      </p:sp>
      <p:sp>
        <p:nvSpPr>
          <p:cNvPr id="27" name="Text 21"/>
          <p:cNvSpPr txBox="1"/>
          <p:nvPr/>
        </p:nvSpPr>
        <p:spPr>
          <a:xfrm>
            <a:off x="9240012" y="3154680"/>
            <a:ext cx="2217420" cy="1645920"/>
          </a:xfrm>
          <a:prstGeom prst="rect">
            <a:avLst/>
          </a:prstGeom>
          <a:noFill/>
          <a:ln/>
        </p:spPr>
        <p:txBody>
          <a:bodyPr wrap="square" lIns="0" tIns="0" rIns="0" bIns="0" rtlCol="0" anchor="t"/>
          <a:lstStyle/>
          <a:p>
            <a:pPr marL="0" indent="0">
              <a:buNone/>
            </a:pPr>
            <a:r>
              <a:rPr lang="en-US" sz="1200" dirty="0">
                <a:solidFill>
                  <a:schemeClr val="tx1"/>
                </a:solidFill>
              </a:rPr>
              <a:t>TOP prices swing sharply, driven partly by perishability and short seasonal cycles, and feed into food and headline inflation [5]</a:t>
            </a:r>
            <a:endParaRPr lang="en-US" sz="1200" dirty="0"/>
          </a:p>
        </p:txBody>
      </p:sp>
      <p:sp>
        <p:nvSpPr>
          <p:cNvPr id="28" name="Food system box"/>
          <p:cNvSpPr/>
          <p:nvPr/>
        </p:nvSpPr>
        <p:spPr>
          <a:xfrm>
            <a:off x="548640" y="5029200"/>
            <a:ext cx="6035040" cy="896112"/>
          </a:xfrm>
          <a:prstGeom prst="roundRect">
            <a:avLst>
              <a:gd name="adj" fmla="val 8163"/>
            </a:avLst>
          </a:prstGeom>
          <a:solidFill>
            <a:schemeClr val="bg1"/>
          </a:solidFill>
          <a:ln w="12700">
            <a:solidFill>
              <a:srgbClr val="D3E2E6"/>
            </a:solidFill>
            <a:prstDash val="solid"/>
          </a:ln>
        </p:spPr>
      </p:sp>
      <p:sp>
        <p:nvSpPr>
          <p:cNvPr id="29" name="Food system circle"/>
          <p:cNvSpPr/>
          <p:nvPr/>
        </p:nvSpPr>
        <p:spPr>
          <a:xfrm>
            <a:off x="713232" y="5212080"/>
            <a:ext cx="502920" cy="502920"/>
          </a:xfrm>
          <a:prstGeom prst="ellipse">
            <a:avLst/>
          </a:prstGeom>
          <a:solidFill>
            <a:schemeClr val="accent1"/>
          </a:solidFill>
          <a:ln/>
        </p:spPr>
      </p:sp>
      <p:pic>
        <p:nvPicPr>
          <p:cNvPr id="30" name="Food system icon" descr="preencoded.png"/>
          <p:cNvPicPr>
            <a:picLocks noChangeAspect="1"/>
          </p:cNvPicPr>
          <p:nvPr/>
        </p:nvPicPr>
        <p:blipFill>
          <a:blip r:embed="rId7"/>
          <a:stretch>
            <a:fillRect/>
          </a:stretch>
        </p:blipFill>
        <p:spPr>
          <a:xfrm>
            <a:off x="838962" y="5337810"/>
            <a:ext cx="251460" cy="251460"/>
          </a:xfrm>
          <a:prstGeom prst="rect">
            <a:avLst/>
          </a:prstGeom>
        </p:spPr>
      </p:pic>
      <p:sp>
        <p:nvSpPr>
          <p:cNvPr id="31" name="Text 24"/>
          <p:cNvSpPr txBox="1"/>
          <p:nvPr/>
        </p:nvSpPr>
        <p:spPr>
          <a:xfrm>
            <a:off x="1371600" y="5074920"/>
            <a:ext cx="5120640" cy="822960"/>
          </a:xfrm>
          <a:prstGeom prst="rect">
            <a:avLst/>
          </a:prstGeom>
          <a:noFill/>
          <a:ln/>
        </p:spPr>
        <p:txBody>
          <a:bodyPr wrap="square" lIns="0" tIns="0" rIns="0" bIns="0" rtlCol="0" anchor="ctr"/>
          <a:lstStyle/>
          <a:p>
            <a:pPr marL="0" indent="0">
              <a:buNone/>
            </a:pPr>
            <a:r>
              <a:rPr lang="en-US" sz="1150" b="1" dirty="0">
                <a:solidFill>
                  <a:schemeClr val="accent1"/>
                </a:solidFill>
              </a:rPr>
              <a:t>Food system: </a:t>
            </a:r>
            <a:r>
              <a:rPr lang="en-US" sz="1150" dirty="0">
                <a:solidFill>
                  <a:schemeClr val="tx1"/>
                </a:solidFill>
              </a:rPr>
              <a:t>19.3 Mt of F&amp;V lost each year across all stages [1]. In the MP study districts, tomato lost at wholesale and retail adds about 6,824 t CO₂e a year from landfill [3].</a:t>
            </a:r>
            <a:endParaRPr lang="en-US" sz="1150" dirty="0"/>
          </a:p>
        </p:txBody>
      </p:sp>
      <p:sp>
        <p:nvSpPr>
          <p:cNvPr id="32" name="Interpretation box"/>
          <p:cNvSpPr/>
          <p:nvPr/>
        </p:nvSpPr>
        <p:spPr>
          <a:xfrm>
            <a:off x="6812280" y="5029200"/>
            <a:ext cx="4828032" cy="896112"/>
          </a:xfrm>
          <a:prstGeom prst="roundRect">
            <a:avLst>
              <a:gd name="adj" fmla="val 8163"/>
            </a:avLst>
          </a:prstGeom>
          <a:solidFill>
            <a:schemeClr val="bg1"/>
          </a:solidFill>
          <a:ln w="12700">
            <a:solidFill>
              <a:srgbClr val="12263A"/>
            </a:solidFill>
            <a:prstDash val="solid"/>
          </a:ln>
        </p:spPr>
      </p:sp>
      <p:sp>
        <p:nvSpPr>
          <p:cNvPr id="33" name="Evidence tag INTERPRETATION"/>
          <p:cNvSpPr txBox="1"/>
          <p:nvPr/>
        </p:nvSpPr>
        <p:spPr>
          <a:xfrm>
            <a:off x="6967728" y="5120640"/>
            <a:ext cx="1188720" cy="210312"/>
          </a:xfrm>
          <a:prstGeom prst="roundRect">
            <a:avLst>
              <a:gd name="adj" fmla="val 52174"/>
            </a:avLst>
          </a:prstGeom>
          <a:solidFill>
            <a:schemeClr val="bg1"/>
          </a:solidFill>
          <a:ln w="9525">
            <a:solidFill>
              <a:schemeClr val="tx2"/>
            </a:solidFill>
          </a:ln>
        </p:spPr>
        <p:txBody>
          <a:bodyPr wrap="square" lIns="0" tIns="0" rIns="0" bIns="0" rtlCol="0" anchor="ctr"/>
          <a:lstStyle/>
          <a:p>
            <a:pPr marL="0" indent="0" algn="ctr">
              <a:buNone/>
            </a:pPr>
            <a:r>
              <a:rPr lang="en-US" sz="800" b="1" kern="0" spc="100" dirty="0">
                <a:solidFill>
                  <a:schemeClr val="tx2"/>
                </a:solidFill>
              </a:rPr>
              <a:t>INTERPRETATION</a:t>
            </a:r>
            <a:endParaRPr lang="en-US" sz="800" dirty="0"/>
          </a:p>
        </p:txBody>
      </p:sp>
      <p:sp>
        <p:nvSpPr>
          <p:cNvPr id="34" name="Text 27"/>
          <p:cNvSpPr txBox="1"/>
          <p:nvPr/>
        </p:nvSpPr>
        <p:spPr>
          <a:xfrm>
            <a:off x="6967728" y="5358384"/>
            <a:ext cx="4553712" cy="530352"/>
          </a:xfrm>
          <a:prstGeom prst="rect">
            <a:avLst/>
          </a:prstGeom>
          <a:noFill/>
          <a:ln/>
        </p:spPr>
        <p:txBody>
          <a:bodyPr wrap="square" lIns="0" tIns="0" rIns="0" bIns="0" rtlCol="0" anchor="t"/>
          <a:lstStyle/>
          <a:p>
            <a:pPr marL="0" indent="0">
              <a:buNone/>
            </a:pPr>
            <a:r>
              <a:rPr lang="en-US" sz="1150" dirty="0">
                <a:solidFill>
                  <a:schemeClr val="tx1"/>
                </a:solidFill>
              </a:rPr>
              <a:t>These costs build up across the whole chain. With current data, the share that starts in transit cannot be separated out. That is a gap in itself.</a:t>
            </a:r>
            <a:endParaRPr lang="en-US" sz="1150" dirty="0"/>
          </a:p>
        </p:txBody>
      </p:sp>
      <p:sp>
        <p:nvSpPr>
          <p:cNvPr id="35"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[1] NABCONS 2022 via PIB 2025; [3] WRI India 2024, Madhya Pradesh tomato chain (direct measurement, 2020–21 production base); [5] Roy et al., RBI WPS (DEPR) 08/2024, value-chain estimates for Delhi.</a:t>
            </a:r>
            <a:endParaRPr lang="en-US" sz="950" dirty="0"/>
          </a:p>
        </p:txBody>
      </p:sp>
      <p:sp>
        <p:nvSpPr>
          <p:cNvPr id="36"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08  ·  WHAT REMAINS INADEQUATELY UNDERSTOOD?</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Three distinct gaps: in data, in research and in everyday practice</a:t>
            </a:r>
            <a:endParaRPr lang="en-US" sz="2600" dirty="0"/>
          </a:p>
        </p:txBody>
      </p:sp>
      <p:sp>
        <p:nvSpPr>
          <p:cNvPr id="4" name="DATA GAP column"/>
          <p:cNvSpPr/>
          <p:nvPr/>
        </p:nvSpPr>
        <p:spPr>
          <a:xfrm>
            <a:off x="548640" y="1572768"/>
            <a:ext cx="3429000" cy="2880360"/>
          </a:xfrm>
          <a:prstGeom prst="roundRect">
            <a:avLst>
              <a:gd name="adj" fmla="val 2540"/>
            </a:avLst>
          </a:prstGeom>
          <a:solidFill>
            <a:schemeClr val="bg1"/>
          </a:solidFill>
          <a:ln w="15875">
            <a:solidFill>
              <a:srgbClr val="0F8B8D"/>
            </a:solidFill>
            <a:prstDash val="solid"/>
          </a:ln>
        </p:spPr>
      </p:sp>
      <p:sp>
        <p:nvSpPr>
          <p:cNvPr id="5" name="Text 3"/>
          <p:cNvSpPr txBox="1"/>
          <p:nvPr/>
        </p:nvSpPr>
        <p:spPr>
          <a:xfrm>
            <a:off x="548640" y="1572768"/>
            <a:ext cx="3429000" cy="384048"/>
          </a:xfrm>
          <a:prstGeom prst="rect">
            <a:avLst/>
          </a:prstGeom>
          <a:solidFill>
            <a:schemeClr val="accent1"/>
          </a:solidFill>
          <a:ln/>
        </p:spPr>
        <p:txBody>
          <a:bodyPr wrap="square" lIns="0" tIns="0" rIns="0" bIns="0" rtlCol="0" anchor="ctr"/>
          <a:lstStyle/>
          <a:p>
            <a:pPr marL="0" indent="0" algn="ctr">
              <a:buNone/>
            </a:pPr>
            <a:r>
              <a:rPr lang="en-US" sz="1200" b="1" kern="0" spc="100" dirty="0">
                <a:solidFill>
                  <a:schemeClr val="bg1"/>
                </a:solidFill>
              </a:rPr>
              <a:t>DATA GAP</a:t>
            </a:r>
            <a:r>
              <a:rPr lang="en-US" sz="1200" kern="0" spc="100" dirty="0">
                <a:solidFill>
                  <a:schemeClr val="bg1"/>
                </a:solidFill>
              </a:rPr>
              <a:t>  ·  verified</a:t>
            </a:r>
            <a:endParaRPr lang="en-US" sz="1200" dirty="0"/>
          </a:p>
        </p:txBody>
      </p:sp>
      <p:sp>
        <p:nvSpPr>
          <p:cNvPr id="6" name="Text 4"/>
          <p:cNvSpPr txBox="1"/>
          <p:nvPr/>
        </p:nvSpPr>
        <p:spPr>
          <a:xfrm>
            <a:off x="685800" y="2057400"/>
            <a:ext cx="3154680" cy="23317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Fresh F&amp;V need no GST e-way bill (CGST Rule 138(14)(e)), so India's main digital freight record largely misses these trips [14]</a:t>
            </a:r>
            <a:endParaRPr lang="en-US" sz="1150" dirty="0"/>
          </a:p>
          <a:p>
            <a:pPr marL="152400" indent="-152400">
              <a:spcAft>
                <a:spcPts val="500"/>
              </a:spcAft>
              <a:buSzPct val="100000"/>
              <a:buChar char="•"/>
            </a:pPr>
            <a:r>
              <a:rPr lang="en-US" sz="1150" dirty="0">
                <a:solidFill>
                  <a:schemeClr val="tx1"/>
                </a:solidFill>
              </a:rPr>
              <a:t>Agmarknet and e-NAM record arrivals, prices and trades, not trip duration, route or condition on arrival [8][9]</a:t>
            </a:r>
            <a:endParaRPr lang="en-US" sz="1150" dirty="0"/>
          </a:p>
          <a:p>
            <a:pPr marL="152400" indent="-152400">
              <a:spcAft>
                <a:spcPts val="500"/>
              </a:spcAft>
              <a:buSzPct val="100000"/>
              <a:buChar char="•"/>
            </a:pPr>
            <a:r>
              <a:rPr lang="en-US" sz="1150" dirty="0">
                <a:solidFill>
                  <a:schemeClr val="tx1"/>
                </a:solidFill>
              </a:rPr>
              <a:t>We found no public trip-level spoilage or rerouting-decision dataset [15]</a:t>
            </a:r>
            <a:endParaRPr lang="en-US" sz="1150" dirty="0"/>
          </a:p>
          <a:p>
            <a:pPr marL="152400" indent="-152400">
              <a:spcAft>
                <a:spcPts val="500"/>
              </a:spcAft>
              <a:buSzPct val="100000"/>
              <a:buChar char="•"/>
            </a:pPr>
            <a:r>
              <a:rPr lang="en-US" sz="1150" dirty="0">
                <a:solidFill>
                  <a:schemeClr val="tx1"/>
                </a:solidFill>
              </a:rPr>
              <a:t>Indian loss studies rely more on perception surveys than on direct measurement [3]</a:t>
            </a:r>
            <a:endParaRPr lang="en-US" sz="1150" dirty="0"/>
          </a:p>
        </p:txBody>
      </p:sp>
      <p:sp>
        <p:nvSpPr>
          <p:cNvPr id="7" name="RESEARCH GAP column"/>
          <p:cNvSpPr/>
          <p:nvPr/>
        </p:nvSpPr>
        <p:spPr>
          <a:xfrm>
            <a:off x="4379976" y="1572768"/>
            <a:ext cx="3429000" cy="2880360"/>
          </a:xfrm>
          <a:prstGeom prst="roundRect">
            <a:avLst>
              <a:gd name="adj" fmla="val 2540"/>
            </a:avLst>
          </a:prstGeom>
          <a:solidFill>
            <a:schemeClr val="bg1"/>
          </a:solidFill>
          <a:ln w="15875">
            <a:solidFill>
              <a:srgbClr val="12263A"/>
            </a:solidFill>
            <a:prstDash val="solid"/>
          </a:ln>
        </p:spPr>
      </p:sp>
      <p:sp>
        <p:nvSpPr>
          <p:cNvPr id="8" name="Text 6"/>
          <p:cNvSpPr txBox="1"/>
          <p:nvPr/>
        </p:nvSpPr>
        <p:spPr>
          <a:xfrm>
            <a:off x="4379976" y="1572768"/>
            <a:ext cx="3429000" cy="384048"/>
          </a:xfrm>
          <a:prstGeom prst="rect">
            <a:avLst/>
          </a:prstGeom>
          <a:solidFill>
            <a:schemeClr val="tx2"/>
          </a:solidFill>
          <a:ln/>
        </p:spPr>
        <p:txBody>
          <a:bodyPr wrap="square" lIns="0" tIns="0" rIns="0" bIns="0" rtlCol="0" anchor="ctr"/>
          <a:lstStyle/>
          <a:p>
            <a:pPr marL="0" indent="0" algn="ctr">
              <a:buNone/>
            </a:pPr>
            <a:r>
              <a:rPr lang="en-US" sz="1200" b="1" kern="0" spc="100" dirty="0">
                <a:solidFill>
                  <a:schemeClr val="bg1"/>
                </a:solidFill>
              </a:rPr>
              <a:t>RESEARCH GAP</a:t>
            </a:r>
            <a:r>
              <a:rPr lang="en-US" sz="1200" kern="0" spc="100" dirty="0">
                <a:solidFill>
                  <a:schemeClr val="bg1"/>
                </a:solidFill>
              </a:rPr>
              <a:t>  ·  partly established</a:t>
            </a:r>
            <a:endParaRPr lang="en-US" sz="1200" dirty="0"/>
          </a:p>
        </p:txBody>
      </p:sp>
      <p:sp>
        <p:nvSpPr>
          <p:cNvPr id="9" name="Text 7"/>
          <p:cNvSpPr txBox="1"/>
          <p:nvPr/>
        </p:nvSpPr>
        <p:spPr>
          <a:xfrm>
            <a:off x="4517136" y="2057400"/>
            <a:ext cx="3154680" cy="23317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Dynamic, quality-aware routing is still an open research area, with no agreed decay model [13]</a:t>
            </a:r>
            <a:endParaRPr lang="en-US" sz="1150" dirty="0"/>
          </a:p>
          <a:p>
            <a:pPr marL="152400" indent="-152400">
              <a:spcAft>
                <a:spcPts val="500"/>
              </a:spcAft>
              <a:buSzPct val="100000"/>
              <a:buChar char="•"/>
            </a:pPr>
            <a:r>
              <a:rPr lang="en-US" sz="1150" dirty="0">
                <a:solidFill>
                  <a:schemeClr val="tx1"/>
                </a:solidFill>
              </a:rPr>
              <a:t>Most quality-decay work assumes refrigerated settings; India's ambient mandi-to-market flows look thinly studied (to confirm by systematic review)</a:t>
            </a:r>
            <a:endParaRPr lang="en-US" sz="1150" dirty="0"/>
          </a:p>
          <a:p>
            <a:pPr marL="152400" indent="-152400">
              <a:spcAft>
                <a:spcPts val="500"/>
              </a:spcAft>
              <a:buSzPct val="100000"/>
              <a:buChar char="•"/>
            </a:pPr>
            <a:r>
              <a:rPr lang="en-US" sz="1150" dirty="0">
                <a:solidFill>
                  <a:schemeClr val="tx1"/>
                </a:solidFill>
              </a:rPr>
              <a:t>Loss studies split losses into farm and market stages, not transit vs waiting vs handling [1]</a:t>
            </a:r>
            <a:endParaRPr lang="en-US" sz="1150" dirty="0"/>
          </a:p>
        </p:txBody>
      </p:sp>
      <p:sp>
        <p:nvSpPr>
          <p:cNvPr id="10" name="PRACTICE GAP column"/>
          <p:cNvSpPr/>
          <p:nvPr/>
        </p:nvSpPr>
        <p:spPr>
          <a:xfrm>
            <a:off x="8211312" y="1572768"/>
            <a:ext cx="3429000" cy="2880360"/>
          </a:xfrm>
          <a:prstGeom prst="roundRect">
            <a:avLst>
              <a:gd name="adj" fmla="val 2540"/>
            </a:avLst>
          </a:prstGeom>
          <a:solidFill>
            <a:schemeClr val="bg1"/>
          </a:solidFill>
          <a:ln w="15875">
            <a:solidFill>
              <a:srgbClr val="D9A21B"/>
            </a:solidFill>
            <a:prstDash val="dash"/>
          </a:ln>
        </p:spPr>
      </p:sp>
      <p:sp>
        <p:nvSpPr>
          <p:cNvPr id="11" name="Text 9"/>
          <p:cNvSpPr txBox="1"/>
          <p:nvPr/>
        </p:nvSpPr>
        <p:spPr>
          <a:xfrm>
            <a:off x="8211312" y="1572768"/>
            <a:ext cx="3429000" cy="384048"/>
          </a:xfrm>
          <a:prstGeom prst="rect">
            <a:avLst/>
          </a:prstGeom>
          <a:solidFill>
            <a:schemeClr val="accent3"/>
          </a:solidFill>
          <a:ln/>
        </p:spPr>
        <p:txBody>
          <a:bodyPr wrap="square" lIns="0" tIns="0" rIns="0" bIns="0" rtlCol="0" anchor="ctr"/>
          <a:lstStyle/>
          <a:p>
            <a:pPr marL="0" indent="0" algn="ctr">
              <a:buNone/>
            </a:pPr>
            <a:r>
              <a:rPr lang="en-US" sz="1200" b="1" kern="0" spc="100" dirty="0">
                <a:solidFill>
                  <a:schemeClr val="tx1"/>
                </a:solidFill>
              </a:rPr>
              <a:t>PRACTICE GAP</a:t>
            </a:r>
            <a:r>
              <a:rPr lang="en-US" sz="1200" kern="0" spc="100" dirty="0">
                <a:solidFill>
                  <a:schemeClr val="tx1"/>
                </a:solidFill>
              </a:rPr>
              <a:t>  ·  hypothesis</a:t>
            </a:r>
            <a:endParaRPr lang="en-US" sz="1200" dirty="0"/>
          </a:p>
        </p:txBody>
      </p:sp>
      <p:sp>
        <p:nvSpPr>
          <p:cNvPr id="12" name="Text 10"/>
          <p:cNvSpPr txBox="1"/>
          <p:nvPr/>
        </p:nvSpPr>
        <p:spPr>
          <a:xfrm>
            <a:off x="8348472" y="2057400"/>
            <a:ext cx="3154680" cy="23317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How dispatchers choose destination and timing today, and what information they use: we found no published evidence</a:t>
            </a:r>
            <a:endParaRPr lang="en-US" sz="1150" dirty="0"/>
          </a:p>
          <a:p>
            <a:pPr marL="152400" indent="-152400">
              <a:spcAft>
                <a:spcPts val="500"/>
              </a:spcAft>
              <a:buSzPct val="100000"/>
              <a:buChar char="•"/>
            </a:pPr>
            <a:r>
              <a:rPr lang="en-US" sz="1150" dirty="0">
                <a:solidFill>
                  <a:schemeClr val="tx1"/>
                </a:solidFill>
              </a:rPr>
              <a:t>Whether problems en route (delay, heat, a glut at destination) are noticed and acted on after dispatch</a:t>
            </a:r>
            <a:endParaRPr lang="en-US" sz="1150" dirty="0"/>
          </a:p>
          <a:p>
            <a:pPr marL="152400" indent="-152400">
              <a:spcAft>
                <a:spcPts val="500"/>
              </a:spcAft>
              <a:buSzPct val="100000"/>
              <a:buChar char="•"/>
            </a:pPr>
            <a:r>
              <a:rPr lang="en-US" sz="1150" dirty="0">
                <a:solidFill>
                  <a:schemeClr val="tx1"/>
                </a:solidFill>
              </a:rPr>
              <a:t>Which signals (prices elsewhere, weather, road delays) dispatchers can actually access when they decide</a:t>
            </a:r>
            <a:endParaRPr lang="en-US" sz="1150" dirty="0"/>
          </a:p>
        </p:txBody>
      </p:sp>
      <p:sp>
        <p:nvSpPr>
          <p:cNvPr id="13" name="Open questions"/>
          <p:cNvSpPr/>
          <p:nvPr/>
        </p:nvSpPr>
        <p:spPr>
          <a:xfrm>
            <a:off x="548640" y="4590288"/>
            <a:ext cx="7315200" cy="1353312"/>
          </a:xfrm>
          <a:prstGeom prst="roundRect">
            <a:avLst>
              <a:gd name="adj" fmla="val 5405"/>
            </a:avLst>
          </a:prstGeom>
          <a:solidFill>
            <a:schemeClr val="bg2"/>
          </a:solidFill>
          <a:ln/>
        </p:spPr>
      </p:sp>
      <p:sp>
        <p:nvSpPr>
          <p:cNvPr id="14" name="Text 12"/>
          <p:cNvSpPr txBox="1"/>
          <p:nvPr/>
        </p:nvSpPr>
        <p:spPr>
          <a:xfrm>
            <a:off x="713232" y="4663440"/>
            <a:ext cx="5486400" cy="256032"/>
          </a:xfrm>
          <a:prstGeom prst="rect">
            <a:avLst/>
          </a:prstGeom>
          <a:noFill/>
          <a:ln/>
        </p:spPr>
        <p:txBody>
          <a:bodyPr wrap="square" lIns="0" tIns="0" rIns="0" bIns="0" rtlCol="0" anchor="ctr"/>
          <a:lstStyle/>
          <a:p>
            <a:pPr marL="0" indent="0">
              <a:buNone/>
            </a:pPr>
            <a:r>
              <a:rPr lang="en-US" sz="1000" b="1" kern="0" spc="100" dirty="0">
                <a:solidFill>
                  <a:schemeClr val="accent1"/>
                </a:solidFill>
              </a:rPr>
              <a:t>OPEN QUESTIONS THIS BRIEF RAISES</a:t>
            </a:r>
            <a:endParaRPr lang="en-US" sz="1000" dirty="0"/>
          </a:p>
        </p:txBody>
      </p:sp>
      <p:sp>
        <p:nvSpPr>
          <p:cNvPr id="15" name="Text 13"/>
          <p:cNvSpPr txBox="1"/>
          <p:nvPr/>
        </p:nvSpPr>
        <p:spPr>
          <a:xfrm>
            <a:off x="713232" y="4956048"/>
            <a:ext cx="3474720" cy="457200"/>
          </a:xfrm>
          <a:prstGeom prst="rect">
            <a:avLst/>
          </a:prstGeom>
          <a:noFill/>
          <a:ln/>
        </p:spPr>
        <p:txBody>
          <a:bodyPr wrap="square" lIns="0" tIns="0" rIns="0" bIns="0" rtlCol="0" anchor="t"/>
          <a:lstStyle/>
          <a:p>
            <a:pPr marL="0" indent="0">
              <a:buNone/>
            </a:pPr>
            <a:r>
              <a:rPr lang="en-US" sz="1100" dirty="0">
                <a:solidFill>
                  <a:schemeClr val="tx1"/>
                </a:solidFill>
              </a:rPr>
              <a:t>1  What share of market-level loss arises in transit, in waiting, and in handling?</a:t>
            </a:r>
            <a:endParaRPr lang="en-US" sz="1100" dirty="0"/>
          </a:p>
        </p:txBody>
      </p:sp>
      <p:sp>
        <p:nvSpPr>
          <p:cNvPr id="16" name="Text 14"/>
          <p:cNvSpPr txBox="1"/>
          <p:nvPr/>
        </p:nvSpPr>
        <p:spPr>
          <a:xfrm>
            <a:off x="4325112" y="4956048"/>
            <a:ext cx="3474720" cy="457200"/>
          </a:xfrm>
          <a:prstGeom prst="rect">
            <a:avLst/>
          </a:prstGeom>
          <a:noFill/>
          <a:ln/>
        </p:spPr>
        <p:txBody>
          <a:bodyPr wrap="square" lIns="0" tIns="0" rIns="0" bIns="0" rtlCol="0" anchor="t"/>
          <a:lstStyle/>
          <a:p>
            <a:pPr marL="0" indent="0">
              <a:buNone/>
            </a:pPr>
            <a:r>
              <a:rPr lang="en-US" sz="1100" dirty="0">
                <a:solidFill>
                  <a:schemeClr val="tx1"/>
                </a:solidFill>
              </a:rPr>
              <a:t>2  How does it vary with distance, season (summer heat, monsoon) and region?</a:t>
            </a:r>
            <a:endParaRPr lang="en-US" sz="1100" dirty="0"/>
          </a:p>
        </p:txBody>
      </p:sp>
      <p:sp>
        <p:nvSpPr>
          <p:cNvPr id="17" name="Text 15"/>
          <p:cNvSpPr txBox="1"/>
          <p:nvPr/>
        </p:nvSpPr>
        <p:spPr>
          <a:xfrm>
            <a:off x="713232" y="5431536"/>
            <a:ext cx="3474720" cy="457200"/>
          </a:xfrm>
          <a:prstGeom prst="rect">
            <a:avLst/>
          </a:prstGeom>
          <a:noFill/>
          <a:ln/>
        </p:spPr>
        <p:txBody>
          <a:bodyPr wrap="square" lIns="0" tIns="0" rIns="0" bIns="0" rtlCol="0" anchor="t"/>
          <a:lstStyle/>
          <a:p>
            <a:pPr marL="0" indent="0">
              <a:buNone/>
            </a:pPr>
            <a:r>
              <a:rPr lang="en-US" sz="1100" dirty="0">
                <a:solidFill>
                  <a:schemeClr val="tx1"/>
                </a:solidFill>
              </a:rPr>
              <a:t>3  How often do loads arrive into a glut, and could that have been known at dispatch?</a:t>
            </a:r>
            <a:endParaRPr lang="en-US" sz="1100" dirty="0"/>
          </a:p>
        </p:txBody>
      </p:sp>
      <p:sp>
        <p:nvSpPr>
          <p:cNvPr id="18" name="Text 16"/>
          <p:cNvSpPr txBox="1"/>
          <p:nvPr/>
        </p:nvSpPr>
        <p:spPr>
          <a:xfrm>
            <a:off x="4325112" y="5431536"/>
            <a:ext cx="3474720" cy="457200"/>
          </a:xfrm>
          <a:prstGeom prst="rect">
            <a:avLst/>
          </a:prstGeom>
          <a:noFill/>
          <a:ln/>
        </p:spPr>
        <p:txBody>
          <a:bodyPr wrap="square" lIns="0" tIns="0" rIns="0" bIns="0" rtlCol="0" anchor="t"/>
          <a:lstStyle/>
          <a:p>
            <a:pPr marL="0" indent="0">
              <a:buNone/>
            </a:pPr>
            <a:r>
              <a:rPr lang="en-US" sz="1100" dirty="0">
                <a:solidFill>
                  <a:schemeClr val="tx1"/>
                </a:solidFill>
              </a:rPr>
              <a:t>4  Which crops are most sensitive to delay, and which to heat?</a:t>
            </a:r>
            <a:endParaRPr lang="en-US" sz="1100" dirty="0"/>
          </a:p>
        </p:txBody>
      </p:sp>
      <p:sp>
        <p:nvSpPr>
          <p:cNvPr id="19" name="Caveat box"/>
          <p:cNvSpPr/>
          <p:nvPr/>
        </p:nvSpPr>
        <p:spPr>
          <a:xfrm>
            <a:off x="8092440" y="4590288"/>
            <a:ext cx="3547872" cy="1353312"/>
          </a:xfrm>
          <a:prstGeom prst="roundRect">
            <a:avLst>
              <a:gd name="adj" fmla="val 5405"/>
            </a:avLst>
          </a:prstGeom>
          <a:solidFill>
            <a:schemeClr val="tx2"/>
          </a:solidFill>
          <a:ln/>
        </p:spPr>
      </p:sp>
      <p:sp>
        <p:nvSpPr>
          <p:cNvPr id="20" name="Text 18"/>
          <p:cNvSpPr txBox="1"/>
          <p:nvPr/>
        </p:nvSpPr>
        <p:spPr>
          <a:xfrm>
            <a:off x="8275320" y="4663440"/>
            <a:ext cx="3200400" cy="1207008"/>
          </a:xfrm>
          <a:prstGeom prst="rect">
            <a:avLst/>
          </a:prstGeom>
          <a:noFill/>
          <a:ln/>
        </p:spPr>
        <p:txBody>
          <a:bodyPr wrap="square" lIns="0" tIns="0" rIns="0" bIns="0" rtlCol="0" anchor="ctr"/>
          <a:lstStyle/>
          <a:p>
            <a:pPr marL="0" indent="0">
              <a:buNone/>
            </a:pPr>
            <a:r>
              <a:rPr lang="en-US" sz="1350" i="1" dirty="0">
                <a:solidFill>
                  <a:schemeClr val="bg1"/>
                </a:solidFill>
                <a:latin typeface="Cambria" pitchFamily="34" charset="0"/>
                <a:ea typeface="Cambria" pitchFamily="34" charset="-122"/>
                <a:cs typeface="Cambria" pitchFamily="34" charset="-120"/>
              </a:rPr>
              <a:t>Scarce data shows the problem is under-measured, not that it is large. Its size in transit has to be established, not assumed.</a:t>
            </a:r>
            <a:endParaRPr lang="en-US" sz="1350" dirty="0"/>
          </a:p>
        </p:txBody>
      </p:sp>
      <p:sp>
        <p:nvSpPr>
          <p:cNvPr id="21"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[1] NABCONS 2022; [3] WRI India 2024; [8] PIB 2026; [9] agmarknet.gov.in; [13] Awad et al. 2021; [14] CGST Rules 2017, r.138(14)(e) with Notif. 2/2017-CT(Rate) Schedule (fresh fruits &amp; vegetables exempt); [15] team research blueprint, data-availability audit (internal).</a:t>
            </a:r>
            <a:endParaRPr lang="en-US" sz="950" dirty="0"/>
          </a:p>
        </p:txBody>
      </p:sp>
      <p:sp>
        <p:nvSpPr>
          <p:cNvPr id="25"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09  ·  WHY IT IS WORTH SOLVING</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Why this problem deserves investigation now</a:t>
            </a:r>
            <a:endParaRPr lang="en-US" sz="2600" dirty="0"/>
          </a:p>
        </p:txBody>
      </p:sp>
      <p:sp>
        <p:nvSpPr>
          <p:cNvPr id="4" name="Reason 1"/>
          <p:cNvSpPr/>
          <p:nvPr/>
        </p:nvSpPr>
        <p:spPr>
          <a:xfrm>
            <a:off x="548640" y="1572768"/>
            <a:ext cx="2601468" cy="2697480"/>
          </a:xfrm>
          <a:prstGeom prst="roundRect">
            <a:avLst>
              <a:gd name="adj" fmla="val 2812"/>
            </a:avLst>
          </a:prstGeom>
          <a:solidFill>
            <a:schemeClr val="bg2"/>
          </a:solidFill>
          <a:ln/>
        </p:spPr>
      </p:sp>
      <p:sp>
        <p:nvSpPr>
          <p:cNvPr id="5" name="It is meaningful circle"/>
          <p:cNvSpPr/>
          <p:nvPr/>
        </p:nvSpPr>
        <p:spPr>
          <a:xfrm>
            <a:off x="749808" y="1755648"/>
            <a:ext cx="530352" cy="530352"/>
          </a:xfrm>
          <a:prstGeom prst="ellipse">
            <a:avLst/>
          </a:prstGeom>
          <a:solidFill>
            <a:schemeClr val="accent1"/>
          </a:solidFill>
          <a:ln/>
        </p:spPr>
      </p:sp>
      <p:pic>
        <p:nvPicPr>
          <p:cNvPr id="6" name="It is meaningful icon" descr="preencoded.png"/>
          <p:cNvPicPr>
            <a:picLocks noChangeAspect="1"/>
          </p:cNvPicPr>
          <p:nvPr/>
        </p:nvPicPr>
        <p:blipFill>
          <a:blip r:embed="rId3"/>
          <a:stretch>
            <a:fillRect/>
          </a:stretch>
        </p:blipFill>
        <p:spPr>
          <a:xfrm>
            <a:off x="882396" y="1888236"/>
            <a:ext cx="265176" cy="265176"/>
          </a:xfrm>
          <a:prstGeom prst="rect">
            <a:avLst/>
          </a:prstGeom>
        </p:spPr>
      </p:pic>
      <p:sp>
        <p:nvSpPr>
          <p:cNvPr id="7" name="Text 4"/>
          <p:cNvSpPr txBox="1"/>
          <p:nvPr/>
        </p:nvSpPr>
        <p:spPr>
          <a:xfrm>
            <a:off x="749808" y="2377440"/>
            <a:ext cx="2235708" cy="566928"/>
          </a:xfrm>
          <a:prstGeom prst="rect">
            <a:avLst/>
          </a:prstGeom>
          <a:noFill/>
          <a:ln/>
        </p:spPr>
        <p:txBody>
          <a:bodyPr wrap="square" lIns="0" tIns="0" rIns="0" bIns="0" rtlCol="0" anchor="t"/>
          <a:lstStyle/>
          <a:p>
            <a:pPr marL="0" indent="0">
              <a:buNone/>
            </a:pPr>
            <a:r>
              <a:rPr lang="en-US" sz="1500" b="1" dirty="0">
                <a:solidFill>
                  <a:schemeClr val="tx2"/>
                </a:solidFill>
              </a:rPr>
              <a:t>It is meaningful</a:t>
            </a:r>
            <a:endParaRPr lang="en-US" sz="1500" dirty="0"/>
          </a:p>
        </p:txBody>
      </p:sp>
      <p:sp>
        <p:nvSpPr>
          <p:cNvPr id="8" name="Text 5"/>
          <p:cNvSpPr txBox="1"/>
          <p:nvPr/>
        </p:nvSpPr>
        <p:spPr>
          <a:xfrm>
            <a:off x="749808" y="2999232"/>
            <a:ext cx="2217420" cy="1234440"/>
          </a:xfrm>
          <a:prstGeom prst="rect">
            <a:avLst/>
          </a:prstGeom>
          <a:noFill/>
          <a:ln/>
        </p:spPr>
        <p:txBody>
          <a:bodyPr wrap="square" lIns="0" tIns="0" rIns="0" bIns="0" rtlCol="0" anchor="t"/>
          <a:lstStyle/>
          <a:p>
            <a:pPr marL="0" indent="0">
              <a:buNone/>
            </a:pPr>
            <a:r>
              <a:rPr lang="en-US" sz="1150" dirty="0">
                <a:solidFill>
                  <a:schemeClr val="tx1"/>
                </a:solidFill>
              </a:rPr>
              <a:t>F&amp;V lose 19.3 Mt a year, and most lose three to six times more than grains at the market stage [1]; farmers keep about a third of the consumer price [5].</a:t>
            </a:r>
            <a:endParaRPr lang="en-US" sz="1150" dirty="0"/>
          </a:p>
        </p:txBody>
      </p:sp>
      <p:sp>
        <p:nvSpPr>
          <p:cNvPr id="9" name="Reason 2"/>
          <p:cNvSpPr/>
          <p:nvPr/>
        </p:nvSpPr>
        <p:spPr>
          <a:xfrm>
            <a:off x="3378708" y="1572768"/>
            <a:ext cx="2601468" cy="2697480"/>
          </a:xfrm>
          <a:prstGeom prst="roundRect">
            <a:avLst>
              <a:gd name="adj" fmla="val 2812"/>
            </a:avLst>
          </a:prstGeom>
          <a:solidFill>
            <a:schemeClr val="bg2"/>
          </a:solidFill>
          <a:ln/>
        </p:spPr>
      </p:sp>
      <p:sp>
        <p:nvSpPr>
          <p:cNvPr id="10" name="Many gain from understanding it circle"/>
          <p:cNvSpPr/>
          <p:nvPr/>
        </p:nvSpPr>
        <p:spPr>
          <a:xfrm>
            <a:off x="3579876" y="1755648"/>
            <a:ext cx="530352" cy="530352"/>
          </a:xfrm>
          <a:prstGeom prst="ellipse">
            <a:avLst/>
          </a:prstGeom>
          <a:solidFill>
            <a:schemeClr val="accent1"/>
          </a:solidFill>
          <a:ln/>
        </p:spPr>
      </p:sp>
      <p:pic>
        <p:nvPicPr>
          <p:cNvPr id="11" name="Many gain from understanding it icon" descr="preencoded.png"/>
          <p:cNvPicPr>
            <a:picLocks noChangeAspect="1"/>
          </p:cNvPicPr>
          <p:nvPr/>
        </p:nvPicPr>
        <p:blipFill>
          <a:blip r:embed="rId4"/>
          <a:stretch>
            <a:fillRect/>
          </a:stretch>
        </p:blipFill>
        <p:spPr>
          <a:xfrm>
            <a:off x="3712464" y="1888236"/>
            <a:ext cx="265176" cy="265176"/>
          </a:xfrm>
          <a:prstGeom prst="rect">
            <a:avLst/>
          </a:prstGeom>
        </p:spPr>
      </p:pic>
      <p:sp>
        <p:nvSpPr>
          <p:cNvPr id="12" name="Text 8"/>
          <p:cNvSpPr txBox="1"/>
          <p:nvPr/>
        </p:nvSpPr>
        <p:spPr>
          <a:xfrm>
            <a:off x="3579876" y="2377440"/>
            <a:ext cx="2235708" cy="566928"/>
          </a:xfrm>
          <a:prstGeom prst="rect">
            <a:avLst/>
          </a:prstGeom>
          <a:noFill/>
          <a:ln/>
        </p:spPr>
        <p:txBody>
          <a:bodyPr wrap="square" lIns="0" tIns="0" rIns="0" bIns="0" rtlCol="0" anchor="t"/>
          <a:lstStyle/>
          <a:p>
            <a:pPr marL="0" indent="0">
              <a:buNone/>
            </a:pPr>
            <a:r>
              <a:rPr lang="en-US" sz="1500" b="1" dirty="0">
                <a:solidFill>
                  <a:schemeClr val="tx2"/>
                </a:solidFill>
              </a:rPr>
              <a:t>Many gain from understanding it</a:t>
            </a:r>
            <a:endParaRPr lang="en-US" sz="1500" dirty="0"/>
          </a:p>
        </p:txBody>
      </p:sp>
      <p:sp>
        <p:nvSpPr>
          <p:cNvPr id="13" name="Text 9"/>
          <p:cNvSpPr txBox="1"/>
          <p:nvPr/>
        </p:nvSpPr>
        <p:spPr>
          <a:xfrm>
            <a:off x="3579876" y="2999232"/>
            <a:ext cx="2217420" cy="1234440"/>
          </a:xfrm>
          <a:prstGeom prst="rect">
            <a:avLst/>
          </a:prstGeom>
          <a:noFill/>
          <a:ln/>
        </p:spPr>
        <p:txBody>
          <a:bodyPr wrap="square" lIns="0" tIns="0" rIns="0" bIns="0" rtlCol="0" anchor="t"/>
          <a:lstStyle/>
          <a:p>
            <a:pPr marL="0" indent="0">
              <a:buNone/>
            </a:pPr>
            <a:r>
              <a:rPr lang="en-US" sz="1150" dirty="0">
                <a:solidFill>
                  <a:schemeClr val="tx1"/>
                </a:solidFill>
              </a:rPr>
              <a:t>Farmers and FPOs who absorb downgrades, the dispatchers who choose markets, receiving traders, and agencies planning cold-chain and market investment [4].</a:t>
            </a:r>
            <a:endParaRPr lang="en-US" sz="1150" dirty="0"/>
          </a:p>
        </p:txBody>
      </p:sp>
      <p:sp>
        <p:nvSpPr>
          <p:cNvPr id="14" name="Reason 3"/>
          <p:cNvSpPr/>
          <p:nvPr/>
        </p:nvSpPr>
        <p:spPr>
          <a:xfrm>
            <a:off x="6208776" y="1572768"/>
            <a:ext cx="2601468" cy="2697480"/>
          </a:xfrm>
          <a:prstGeom prst="roundRect">
            <a:avLst>
              <a:gd name="adj" fmla="val 2812"/>
            </a:avLst>
          </a:prstGeom>
          <a:solidFill>
            <a:schemeClr val="bg2"/>
          </a:solidFill>
          <a:ln/>
        </p:spPr>
      </p:sp>
      <p:sp>
        <p:nvSpPr>
          <p:cNvPr id="15" name="The gaps are real circle"/>
          <p:cNvSpPr/>
          <p:nvPr/>
        </p:nvSpPr>
        <p:spPr>
          <a:xfrm>
            <a:off x="6409944" y="1755648"/>
            <a:ext cx="530352" cy="530352"/>
          </a:xfrm>
          <a:prstGeom prst="ellipse">
            <a:avLst/>
          </a:prstGeom>
          <a:solidFill>
            <a:schemeClr val="accent1"/>
          </a:solidFill>
          <a:ln/>
        </p:spPr>
      </p:sp>
      <p:pic>
        <p:nvPicPr>
          <p:cNvPr id="16" name="The gaps are real icon" descr="preencoded.png"/>
          <p:cNvPicPr>
            <a:picLocks noChangeAspect="1"/>
          </p:cNvPicPr>
          <p:nvPr/>
        </p:nvPicPr>
        <p:blipFill>
          <a:blip r:embed="rId5"/>
          <a:stretch>
            <a:fillRect/>
          </a:stretch>
        </p:blipFill>
        <p:spPr>
          <a:xfrm>
            <a:off x="6542532" y="1888236"/>
            <a:ext cx="265176" cy="265176"/>
          </a:xfrm>
          <a:prstGeom prst="rect">
            <a:avLst/>
          </a:prstGeom>
        </p:spPr>
      </p:pic>
      <p:sp>
        <p:nvSpPr>
          <p:cNvPr id="17" name="Text 12"/>
          <p:cNvSpPr txBox="1"/>
          <p:nvPr/>
        </p:nvSpPr>
        <p:spPr>
          <a:xfrm>
            <a:off x="6409944" y="2377440"/>
            <a:ext cx="2235708" cy="566928"/>
          </a:xfrm>
          <a:prstGeom prst="rect">
            <a:avLst/>
          </a:prstGeom>
          <a:noFill/>
          <a:ln/>
        </p:spPr>
        <p:txBody>
          <a:bodyPr wrap="square" lIns="0" tIns="0" rIns="0" bIns="0" rtlCol="0" anchor="t"/>
          <a:lstStyle/>
          <a:p>
            <a:pPr marL="0" indent="0">
              <a:buNone/>
            </a:pPr>
            <a:r>
              <a:rPr lang="en-US" sz="1500" b="1" dirty="0">
                <a:solidFill>
                  <a:schemeClr val="tx2"/>
                </a:solidFill>
              </a:rPr>
              <a:t>The gaps are real</a:t>
            </a:r>
            <a:endParaRPr lang="en-US" sz="1500" dirty="0"/>
          </a:p>
        </p:txBody>
      </p:sp>
      <p:sp>
        <p:nvSpPr>
          <p:cNvPr id="18" name="Text 13"/>
          <p:cNvSpPr txBox="1"/>
          <p:nvPr/>
        </p:nvSpPr>
        <p:spPr>
          <a:xfrm>
            <a:off x="6409944" y="2999232"/>
            <a:ext cx="2217420" cy="1234440"/>
          </a:xfrm>
          <a:prstGeom prst="rect">
            <a:avLst/>
          </a:prstGeom>
          <a:noFill/>
          <a:ln/>
        </p:spPr>
        <p:txBody>
          <a:bodyPr wrap="square" lIns="0" tIns="0" rIns="0" bIns="0" rtlCol="0" anchor="t"/>
          <a:lstStyle/>
          <a:p>
            <a:pPr marL="0" indent="0">
              <a:buNone/>
            </a:pPr>
            <a:r>
              <a:rPr lang="en-US" sz="1150" dirty="0">
                <a:solidFill>
                  <a:schemeClr val="tx1"/>
                </a:solidFill>
              </a:rPr>
              <a:t>Transit outcomes are not in public data, quality-aware dynamic routing is an open research question, and we found no published study of how dispatchers decide (slide 9).</a:t>
            </a:r>
            <a:endParaRPr lang="en-US" sz="1150" dirty="0"/>
          </a:p>
        </p:txBody>
      </p:sp>
      <p:sp>
        <p:nvSpPr>
          <p:cNvPr id="19" name="Reason 4"/>
          <p:cNvSpPr/>
          <p:nvPr/>
        </p:nvSpPr>
        <p:spPr>
          <a:xfrm>
            <a:off x="9038844" y="1572768"/>
            <a:ext cx="2601468" cy="2697480"/>
          </a:xfrm>
          <a:prstGeom prst="roundRect">
            <a:avLst>
              <a:gd name="adj" fmla="val 2812"/>
            </a:avLst>
          </a:prstGeom>
          <a:solidFill>
            <a:schemeClr val="bg2"/>
          </a:solidFill>
          <a:ln/>
        </p:spPr>
      </p:sp>
      <p:sp>
        <p:nvSpPr>
          <p:cNvPr id="20" name="It is specific and researchable circle"/>
          <p:cNvSpPr/>
          <p:nvPr/>
        </p:nvSpPr>
        <p:spPr>
          <a:xfrm>
            <a:off x="9240012" y="1755648"/>
            <a:ext cx="530352" cy="530352"/>
          </a:xfrm>
          <a:prstGeom prst="ellipse">
            <a:avLst/>
          </a:prstGeom>
          <a:solidFill>
            <a:schemeClr val="accent1"/>
          </a:solidFill>
          <a:ln/>
        </p:spPr>
      </p:sp>
      <p:pic>
        <p:nvPicPr>
          <p:cNvPr id="21" name="It is specific and researchable icon" descr="preencoded.png"/>
          <p:cNvPicPr>
            <a:picLocks noChangeAspect="1"/>
          </p:cNvPicPr>
          <p:nvPr/>
        </p:nvPicPr>
        <p:blipFill>
          <a:blip r:embed="rId6"/>
          <a:stretch>
            <a:fillRect/>
          </a:stretch>
        </p:blipFill>
        <p:spPr>
          <a:xfrm>
            <a:off x="9372600" y="1888236"/>
            <a:ext cx="265176" cy="265176"/>
          </a:xfrm>
          <a:prstGeom prst="rect">
            <a:avLst/>
          </a:prstGeom>
        </p:spPr>
      </p:pic>
      <p:sp>
        <p:nvSpPr>
          <p:cNvPr id="22" name="Text 16"/>
          <p:cNvSpPr txBox="1"/>
          <p:nvPr/>
        </p:nvSpPr>
        <p:spPr>
          <a:xfrm>
            <a:off x="9240012" y="2377440"/>
            <a:ext cx="2235708" cy="566928"/>
          </a:xfrm>
          <a:prstGeom prst="rect">
            <a:avLst/>
          </a:prstGeom>
          <a:noFill/>
          <a:ln/>
        </p:spPr>
        <p:txBody>
          <a:bodyPr wrap="square" lIns="0" tIns="0" rIns="0" bIns="0" rtlCol="0" anchor="t"/>
          <a:lstStyle/>
          <a:p>
            <a:pPr marL="0" indent="0">
              <a:buNone/>
            </a:pPr>
            <a:r>
              <a:rPr lang="en-US" sz="1500" b="1" dirty="0">
                <a:solidFill>
                  <a:schemeClr val="tx2"/>
                </a:solidFill>
              </a:rPr>
              <a:t>It is specific and researchable</a:t>
            </a:r>
            <a:endParaRPr lang="en-US" sz="1500" dirty="0"/>
          </a:p>
        </p:txBody>
      </p:sp>
      <p:sp>
        <p:nvSpPr>
          <p:cNvPr id="23" name="Text 17"/>
          <p:cNvSpPr txBox="1"/>
          <p:nvPr/>
        </p:nvSpPr>
        <p:spPr>
          <a:xfrm>
            <a:off x="9240012" y="2999232"/>
            <a:ext cx="2217420" cy="1234440"/>
          </a:xfrm>
          <a:prstGeom prst="rect">
            <a:avLst/>
          </a:prstGeom>
          <a:noFill/>
          <a:ln/>
        </p:spPr>
        <p:txBody>
          <a:bodyPr wrap="square" lIns="0" tIns="0" rIns="0" bIns="0" rtlCol="0" anchor="t"/>
          <a:lstStyle/>
          <a:p>
            <a:pPr marL="0" indent="0">
              <a:buNone/>
            </a:pPr>
            <a:r>
              <a:rPr lang="en-US" sz="1150" dirty="0">
                <a:solidFill>
                  <a:schemeClr val="tx1"/>
                </a:solidFill>
              </a:rPr>
              <a:t>Bounded by crop (highly perishable F&amp;V), leg (mandi to receiving market) and mode (ambient road), and testable with public market data plus field measurement.</a:t>
            </a:r>
            <a:endParaRPr lang="en-US" sz="1150" dirty="0"/>
          </a:p>
        </p:txBody>
      </p:sp>
      <p:sp>
        <p:nvSpPr>
          <p:cNvPr id="24" name="Closing statement"/>
          <p:cNvSpPr/>
          <p:nvPr/>
        </p:nvSpPr>
        <p:spPr>
          <a:xfrm>
            <a:off x="548640" y="4462272"/>
            <a:ext cx="11091672" cy="1481328"/>
          </a:xfrm>
          <a:prstGeom prst="roundRect">
            <a:avLst>
              <a:gd name="adj" fmla="val 4938"/>
            </a:avLst>
          </a:prstGeom>
          <a:solidFill>
            <a:schemeClr val="tx2"/>
          </a:solidFill>
          <a:ln/>
        </p:spPr>
      </p:sp>
      <p:sp>
        <p:nvSpPr>
          <p:cNvPr id="25" name="Text 19"/>
          <p:cNvSpPr txBox="1"/>
          <p:nvPr/>
        </p:nvSpPr>
        <p:spPr>
          <a:xfrm>
            <a:off x="822960" y="4572000"/>
            <a:ext cx="5486400" cy="256032"/>
          </a:xfrm>
          <a:prstGeom prst="rect">
            <a:avLst/>
          </a:prstGeom>
          <a:noFill/>
          <a:ln/>
        </p:spPr>
        <p:txBody>
          <a:bodyPr wrap="square" lIns="0" tIns="0" rIns="0" bIns="0" rtlCol="0" anchor="ctr"/>
          <a:lstStyle/>
          <a:p>
            <a:pPr marL="0" indent="0">
              <a:buNone/>
            </a:pPr>
            <a:r>
              <a:rPr lang="en-US" sz="1000" b="1" kern="0" spc="200" dirty="0">
                <a:solidFill>
                  <a:schemeClr val="accent2"/>
                </a:solidFill>
              </a:rPr>
              <a:t>THE PROBLEM IN ONE SENTENCE</a:t>
            </a:r>
            <a:endParaRPr lang="en-US" sz="1000" dirty="0"/>
          </a:p>
        </p:txBody>
      </p:sp>
      <p:sp>
        <p:nvSpPr>
          <p:cNvPr id="26" name="Text 20"/>
          <p:cNvSpPr txBox="1"/>
          <p:nvPr/>
        </p:nvSpPr>
        <p:spPr>
          <a:xfrm>
            <a:off x="822960" y="4846320"/>
            <a:ext cx="10561320" cy="1005840"/>
          </a:xfrm>
          <a:prstGeom prst="rect">
            <a:avLst/>
          </a:prstGeom>
          <a:noFill/>
          <a:ln/>
        </p:spPr>
        <p:txBody>
          <a:bodyPr wrap="square" lIns="0" tIns="0" rIns="0" bIns="0" rtlCol="0" anchor="ctr"/>
          <a:lstStyle/>
          <a:p>
            <a:pPr marL="0" indent="0">
              <a:buNone/>
            </a:pPr>
            <a:r>
              <a:rPr lang="en-US" sz="1800" i="1" dirty="0">
                <a:solidFill>
                  <a:schemeClr val="bg1"/>
                </a:solidFill>
                <a:latin typeface="Cambria" pitchFamily="34" charset="0"/>
                <a:ea typeface="Cambria" pitchFamily="34" charset="-122"/>
                <a:cs typeface="Cambria" pitchFamily="34" charset="-120"/>
              </a:rPr>
              <a:t>In India, perishable fruit and vegetables lose value on the road between mandi and market: a stretch that is rarely refrigerated, rarely measured, and little studied from the point of view of the people who dispatch the load.</a:t>
            </a:r>
            <a:endParaRPr lang="en-US" sz="1800" dirty="0"/>
          </a:p>
        </p:txBody>
      </p:sp>
      <p:sp>
        <p:nvSpPr>
          <p:cNvPr id="27"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[1] NABCONS 2022 via PIB 2025; [4] NCCD 2015; [5] RBI WPS 08/2024. Our next discovery step is to check the primary-user hypothesis directly with dispatchers.</a:t>
            </a:r>
            <a:endParaRPr lang="en-US" sz="950" dirty="0"/>
          </a:p>
        </p:txBody>
      </p:sp>
      <p:sp>
        <p:nvSpPr>
          <p:cNvPr id="28"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REFERENCES</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Sources, numbered as cited on each slide (1/2)</a:t>
            </a:r>
            <a:endParaRPr lang="en-US" sz="2600" dirty="0"/>
          </a:p>
        </p:txBody>
      </p:sp>
      <p:sp>
        <p:nvSpPr>
          <p:cNvPr id="4" name="Text 2"/>
          <p:cNvSpPr txBox="1"/>
          <p:nvPr/>
        </p:nvSpPr>
        <p:spPr>
          <a:xfrm>
            <a:off x="548640" y="1536192"/>
            <a:ext cx="502920" cy="493776"/>
          </a:xfrm>
          <a:prstGeom prst="rect">
            <a:avLst/>
          </a:prstGeom>
          <a:noFill/>
          <a:ln/>
        </p:spPr>
        <p:txBody>
          <a:bodyPr wrap="square" lIns="0" tIns="0" rIns="0" bIns="0" rtlCol="0" anchor="t"/>
          <a:lstStyle/>
          <a:p>
            <a:pPr marL="0" indent="0">
              <a:buNone/>
            </a:pPr>
            <a:r>
              <a:rPr lang="en-US" sz="1100" b="1" dirty="0">
                <a:solidFill>
                  <a:schemeClr val="accent1"/>
                </a:solidFill>
              </a:rPr>
              <a:t>[1]</a:t>
            </a:r>
            <a:endParaRPr lang="en-US" sz="1100" dirty="0"/>
          </a:p>
        </p:txBody>
      </p:sp>
      <p:sp>
        <p:nvSpPr>
          <p:cNvPr id="5" name="Text 3"/>
          <p:cNvSpPr txBox="1"/>
          <p:nvPr/>
        </p:nvSpPr>
        <p:spPr>
          <a:xfrm>
            <a:off x="1051560" y="1536192"/>
            <a:ext cx="8641080" cy="493776"/>
          </a:xfrm>
          <a:prstGeom prst="rect">
            <a:avLst/>
          </a:prstGeom>
          <a:noFill/>
          <a:ln/>
        </p:spPr>
        <p:txBody>
          <a:bodyPr wrap="square" lIns="0" tIns="0" rIns="0" bIns="0" rtlCol="0" anchor="t"/>
          <a:lstStyle/>
          <a:p>
            <a:pPr marL="0" indent="0">
              <a:buNone/>
            </a:pPr>
            <a:r>
              <a:rPr lang="en-US" sz="1000" dirty="0">
                <a:solidFill>
                  <a:schemeClr val="tx1"/>
                </a:solidFill>
              </a:rPr>
              <a:t>NABARD Consultancy Services (NABCONS) for Ministry of Food Processing Industries (2022). Study to Determine Post-Harvest Losses of Agri Produces in India (ref. period 2020–22). Figures as tabled in Rajya Sabha, PIB release ID 2151371, 1 Aug 2025, Annexures I–II. </a:t>
            </a:r>
            <a:r>
              <a:rPr lang="en-US" sz="1000" u="sng" dirty="0">
                <a:solidFill>
                  <a:schemeClr val="accent1"/>
                </a:solidFill>
                <a:hlinkClick r:id="rId3">
                  <a:extLst>
                    <a:ext uri="{A12FA001-AC4F-418D-AE19-62706E023703}">
                      <ahyp:hlinkClr xmlns:ahyp="http://schemas.microsoft.com/office/drawing/2018/hyperlinkcolor" val="tx"/>
                    </a:ext>
                  </a:extLst>
                </a:hlinkClick>
              </a:rPr>
              <a:t>https://www.pib.gov.in/PressReleasePage.aspx?PRID=2151371</a:t>
            </a:r>
            <a:endParaRPr lang="en-US" sz="1000" dirty="0"/>
          </a:p>
        </p:txBody>
      </p:sp>
      <p:sp>
        <p:nvSpPr>
          <p:cNvPr id="6" name="Text 4"/>
          <p:cNvSpPr txBox="1"/>
          <p:nvPr/>
        </p:nvSpPr>
        <p:spPr>
          <a:xfrm>
            <a:off x="9829800" y="1536192"/>
            <a:ext cx="1810512" cy="493776"/>
          </a:xfrm>
          <a:prstGeom prst="rect">
            <a:avLst/>
          </a:prstGeom>
          <a:noFill/>
          <a:ln/>
        </p:spPr>
        <p:txBody>
          <a:bodyPr wrap="square" lIns="0" tIns="0" rIns="0" bIns="0" rtlCol="0" anchor="t"/>
          <a:lstStyle/>
          <a:p>
            <a:pPr marL="0" indent="0">
              <a:buNone/>
            </a:pPr>
            <a:r>
              <a:rPr lang="en-US" sz="1000" i="1" dirty="0">
                <a:solidFill>
                  <a:schemeClr val="accent5"/>
                </a:solidFill>
              </a:rPr>
              <a:t>Slides 1, 3, 4, 6, 8, 9, 10</a:t>
            </a:r>
            <a:endParaRPr lang="en-US" sz="1000" dirty="0"/>
          </a:p>
        </p:txBody>
      </p:sp>
      <p:sp>
        <p:nvSpPr>
          <p:cNvPr id="7" name="Text 5"/>
          <p:cNvSpPr txBox="1"/>
          <p:nvPr/>
        </p:nvSpPr>
        <p:spPr>
          <a:xfrm>
            <a:off x="548640" y="2084832"/>
            <a:ext cx="502920" cy="493776"/>
          </a:xfrm>
          <a:prstGeom prst="rect">
            <a:avLst/>
          </a:prstGeom>
          <a:noFill/>
          <a:ln/>
        </p:spPr>
        <p:txBody>
          <a:bodyPr wrap="square" lIns="0" tIns="0" rIns="0" bIns="0" rtlCol="0" anchor="t"/>
          <a:lstStyle/>
          <a:p>
            <a:pPr marL="0" indent="0">
              <a:buNone/>
            </a:pPr>
            <a:r>
              <a:rPr lang="en-US" sz="1100" b="1" dirty="0">
                <a:solidFill>
                  <a:schemeClr val="accent1"/>
                </a:solidFill>
              </a:rPr>
              <a:t>[2]</a:t>
            </a:r>
            <a:endParaRPr lang="en-US" sz="1100" dirty="0"/>
          </a:p>
        </p:txBody>
      </p:sp>
      <p:sp>
        <p:nvSpPr>
          <p:cNvPr id="8" name="Text 6"/>
          <p:cNvSpPr txBox="1"/>
          <p:nvPr/>
        </p:nvSpPr>
        <p:spPr>
          <a:xfrm>
            <a:off x="1051560" y="2084832"/>
            <a:ext cx="8641080" cy="493776"/>
          </a:xfrm>
          <a:prstGeom prst="rect">
            <a:avLst/>
          </a:prstGeom>
          <a:noFill/>
          <a:ln/>
        </p:spPr>
        <p:txBody>
          <a:bodyPr wrap="square" lIns="0" tIns="0" rIns="0" bIns="0" rtlCol="0" anchor="t"/>
          <a:lstStyle/>
          <a:p>
            <a:pPr marL="0" indent="0">
              <a:buNone/>
            </a:pPr>
            <a:r>
              <a:rPr lang="en-US" sz="1000" dirty="0">
                <a:solidFill>
                  <a:schemeClr val="tx1"/>
                </a:solidFill>
              </a:rPr>
              <a:t>Jha, S.N. et al. / ICAR-CIPHET (2015). Assessment of Quantitative Harvest and Post-Harvest Losses of Major Crops and Commodities in India. Total loss value ₹92,651 crore, as reported in a Lok Sabha reply. </a:t>
            </a:r>
            <a:r>
              <a:rPr lang="en-US" sz="1000" u="sng" dirty="0">
                <a:solidFill>
                  <a:schemeClr val="accent1"/>
                </a:solidFill>
                <a:hlinkClick r:id="rId4">
                  <a:extLst>
                    <a:ext uri="{A12FA001-AC4F-418D-AE19-62706E023703}">
                      <ahyp:hlinkClr xmlns:ahyp="http://schemas.microsoft.com/office/drawing/2018/hyperlinkcolor" val="tx"/>
                    </a:ext>
                  </a:extLst>
                </a:hlinkClick>
              </a:rPr>
              <a:t>https://eparlib.nic.in/bitstream/123456789/706362/1/56899.pdf</a:t>
            </a:r>
            <a:endParaRPr lang="en-US" sz="1000" dirty="0"/>
          </a:p>
        </p:txBody>
      </p:sp>
      <p:sp>
        <p:nvSpPr>
          <p:cNvPr id="9" name="Text 7"/>
          <p:cNvSpPr txBox="1"/>
          <p:nvPr/>
        </p:nvSpPr>
        <p:spPr>
          <a:xfrm>
            <a:off x="9829800" y="2084832"/>
            <a:ext cx="1810512" cy="493776"/>
          </a:xfrm>
          <a:prstGeom prst="rect">
            <a:avLst/>
          </a:prstGeom>
          <a:noFill/>
          <a:ln/>
        </p:spPr>
        <p:txBody>
          <a:bodyPr wrap="square" lIns="0" tIns="0" rIns="0" bIns="0" rtlCol="0" anchor="t"/>
          <a:lstStyle/>
          <a:p>
            <a:pPr marL="0" indent="0">
              <a:buNone/>
            </a:pPr>
            <a:r>
              <a:rPr lang="en-US" sz="1000" i="1" dirty="0">
                <a:solidFill>
                  <a:schemeClr val="accent5"/>
                </a:solidFill>
              </a:rPr>
              <a:t>Slide 4 (footnote)</a:t>
            </a:r>
            <a:endParaRPr lang="en-US" sz="1000" dirty="0"/>
          </a:p>
        </p:txBody>
      </p:sp>
      <p:sp>
        <p:nvSpPr>
          <p:cNvPr id="10" name="Text 8"/>
          <p:cNvSpPr txBox="1"/>
          <p:nvPr/>
        </p:nvSpPr>
        <p:spPr>
          <a:xfrm>
            <a:off x="548640" y="2633472"/>
            <a:ext cx="502920" cy="493776"/>
          </a:xfrm>
          <a:prstGeom prst="rect">
            <a:avLst/>
          </a:prstGeom>
          <a:noFill/>
          <a:ln/>
        </p:spPr>
        <p:txBody>
          <a:bodyPr wrap="square" lIns="0" tIns="0" rIns="0" bIns="0" rtlCol="0" anchor="t"/>
          <a:lstStyle/>
          <a:p>
            <a:pPr marL="0" indent="0">
              <a:buNone/>
            </a:pPr>
            <a:r>
              <a:rPr lang="en-US" sz="1100" b="1" dirty="0">
                <a:solidFill>
                  <a:schemeClr val="accent1"/>
                </a:solidFill>
              </a:rPr>
              <a:t>[3]</a:t>
            </a:r>
            <a:endParaRPr lang="en-US" sz="1100" dirty="0"/>
          </a:p>
        </p:txBody>
      </p:sp>
      <p:sp>
        <p:nvSpPr>
          <p:cNvPr id="11" name="Text 9"/>
          <p:cNvSpPr txBox="1"/>
          <p:nvPr/>
        </p:nvSpPr>
        <p:spPr>
          <a:xfrm>
            <a:off x="1051560" y="2633472"/>
            <a:ext cx="8641080" cy="493776"/>
          </a:xfrm>
          <a:prstGeom prst="rect">
            <a:avLst/>
          </a:prstGeom>
          <a:noFill/>
          <a:ln/>
        </p:spPr>
        <p:txBody>
          <a:bodyPr wrap="square" lIns="0" tIns="0" rIns="0" bIns="0" rtlCol="0" anchor="t"/>
          <a:lstStyle/>
          <a:p>
            <a:pPr marL="0" indent="0">
              <a:buNone/>
            </a:pPr>
            <a:r>
              <a:rPr lang="en-US" sz="1000" dirty="0">
                <a:solidFill>
                  <a:schemeClr val="tx1"/>
                </a:solidFill>
              </a:rPr>
              <a:t>Lamba, S., Singh, R. &amp; Anand, S. (2024). Tomato Trail: Tracking Food Loss and Food Waste in Madhya Pradesh. Working Paper, WRI India, Sept 2024. </a:t>
            </a:r>
            <a:r>
              <a:rPr lang="en-US" sz="1000" u="sng" dirty="0">
                <a:solidFill>
                  <a:schemeClr val="accent1"/>
                </a:solidFill>
                <a:hlinkClick r:id="rId5">
                  <a:extLst>
                    <a:ext uri="{A12FA001-AC4F-418D-AE19-62706E023703}">
                      <ahyp:hlinkClr xmlns:ahyp="http://schemas.microsoft.com/office/drawing/2018/hyperlinkcolor" val="tx"/>
                    </a:ext>
                  </a:extLst>
                </a:hlinkClick>
              </a:rPr>
              <a:t>https://wri-india.org/sites/default/files/Tomato-trail-Tracking-food-loss-food-waste-Madhya-Pradesh.pdf</a:t>
            </a:r>
            <a:endParaRPr lang="en-US" sz="1000" dirty="0"/>
          </a:p>
        </p:txBody>
      </p:sp>
      <p:sp>
        <p:nvSpPr>
          <p:cNvPr id="12" name="Text 10"/>
          <p:cNvSpPr txBox="1"/>
          <p:nvPr/>
        </p:nvSpPr>
        <p:spPr>
          <a:xfrm>
            <a:off x="9829800" y="2633472"/>
            <a:ext cx="1810512" cy="493776"/>
          </a:xfrm>
          <a:prstGeom prst="rect">
            <a:avLst/>
          </a:prstGeom>
          <a:noFill/>
          <a:ln/>
        </p:spPr>
        <p:txBody>
          <a:bodyPr wrap="square" lIns="0" tIns="0" rIns="0" bIns="0" rtlCol="0" anchor="t"/>
          <a:lstStyle/>
          <a:p>
            <a:pPr marL="0" indent="0">
              <a:buNone/>
            </a:pPr>
            <a:r>
              <a:rPr lang="en-US" sz="1000" i="1" dirty="0">
                <a:solidFill>
                  <a:schemeClr val="accent5"/>
                </a:solidFill>
              </a:rPr>
              <a:t>Slides 3, 5, 6, 8, 9</a:t>
            </a:r>
            <a:endParaRPr lang="en-US" sz="1000" dirty="0"/>
          </a:p>
        </p:txBody>
      </p:sp>
      <p:sp>
        <p:nvSpPr>
          <p:cNvPr id="13" name="Text 11"/>
          <p:cNvSpPr txBox="1"/>
          <p:nvPr/>
        </p:nvSpPr>
        <p:spPr>
          <a:xfrm>
            <a:off x="548640" y="3182112"/>
            <a:ext cx="502920" cy="493776"/>
          </a:xfrm>
          <a:prstGeom prst="rect">
            <a:avLst/>
          </a:prstGeom>
          <a:noFill/>
          <a:ln/>
        </p:spPr>
        <p:txBody>
          <a:bodyPr wrap="square" lIns="0" tIns="0" rIns="0" bIns="0" rtlCol="0" anchor="t"/>
          <a:lstStyle/>
          <a:p>
            <a:pPr marL="0" indent="0">
              <a:buNone/>
            </a:pPr>
            <a:r>
              <a:rPr lang="en-US" sz="1100" b="1" dirty="0">
                <a:solidFill>
                  <a:schemeClr val="accent1"/>
                </a:solidFill>
              </a:rPr>
              <a:t>[4]</a:t>
            </a:r>
            <a:endParaRPr lang="en-US" sz="1100" dirty="0"/>
          </a:p>
        </p:txBody>
      </p:sp>
      <p:sp>
        <p:nvSpPr>
          <p:cNvPr id="14" name="Text 12"/>
          <p:cNvSpPr txBox="1"/>
          <p:nvPr/>
        </p:nvSpPr>
        <p:spPr>
          <a:xfrm>
            <a:off x="1051560" y="3182112"/>
            <a:ext cx="8641080" cy="493776"/>
          </a:xfrm>
          <a:prstGeom prst="rect">
            <a:avLst/>
          </a:prstGeom>
          <a:noFill/>
          <a:ln/>
        </p:spPr>
        <p:txBody>
          <a:bodyPr wrap="square" lIns="0" tIns="0" rIns="0" bIns="0" rtlCol="0" anchor="t"/>
          <a:lstStyle/>
          <a:p>
            <a:pPr marL="0" indent="0">
              <a:buNone/>
            </a:pPr>
            <a:r>
              <a:rPr lang="en-US" sz="1000" dirty="0">
                <a:solidFill>
                  <a:schemeClr val="tx1"/>
                </a:solidFill>
              </a:rPr>
              <a:t>National Centre for Cold-chain Development &amp; NABCONS (2015). All India Cold-chain Infrastructure Capacity (Assessment of Status &amp; Gap). Requirement vs created, 2014–15. </a:t>
            </a:r>
            <a:r>
              <a:rPr lang="en-US" sz="1000" u="sng" dirty="0">
                <a:solidFill>
                  <a:schemeClr val="accent1"/>
                </a:solidFill>
                <a:hlinkClick r:id="rId6">
                  <a:extLst>
                    <a:ext uri="{A12FA001-AC4F-418D-AE19-62706E023703}">
                      <ahyp:hlinkClr xmlns:ahyp="http://schemas.microsoft.com/office/drawing/2018/hyperlinkcolor" val="tx"/>
                    </a:ext>
                  </a:extLst>
                </a:hlinkClick>
              </a:rPr>
              <a:t>https://nccd.gov.in/uploads/All_India_Cold_Chain_Infrastructure_2015_5da1279baa.pdf</a:t>
            </a:r>
            <a:endParaRPr lang="en-US" sz="1000" dirty="0"/>
          </a:p>
        </p:txBody>
      </p:sp>
      <p:sp>
        <p:nvSpPr>
          <p:cNvPr id="15" name="Text 13"/>
          <p:cNvSpPr txBox="1"/>
          <p:nvPr/>
        </p:nvSpPr>
        <p:spPr>
          <a:xfrm>
            <a:off x="9829800" y="3182112"/>
            <a:ext cx="1810512" cy="493776"/>
          </a:xfrm>
          <a:prstGeom prst="rect">
            <a:avLst/>
          </a:prstGeom>
          <a:noFill/>
          <a:ln/>
        </p:spPr>
        <p:txBody>
          <a:bodyPr wrap="square" lIns="0" tIns="0" rIns="0" bIns="0" rtlCol="0" anchor="t"/>
          <a:lstStyle/>
          <a:p>
            <a:pPr marL="0" indent="0">
              <a:buNone/>
            </a:pPr>
            <a:r>
              <a:rPr lang="en-US" sz="1000" i="1" dirty="0">
                <a:solidFill>
                  <a:schemeClr val="accent5"/>
                </a:solidFill>
              </a:rPr>
              <a:t>Slides 2, 6, 7, 10</a:t>
            </a:r>
            <a:endParaRPr lang="en-US" sz="1000" dirty="0"/>
          </a:p>
        </p:txBody>
      </p:sp>
      <p:sp>
        <p:nvSpPr>
          <p:cNvPr id="16" name="Text 14"/>
          <p:cNvSpPr txBox="1"/>
          <p:nvPr/>
        </p:nvSpPr>
        <p:spPr>
          <a:xfrm>
            <a:off x="548640" y="3730752"/>
            <a:ext cx="502920" cy="493776"/>
          </a:xfrm>
          <a:prstGeom prst="rect">
            <a:avLst/>
          </a:prstGeom>
          <a:noFill/>
          <a:ln/>
        </p:spPr>
        <p:txBody>
          <a:bodyPr wrap="square" lIns="0" tIns="0" rIns="0" bIns="0" rtlCol="0" anchor="t"/>
          <a:lstStyle/>
          <a:p>
            <a:pPr marL="0" indent="0">
              <a:buNone/>
            </a:pPr>
            <a:r>
              <a:rPr lang="en-US" sz="1100" b="1" dirty="0">
                <a:solidFill>
                  <a:schemeClr val="accent1"/>
                </a:solidFill>
              </a:rPr>
              <a:t>[5]</a:t>
            </a:r>
            <a:endParaRPr lang="en-US" sz="1100" dirty="0"/>
          </a:p>
        </p:txBody>
      </p:sp>
      <p:sp>
        <p:nvSpPr>
          <p:cNvPr id="17" name="Text 15"/>
          <p:cNvSpPr txBox="1"/>
          <p:nvPr/>
        </p:nvSpPr>
        <p:spPr>
          <a:xfrm>
            <a:off x="1051560" y="3730752"/>
            <a:ext cx="8641080" cy="493776"/>
          </a:xfrm>
          <a:prstGeom prst="rect">
            <a:avLst/>
          </a:prstGeom>
          <a:noFill/>
          <a:ln/>
        </p:spPr>
        <p:txBody>
          <a:bodyPr wrap="square" lIns="0" tIns="0" rIns="0" bIns="0" rtlCol="0" anchor="t"/>
          <a:lstStyle/>
          <a:p>
            <a:pPr marL="0" indent="0">
              <a:buNone/>
            </a:pPr>
            <a:r>
              <a:rPr lang="en-US" sz="1000" dirty="0">
                <a:solidFill>
                  <a:schemeClr val="tx1"/>
                </a:solidFill>
              </a:rPr>
              <a:t>Roy, R., Gupta, S., Wardhan, H., Sarkar, S., Tewari, S., Bansal, R., Bhatia, S. &amp; Gulati, A. (2024). Vegetables Inflation in India: A Study of Tomato, Onion and Potato (TOP). RBI Working Paper Series (DEPR) No. 08/2024. </a:t>
            </a:r>
            <a:r>
              <a:rPr lang="en-US" sz="1000" u="sng" dirty="0">
                <a:solidFill>
                  <a:schemeClr val="accent1"/>
                </a:solidFill>
                <a:hlinkClick r:id="rId7">
                  <a:extLst>
                    <a:ext uri="{A12FA001-AC4F-418D-AE19-62706E023703}">
                      <ahyp:hlinkClr xmlns:ahyp="http://schemas.microsoft.com/office/drawing/2018/hyperlinkcolor" val="tx"/>
                    </a:ext>
                  </a:extLst>
                </a:hlinkClick>
              </a:rPr>
              <a:t>https://rbi.org.in/Scripts/PublicationsView.aspx?id=22723</a:t>
            </a:r>
            <a:endParaRPr lang="en-US" sz="1000" dirty="0"/>
          </a:p>
        </p:txBody>
      </p:sp>
      <p:sp>
        <p:nvSpPr>
          <p:cNvPr id="18" name="Text 16"/>
          <p:cNvSpPr txBox="1"/>
          <p:nvPr/>
        </p:nvSpPr>
        <p:spPr>
          <a:xfrm>
            <a:off x="9829800" y="3730752"/>
            <a:ext cx="1810512" cy="493776"/>
          </a:xfrm>
          <a:prstGeom prst="rect">
            <a:avLst/>
          </a:prstGeom>
          <a:noFill/>
          <a:ln/>
        </p:spPr>
        <p:txBody>
          <a:bodyPr wrap="square" lIns="0" tIns="0" rIns="0" bIns="0" rtlCol="0" anchor="t"/>
          <a:lstStyle/>
          <a:p>
            <a:pPr marL="0" indent="0">
              <a:buNone/>
            </a:pPr>
            <a:r>
              <a:rPr lang="en-US" sz="1000" i="1" dirty="0">
                <a:solidFill>
                  <a:schemeClr val="accent5"/>
                </a:solidFill>
              </a:rPr>
              <a:t>Slides 3, 5, 6, 8, 10</a:t>
            </a:r>
            <a:endParaRPr lang="en-US" sz="1000" dirty="0"/>
          </a:p>
        </p:txBody>
      </p:sp>
      <p:sp>
        <p:nvSpPr>
          <p:cNvPr id="19" name="Text 17"/>
          <p:cNvSpPr txBox="1"/>
          <p:nvPr/>
        </p:nvSpPr>
        <p:spPr>
          <a:xfrm>
            <a:off x="548640" y="4279392"/>
            <a:ext cx="502920" cy="493776"/>
          </a:xfrm>
          <a:prstGeom prst="rect">
            <a:avLst/>
          </a:prstGeom>
          <a:noFill/>
          <a:ln/>
        </p:spPr>
        <p:txBody>
          <a:bodyPr wrap="square" lIns="0" tIns="0" rIns="0" bIns="0" rtlCol="0" anchor="t"/>
          <a:lstStyle/>
          <a:p>
            <a:pPr marL="0" indent="0">
              <a:buNone/>
            </a:pPr>
            <a:r>
              <a:rPr lang="en-US" sz="1100" b="1" dirty="0">
                <a:solidFill>
                  <a:schemeClr val="accent1"/>
                </a:solidFill>
              </a:rPr>
              <a:t>[6]</a:t>
            </a:r>
            <a:endParaRPr lang="en-US" sz="1100" dirty="0"/>
          </a:p>
        </p:txBody>
      </p:sp>
      <p:sp>
        <p:nvSpPr>
          <p:cNvPr id="20" name="Text 18"/>
          <p:cNvSpPr txBox="1"/>
          <p:nvPr/>
        </p:nvSpPr>
        <p:spPr>
          <a:xfrm>
            <a:off x="1051560" y="4279392"/>
            <a:ext cx="8641080" cy="493776"/>
          </a:xfrm>
          <a:prstGeom prst="rect">
            <a:avLst/>
          </a:prstGeom>
          <a:noFill/>
          <a:ln/>
        </p:spPr>
        <p:txBody>
          <a:bodyPr wrap="square" lIns="0" tIns="0" rIns="0" bIns="0" rtlCol="0" anchor="t"/>
          <a:lstStyle/>
          <a:p>
            <a:pPr marL="0" indent="0">
              <a:buNone/>
            </a:pPr>
            <a:r>
              <a:rPr lang="en-US" sz="1000" dirty="0">
                <a:solidFill>
                  <a:schemeClr val="tx1"/>
                </a:solidFill>
              </a:rPr>
              <a:t>Kader, A.A. &amp; Rolle, R.S. (2004). The Role of Post-Harvest Management in Assuring the Quality and Safety of Horticultural Produce. FAO Agricultural Services Bulletin 152, Section 3.2. </a:t>
            </a:r>
            <a:r>
              <a:rPr lang="en-US" sz="1000" u="sng" dirty="0">
                <a:solidFill>
                  <a:schemeClr val="accent1"/>
                </a:solidFill>
                <a:hlinkClick r:id="rId8">
                  <a:extLst>
                    <a:ext uri="{A12FA001-AC4F-418D-AE19-62706E023703}">
                      <ahyp:hlinkClr xmlns:ahyp="http://schemas.microsoft.com/office/drawing/2018/hyperlinkcolor" val="tx"/>
                    </a:ext>
                  </a:extLst>
                </a:hlinkClick>
              </a:rPr>
              <a:t>https://www.fao.org/4/y5431e/y5431e04.htm</a:t>
            </a:r>
            <a:endParaRPr lang="en-US" sz="1000" dirty="0"/>
          </a:p>
        </p:txBody>
      </p:sp>
      <p:sp>
        <p:nvSpPr>
          <p:cNvPr id="21" name="Text 19"/>
          <p:cNvSpPr txBox="1"/>
          <p:nvPr/>
        </p:nvSpPr>
        <p:spPr>
          <a:xfrm>
            <a:off x="9829800" y="4279392"/>
            <a:ext cx="1810512" cy="493776"/>
          </a:xfrm>
          <a:prstGeom prst="rect">
            <a:avLst/>
          </a:prstGeom>
          <a:noFill/>
          <a:ln/>
        </p:spPr>
        <p:txBody>
          <a:bodyPr wrap="square" lIns="0" tIns="0" rIns="0" bIns="0" rtlCol="0" anchor="t"/>
          <a:lstStyle/>
          <a:p>
            <a:pPr marL="0" indent="0">
              <a:buNone/>
            </a:pPr>
            <a:r>
              <a:rPr lang="en-US" sz="1000" i="1" dirty="0">
                <a:solidFill>
                  <a:schemeClr val="accent5"/>
                </a:solidFill>
              </a:rPr>
              <a:t>Slide 6</a:t>
            </a:r>
            <a:endParaRPr lang="en-US" sz="1000" dirty="0"/>
          </a:p>
        </p:txBody>
      </p:sp>
      <p:sp>
        <p:nvSpPr>
          <p:cNvPr id="22" name="Text 20"/>
          <p:cNvSpPr txBox="1"/>
          <p:nvPr/>
        </p:nvSpPr>
        <p:spPr>
          <a:xfrm>
            <a:off x="548640" y="4828032"/>
            <a:ext cx="502920" cy="493776"/>
          </a:xfrm>
          <a:prstGeom prst="rect">
            <a:avLst/>
          </a:prstGeom>
          <a:noFill/>
          <a:ln/>
        </p:spPr>
        <p:txBody>
          <a:bodyPr wrap="square" lIns="0" tIns="0" rIns="0" bIns="0" rtlCol="0" anchor="t"/>
          <a:lstStyle/>
          <a:p>
            <a:pPr marL="0" indent="0">
              <a:buNone/>
            </a:pPr>
            <a:r>
              <a:rPr lang="en-US" sz="1100" b="1" dirty="0">
                <a:solidFill>
                  <a:schemeClr val="accent1"/>
                </a:solidFill>
              </a:rPr>
              <a:t>[7]</a:t>
            </a:r>
            <a:endParaRPr lang="en-US" sz="1100" dirty="0"/>
          </a:p>
        </p:txBody>
      </p:sp>
      <p:sp>
        <p:nvSpPr>
          <p:cNvPr id="23" name="Text 21"/>
          <p:cNvSpPr txBox="1"/>
          <p:nvPr/>
        </p:nvSpPr>
        <p:spPr>
          <a:xfrm>
            <a:off x="1051560" y="4828032"/>
            <a:ext cx="8641080" cy="493776"/>
          </a:xfrm>
          <a:prstGeom prst="rect">
            <a:avLst/>
          </a:prstGeom>
          <a:noFill/>
          <a:ln/>
        </p:spPr>
        <p:txBody>
          <a:bodyPr wrap="square" lIns="0" tIns="0" rIns="0" bIns="0" rtlCol="0" anchor="t"/>
          <a:lstStyle/>
          <a:p>
            <a:pPr marL="0" indent="0">
              <a:buNone/>
            </a:pPr>
            <a:r>
              <a:rPr lang="en-US" sz="1000" dirty="0">
                <a:solidFill>
                  <a:schemeClr val="tx1"/>
                </a:solidFill>
              </a:rPr>
              <a:t>Rajya Sabha (2025). Ministry of Agriculture &amp; Farmers Welfare, reply to Question 267 on e-NAM, 7 Feb 2025 (inter-state trade; logistics as a hurdle; e-NAM 2.0). </a:t>
            </a:r>
            <a:r>
              <a:rPr lang="en-US" sz="1000" u="sng" dirty="0">
                <a:solidFill>
                  <a:schemeClr val="accent1"/>
                </a:solidFill>
                <a:hlinkClick r:id="rId9">
                  <a:extLst>
                    <a:ext uri="{A12FA001-AC4F-418D-AE19-62706E023703}">
                      <ahyp:hlinkClr xmlns:ahyp="http://schemas.microsoft.com/office/drawing/2018/hyperlinkcolor" val="tx"/>
                    </a:ext>
                  </a:extLst>
                </a:hlinkClick>
              </a:rPr>
              <a:t>https://rsdebate.nic.in/bitstream/123456789/758227/1/PQ_267_07022025_S46_p1_p12.pdf</a:t>
            </a:r>
            <a:endParaRPr lang="en-US" sz="1000" dirty="0"/>
          </a:p>
        </p:txBody>
      </p:sp>
      <p:sp>
        <p:nvSpPr>
          <p:cNvPr id="24" name="Text 22"/>
          <p:cNvSpPr txBox="1"/>
          <p:nvPr/>
        </p:nvSpPr>
        <p:spPr>
          <a:xfrm>
            <a:off x="9829800" y="4828032"/>
            <a:ext cx="1810512" cy="493776"/>
          </a:xfrm>
          <a:prstGeom prst="rect">
            <a:avLst/>
          </a:prstGeom>
          <a:noFill/>
          <a:ln/>
        </p:spPr>
        <p:txBody>
          <a:bodyPr wrap="square" lIns="0" tIns="0" rIns="0" bIns="0" rtlCol="0" anchor="t"/>
          <a:lstStyle/>
          <a:p>
            <a:pPr marL="0" indent="0">
              <a:buNone/>
            </a:pPr>
            <a:r>
              <a:rPr lang="en-US" sz="1000" i="1" dirty="0">
                <a:solidFill>
                  <a:schemeClr val="accent5"/>
                </a:solidFill>
              </a:rPr>
              <a:t>Slide 7</a:t>
            </a:r>
            <a:endParaRPr lang="en-US" sz="1000" dirty="0"/>
          </a:p>
        </p:txBody>
      </p:sp>
      <p:sp>
        <p:nvSpPr>
          <p:cNvPr id="25" name="Text 23"/>
          <p:cNvSpPr txBox="1"/>
          <p:nvPr/>
        </p:nvSpPr>
        <p:spPr>
          <a:xfrm>
            <a:off x="548640" y="5376672"/>
            <a:ext cx="502920" cy="493776"/>
          </a:xfrm>
          <a:prstGeom prst="rect">
            <a:avLst/>
          </a:prstGeom>
          <a:noFill/>
          <a:ln/>
        </p:spPr>
        <p:txBody>
          <a:bodyPr wrap="square" lIns="0" tIns="0" rIns="0" bIns="0" rtlCol="0" anchor="t"/>
          <a:lstStyle/>
          <a:p>
            <a:pPr marL="0" indent="0">
              <a:buNone/>
            </a:pPr>
            <a:r>
              <a:rPr lang="en-US" sz="1100" b="1" dirty="0">
                <a:solidFill>
                  <a:schemeClr val="accent1"/>
                </a:solidFill>
              </a:rPr>
              <a:t>[8]</a:t>
            </a:r>
            <a:endParaRPr lang="en-US" sz="1100" dirty="0"/>
          </a:p>
        </p:txBody>
      </p:sp>
      <p:sp>
        <p:nvSpPr>
          <p:cNvPr id="26" name="Text 24"/>
          <p:cNvSpPr txBox="1"/>
          <p:nvPr/>
        </p:nvSpPr>
        <p:spPr>
          <a:xfrm>
            <a:off x="1051560" y="5376672"/>
            <a:ext cx="8641080" cy="493776"/>
          </a:xfrm>
          <a:prstGeom prst="rect">
            <a:avLst/>
          </a:prstGeom>
          <a:noFill/>
          <a:ln/>
        </p:spPr>
        <p:txBody>
          <a:bodyPr wrap="square" lIns="0" tIns="0" rIns="0" bIns="0" rtlCol="0" anchor="t"/>
          <a:lstStyle/>
          <a:p>
            <a:pPr marL="0" indent="0">
              <a:buNone/>
            </a:pPr>
            <a:r>
              <a:rPr lang="en-US" sz="1000" dirty="0">
                <a:solidFill>
                  <a:schemeClr val="tx1"/>
                </a:solidFill>
              </a:rPr>
              <a:t>Press Information Bureau (2026). e-NAM backgrounder, April 2026: 1,656 mandis in 23 states and 4 UTs onboarded. </a:t>
            </a:r>
            <a:r>
              <a:rPr lang="en-US" sz="1000" u="sng" dirty="0">
                <a:solidFill>
                  <a:schemeClr val="accent1"/>
                </a:solidFill>
                <a:hlinkClick r:id="rId10">
                  <a:extLst>
                    <a:ext uri="{A12FA001-AC4F-418D-AE19-62706E023703}">
                      <ahyp:hlinkClr xmlns:ahyp="http://schemas.microsoft.com/office/drawing/2018/hyperlinkcolor" val="tx"/>
                    </a:ext>
                  </a:extLst>
                </a:hlinkClick>
              </a:rPr>
              <a:t>https://static.pib.gov.in/WriteReadData/specificdocs/documents/2026/apr/doc2026413845801.pdf</a:t>
            </a:r>
            <a:endParaRPr lang="en-US" sz="1000" dirty="0"/>
          </a:p>
        </p:txBody>
      </p:sp>
      <p:sp>
        <p:nvSpPr>
          <p:cNvPr id="27" name="Text 25"/>
          <p:cNvSpPr txBox="1"/>
          <p:nvPr/>
        </p:nvSpPr>
        <p:spPr>
          <a:xfrm>
            <a:off x="9829800" y="5376672"/>
            <a:ext cx="1810512" cy="493776"/>
          </a:xfrm>
          <a:prstGeom prst="rect">
            <a:avLst/>
          </a:prstGeom>
          <a:noFill/>
          <a:ln/>
        </p:spPr>
        <p:txBody>
          <a:bodyPr wrap="square" lIns="0" tIns="0" rIns="0" bIns="0" rtlCol="0" anchor="t"/>
          <a:lstStyle/>
          <a:p>
            <a:pPr marL="0" indent="0">
              <a:buNone/>
            </a:pPr>
            <a:r>
              <a:rPr lang="en-US" sz="1000" i="1" dirty="0">
                <a:solidFill>
                  <a:schemeClr val="accent5"/>
                </a:solidFill>
              </a:rPr>
              <a:t>Slides 7, 9</a:t>
            </a:r>
            <a:endParaRPr lang="en-US" sz="1000" dirty="0"/>
          </a:p>
        </p:txBody>
      </p:sp>
      <p:sp>
        <p:nvSpPr>
          <p:cNvPr id="28" name="Text 26"/>
          <p:cNvSpPr txBox="1"/>
          <p:nvPr/>
        </p:nvSpPr>
        <p:spPr>
          <a:xfrm>
            <a:off x="9829800" y="1298448"/>
            <a:ext cx="1810512" cy="219456"/>
          </a:xfrm>
          <a:prstGeom prst="rect">
            <a:avLst/>
          </a:prstGeom>
          <a:noFill/>
          <a:ln/>
        </p:spPr>
        <p:txBody>
          <a:bodyPr wrap="square" lIns="0" tIns="0" rIns="0" bIns="0" rtlCol="0" anchor="ctr"/>
          <a:lstStyle/>
          <a:p>
            <a:pPr marL="0" indent="0">
              <a:buNone/>
            </a:pPr>
            <a:r>
              <a:rPr lang="en-US" sz="900" b="1" kern="0" spc="100" dirty="0">
                <a:solidFill>
                  <a:schemeClr val="accent5"/>
                </a:solidFill>
              </a:rPr>
              <a:t>USED ON</a:t>
            </a:r>
            <a:endParaRPr lang="en-US" sz="900" dirty="0"/>
          </a:p>
        </p:txBody>
      </p:sp>
      <p:sp>
        <p:nvSpPr>
          <p:cNvPr id="29"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All URLs were checked in October 2026. Parliamentary figures are as tabled on the date given. No stakeholder interviews, field visits or surveys of our own are reported in this deck.</a:t>
            </a:r>
            <a:endParaRPr lang="en-US" sz="950" dirty="0"/>
          </a:p>
        </p:txBody>
      </p:sp>
      <p:sp>
        <p:nvSpPr>
          <p:cNvPr id="30"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694944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REFERENCES</a:t>
            </a:r>
            <a:endParaRPr lang="en-US" sz="1200" dirty="0"/>
          </a:p>
        </p:txBody>
      </p:sp>
      <p:sp>
        <p:nvSpPr>
          <p:cNvPr id="3" name="Text 0"/>
          <p:cNvSpPr>
            <a:spLocks noGrp="1"/>
          </p:cNvSpPr>
          <p:nvPr>
            <p:ph type="title" idx="101" hasCustomPrompt="1"/>
          </p:nvPr>
        </p:nvSpPr>
        <p:spPr>
          <a:xfrm>
            <a:off x="548640" y="603504"/>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latin typeface="Cambria" pitchFamily="34" charset="0"/>
                <a:ea typeface="Cambria" pitchFamily="34" charset="-122"/>
                <a:cs typeface="Cambria" pitchFamily="34" charset="-120"/>
              </a:rPr>
              <a:t>Sources, numbered as cited on each slide (2/2)</a:t>
            </a:r>
            <a:endParaRPr lang="en-US" sz="2600" dirty="0"/>
          </a:p>
        </p:txBody>
      </p:sp>
      <p:sp>
        <p:nvSpPr>
          <p:cNvPr id="4" name="Text 2"/>
          <p:cNvSpPr txBox="1"/>
          <p:nvPr/>
        </p:nvSpPr>
        <p:spPr>
          <a:xfrm>
            <a:off x="548640" y="1536192"/>
            <a:ext cx="502920" cy="548640"/>
          </a:xfrm>
          <a:prstGeom prst="rect">
            <a:avLst/>
          </a:prstGeom>
          <a:noFill/>
          <a:ln/>
        </p:spPr>
        <p:txBody>
          <a:bodyPr wrap="square" lIns="0" tIns="0" rIns="0" bIns="0" rtlCol="0" anchor="t"/>
          <a:lstStyle/>
          <a:p>
            <a:pPr marL="0" indent="0">
              <a:buNone/>
            </a:pPr>
            <a:r>
              <a:rPr lang="en-US" sz="1100" b="1" dirty="0">
                <a:solidFill>
                  <a:schemeClr val="accent1"/>
                </a:solidFill>
              </a:rPr>
              <a:t>[9]</a:t>
            </a:r>
            <a:endParaRPr lang="en-US" sz="1100" dirty="0"/>
          </a:p>
        </p:txBody>
      </p:sp>
      <p:sp>
        <p:nvSpPr>
          <p:cNvPr id="5" name="Text 3"/>
          <p:cNvSpPr txBox="1"/>
          <p:nvPr/>
        </p:nvSpPr>
        <p:spPr>
          <a:xfrm>
            <a:off x="1051560" y="1536192"/>
            <a:ext cx="8641080" cy="548640"/>
          </a:xfrm>
          <a:prstGeom prst="rect">
            <a:avLst/>
          </a:prstGeom>
          <a:noFill/>
          <a:ln/>
        </p:spPr>
        <p:txBody>
          <a:bodyPr wrap="square" lIns="0" tIns="0" rIns="0" bIns="0" rtlCol="0" anchor="t"/>
          <a:lstStyle/>
          <a:p>
            <a:pPr marL="0" indent="0">
              <a:buNone/>
            </a:pPr>
            <a:r>
              <a:rPr lang="en-US" sz="1000" dirty="0">
                <a:solidFill>
                  <a:schemeClr val="tx1"/>
                </a:solidFill>
              </a:rPr>
              <a:t>Directorate of Marketing &amp; Inspection, MoA&amp;FW. AGMARKNET portal: daily commodity arrivals and prices reported by markets. </a:t>
            </a:r>
            <a:r>
              <a:rPr lang="en-US" sz="1000" u="sng" dirty="0">
                <a:solidFill>
                  <a:schemeClr val="accent1"/>
                </a:solidFill>
                <a:hlinkClick r:id="rId3">
                  <a:extLst>
                    <a:ext uri="{A12FA001-AC4F-418D-AE19-62706E023703}">
                      <ahyp:hlinkClr xmlns:ahyp="http://schemas.microsoft.com/office/drawing/2018/hyperlinkcolor" val="tx"/>
                    </a:ext>
                  </a:extLst>
                </a:hlinkClick>
              </a:rPr>
              <a:t>https://agmarknet.gov.in</a:t>
            </a:r>
            <a:endParaRPr lang="en-US" sz="1000" dirty="0"/>
          </a:p>
        </p:txBody>
      </p:sp>
      <p:sp>
        <p:nvSpPr>
          <p:cNvPr id="6" name="Text 4"/>
          <p:cNvSpPr txBox="1"/>
          <p:nvPr/>
        </p:nvSpPr>
        <p:spPr>
          <a:xfrm>
            <a:off x="9829800" y="1536192"/>
            <a:ext cx="1810512" cy="548640"/>
          </a:xfrm>
          <a:prstGeom prst="rect">
            <a:avLst/>
          </a:prstGeom>
          <a:noFill/>
          <a:ln/>
        </p:spPr>
        <p:txBody>
          <a:bodyPr wrap="square" lIns="0" tIns="0" rIns="0" bIns="0" rtlCol="0" anchor="t"/>
          <a:lstStyle/>
          <a:p>
            <a:pPr marL="0" indent="0">
              <a:buNone/>
            </a:pPr>
            <a:r>
              <a:rPr lang="en-US" sz="1000" i="1" dirty="0">
                <a:solidFill>
                  <a:schemeClr val="accent5"/>
                </a:solidFill>
              </a:rPr>
              <a:t>Slides 7, 9</a:t>
            </a:r>
            <a:endParaRPr lang="en-US" sz="1000" dirty="0"/>
          </a:p>
        </p:txBody>
      </p:sp>
      <p:sp>
        <p:nvSpPr>
          <p:cNvPr id="7" name="Text 5"/>
          <p:cNvSpPr txBox="1"/>
          <p:nvPr/>
        </p:nvSpPr>
        <p:spPr>
          <a:xfrm>
            <a:off x="548640" y="2139696"/>
            <a:ext cx="502920" cy="548640"/>
          </a:xfrm>
          <a:prstGeom prst="rect">
            <a:avLst/>
          </a:prstGeom>
          <a:noFill/>
          <a:ln/>
        </p:spPr>
        <p:txBody>
          <a:bodyPr wrap="square" lIns="0" tIns="0" rIns="0" bIns="0" rtlCol="0" anchor="t"/>
          <a:lstStyle/>
          <a:p>
            <a:pPr marL="0" indent="0">
              <a:buNone/>
            </a:pPr>
            <a:r>
              <a:rPr lang="en-US" sz="1100" b="1" dirty="0">
                <a:solidFill>
                  <a:schemeClr val="accent1"/>
                </a:solidFill>
              </a:rPr>
              <a:t>[10]</a:t>
            </a:r>
            <a:endParaRPr lang="en-US" sz="1100" dirty="0"/>
          </a:p>
        </p:txBody>
      </p:sp>
      <p:sp>
        <p:nvSpPr>
          <p:cNvPr id="8" name="Text 6"/>
          <p:cNvSpPr txBox="1"/>
          <p:nvPr/>
        </p:nvSpPr>
        <p:spPr>
          <a:xfrm>
            <a:off x="1051560" y="2139696"/>
            <a:ext cx="8641080" cy="548640"/>
          </a:xfrm>
          <a:prstGeom prst="rect">
            <a:avLst/>
          </a:prstGeom>
          <a:noFill/>
          <a:ln/>
        </p:spPr>
        <p:txBody>
          <a:bodyPr wrap="square" lIns="0" tIns="0" rIns="0" bIns="0" rtlCol="0" anchor="t"/>
          <a:lstStyle/>
          <a:p>
            <a:pPr marL="0" indent="0">
              <a:buNone/>
            </a:pPr>
            <a:r>
              <a:rPr lang="en-US" sz="1000" dirty="0">
                <a:solidFill>
                  <a:schemeClr val="tx1"/>
                </a:solidFill>
              </a:rPr>
              <a:t>Shalendra, Kumar, R., Gummagolmath, K.C. &amp; Angadi, S. (2021). Transportation in Agriculture: A Case of Kisan Rath App. Journal of Agricultural Extension Management (MANAGE). </a:t>
            </a:r>
            <a:r>
              <a:rPr lang="en-US" sz="1000" u="sng" dirty="0">
                <a:solidFill>
                  <a:schemeClr val="accent1"/>
                </a:solidFill>
                <a:hlinkClick r:id="rId4">
                  <a:extLst>
                    <a:ext uri="{A12FA001-AC4F-418D-AE19-62706E023703}">
                      <ahyp:hlinkClr xmlns:ahyp="http://schemas.microsoft.com/office/drawing/2018/hyperlinkcolor" val="tx"/>
                    </a:ext>
                  </a:extLst>
                </a:hlinkClick>
              </a:rPr>
              <a:t>https://epubs.icar.org.in/index.php/JAEM/article/download/159460/62590/489185</a:t>
            </a:r>
            <a:endParaRPr lang="en-US" sz="1000" dirty="0"/>
          </a:p>
        </p:txBody>
      </p:sp>
      <p:sp>
        <p:nvSpPr>
          <p:cNvPr id="9" name="Text 7"/>
          <p:cNvSpPr txBox="1"/>
          <p:nvPr/>
        </p:nvSpPr>
        <p:spPr>
          <a:xfrm>
            <a:off x="9829800" y="2139696"/>
            <a:ext cx="1810512" cy="548640"/>
          </a:xfrm>
          <a:prstGeom prst="rect">
            <a:avLst/>
          </a:prstGeom>
          <a:noFill/>
          <a:ln/>
        </p:spPr>
        <p:txBody>
          <a:bodyPr wrap="square" lIns="0" tIns="0" rIns="0" bIns="0" rtlCol="0" anchor="t"/>
          <a:lstStyle/>
          <a:p>
            <a:pPr marL="0" indent="0">
              <a:buNone/>
            </a:pPr>
            <a:r>
              <a:rPr lang="en-US" sz="1000" i="1" dirty="0">
                <a:solidFill>
                  <a:schemeClr val="accent5"/>
                </a:solidFill>
              </a:rPr>
              <a:t>Slide 7</a:t>
            </a:r>
            <a:endParaRPr lang="en-US" sz="1000" dirty="0"/>
          </a:p>
        </p:txBody>
      </p:sp>
      <p:sp>
        <p:nvSpPr>
          <p:cNvPr id="10" name="Text 8"/>
          <p:cNvSpPr txBox="1"/>
          <p:nvPr/>
        </p:nvSpPr>
        <p:spPr>
          <a:xfrm>
            <a:off x="548640" y="2743200"/>
            <a:ext cx="502920" cy="548640"/>
          </a:xfrm>
          <a:prstGeom prst="rect">
            <a:avLst/>
          </a:prstGeom>
          <a:noFill/>
          <a:ln/>
        </p:spPr>
        <p:txBody>
          <a:bodyPr wrap="square" lIns="0" tIns="0" rIns="0" bIns="0" rtlCol="0" anchor="t"/>
          <a:lstStyle/>
          <a:p>
            <a:pPr marL="0" indent="0">
              <a:buNone/>
            </a:pPr>
            <a:r>
              <a:rPr lang="en-US" sz="1100" b="1" dirty="0">
                <a:solidFill>
                  <a:schemeClr val="accent1"/>
                </a:solidFill>
              </a:rPr>
              <a:t>[11]</a:t>
            </a:r>
            <a:endParaRPr lang="en-US" sz="1100" dirty="0"/>
          </a:p>
        </p:txBody>
      </p:sp>
      <p:sp>
        <p:nvSpPr>
          <p:cNvPr id="11" name="Text 9"/>
          <p:cNvSpPr txBox="1"/>
          <p:nvPr/>
        </p:nvSpPr>
        <p:spPr>
          <a:xfrm>
            <a:off x="1051560" y="2743200"/>
            <a:ext cx="8641080" cy="548640"/>
          </a:xfrm>
          <a:prstGeom prst="rect">
            <a:avLst/>
          </a:prstGeom>
          <a:noFill/>
          <a:ln/>
        </p:spPr>
        <p:txBody>
          <a:bodyPr wrap="square" lIns="0" tIns="0" rIns="0" bIns="0" rtlCol="0" anchor="t"/>
          <a:lstStyle/>
          <a:p>
            <a:pPr marL="0" indent="0">
              <a:buNone/>
            </a:pPr>
            <a:r>
              <a:rPr lang="en-US" sz="1000" dirty="0">
                <a:solidFill>
                  <a:schemeClr val="tx1"/>
                </a:solidFill>
              </a:rPr>
              <a:t>Ministry of Food Processing Industries (2020–21). Operation Greens “TOP to TOTAL”: 50% freight subsidy for notified fruits &amp; vegetables on Kisan Rail. Lok Sabha Unstarred Q. 2423. </a:t>
            </a:r>
            <a:r>
              <a:rPr lang="en-US" sz="1000" u="sng" dirty="0">
                <a:solidFill>
                  <a:schemeClr val="accent1"/>
                </a:solidFill>
                <a:hlinkClick r:id="rId5">
                  <a:extLst>
                    <a:ext uri="{A12FA001-AC4F-418D-AE19-62706E023703}">
                      <ahyp:hlinkClr xmlns:ahyp="http://schemas.microsoft.com/office/drawing/2018/hyperlinkcolor" val="tx"/>
                    </a:ext>
                  </a:extLst>
                </a:hlinkClick>
              </a:rPr>
              <a:t>https://eparlib.nic.in/bitstream/123456789/992164/1/AU2423.pdf</a:t>
            </a:r>
            <a:endParaRPr lang="en-US" sz="1000" dirty="0"/>
          </a:p>
        </p:txBody>
      </p:sp>
      <p:sp>
        <p:nvSpPr>
          <p:cNvPr id="12" name="Text 10"/>
          <p:cNvSpPr txBox="1"/>
          <p:nvPr/>
        </p:nvSpPr>
        <p:spPr>
          <a:xfrm>
            <a:off x="9829800" y="2743200"/>
            <a:ext cx="1810512" cy="548640"/>
          </a:xfrm>
          <a:prstGeom prst="rect">
            <a:avLst/>
          </a:prstGeom>
          <a:noFill/>
          <a:ln/>
        </p:spPr>
        <p:txBody>
          <a:bodyPr wrap="square" lIns="0" tIns="0" rIns="0" bIns="0" rtlCol="0" anchor="t"/>
          <a:lstStyle/>
          <a:p>
            <a:pPr marL="0" indent="0">
              <a:buNone/>
            </a:pPr>
            <a:r>
              <a:rPr lang="en-US" sz="1000" i="1" dirty="0">
                <a:solidFill>
                  <a:schemeClr val="accent5"/>
                </a:solidFill>
              </a:rPr>
              <a:t>Slide 7</a:t>
            </a:r>
            <a:endParaRPr lang="en-US" sz="1000" dirty="0"/>
          </a:p>
        </p:txBody>
      </p:sp>
      <p:sp>
        <p:nvSpPr>
          <p:cNvPr id="13" name="Text 11"/>
          <p:cNvSpPr txBox="1"/>
          <p:nvPr/>
        </p:nvSpPr>
        <p:spPr>
          <a:xfrm>
            <a:off x="548640" y="3346704"/>
            <a:ext cx="502920" cy="548640"/>
          </a:xfrm>
          <a:prstGeom prst="rect">
            <a:avLst/>
          </a:prstGeom>
          <a:noFill/>
          <a:ln/>
        </p:spPr>
        <p:txBody>
          <a:bodyPr wrap="square" lIns="0" tIns="0" rIns="0" bIns="0" rtlCol="0" anchor="t"/>
          <a:lstStyle/>
          <a:p>
            <a:pPr marL="0" indent="0">
              <a:buNone/>
            </a:pPr>
            <a:r>
              <a:rPr lang="en-US" sz="1100" b="1" dirty="0">
                <a:solidFill>
                  <a:schemeClr val="accent1"/>
                </a:solidFill>
              </a:rPr>
              <a:t>[12]</a:t>
            </a:r>
            <a:endParaRPr lang="en-US" sz="1100" dirty="0"/>
          </a:p>
        </p:txBody>
      </p:sp>
      <p:sp>
        <p:nvSpPr>
          <p:cNvPr id="14" name="Text 12"/>
          <p:cNvSpPr txBox="1"/>
          <p:nvPr/>
        </p:nvSpPr>
        <p:spPr>
          <a:xfrm>
            <a:off x="1051560" y="3346704"/>
            <a:ext cx="8641080" cy="548640"/>
          </a:xfrm>
          <a:prstGeom prst="rect">
            <a:avLst/>
          </a:prstGeom>
          <a:noFill/>
          <a:ln/>
        </p:spPr>
        <p:txBody>
          <a:bodyPr wrap="square" lIns="0" tIns="0" rIns="0" bIns="0" rtlCol="0" anchor="t"/>
          <a:lstStyle/>
          <a:p>
            <a:pPr marL="0" indent="0">
              <a:buNone/>
            </a:pPr>
            <a:r>
              <a:rPr lang="en-US" sz="1000" dirty="0">
                <a:solidFill>
                  <a:schemeClr val="tx1"/>
                </a:solidFill>
              </a:rPr>
              <a:t>Google Maps Platform (2025). Route Optimization API: parameter list and ShipmentModel reference (time windows, load demands, cost per hour/km). </a:t>
            </a:r>
            <a:r>
              <a:rPr lang="en-US" sz="1000" u="sng" dirty="0">
                <a:solidFill>
                  <a:schemeClr val="accent1"/>
                </a:solidFill>
                <a:hlinkClick r:id="rId6">
                  <a:extLst>
                    <a:ext uri="{A12FA001-AC4F-418D-AE19-62706E023703}">
                      <ahyp:hlinkClr xmlns:ahyp="http://schemas.microsoft.com/office/drawing/2018/hyperlinkcolor" val="tx"/>
                    </a:ext>
                  </a:extLst>
                </a:hlinkClick>
              </a:rPr>
              <a:t>https://developers.google.com/maps/documentation/route-optimization/parameter-list</a:t>
            </a:r>
            <a:endParaRPr lang="en-US" sz="1000" dirty="0"/>
          </a:p>
        </p:txBody>
      </p:sp>
      <p:sp>
        <p:nvSpPr>
          <p:cNvPr id="15" name="Text 13"/>
          <p:cNvSpPr txBox="1"/>
          <p:nvPr/>
        </p:nvSpPr>
        <p:spPr>
          <a:xfrm>
            <a:off x="9829800" y="3346704"/>
            <a:ext cx="1810512" cy="548640"/>
          </a:xfrm>
          <a:prstGeom prst="rect">
            <a:avLst/>
          </a:prstGeom>
          <a:noFill/>
          <a:ln/>
        </p:spPr>
        <p:txBody>
          <a:bodyPr wrap="square" lIns="0" tIns="0" rIns="0" bIns="0" rtlCol="0" anchor="t"/>
          <a:lstStyle/>
          <a:p>
            <a:pPr marL="0" indent="0">
              <a:buNone/>
            </a:pPr>
            <a:r>
              <a:rPr lang="en-US" sz="1000" i="1" dirty="0">
                <a:solidFill>
                  <a:schemeClr val="accent5"/>
                </a:solidFill>
              </a:rPr>
              <a:t>Slide 7</a:t>
            </a:r>
            <a:endParaRPr lang="en-US" sz="1000" dirty="0"/>
          </a:p>
        </p:txBody>
      </p:sp>
      <p:sp>
        <p:nvSpPr>
          <p:cNvPr id="16" name="Text 14"/>
          <p:cNvSpPr txBox="1"/>
          <p:nvPr/>
        </p:nvSpPr>
        <p:spPr>
          <a:xfrm>
            <a:off x="548640" y="3950208"/>
            <a:ext cx="502920" cy="548640"/>
          </a:xfrm>
          <a:prstGeom prst="rect">
            <a:avLst/>
          </a:prstGeom>
          <a:noFill/>
          <a:ln/>
        </p:spPr>
        <p:txBody>
          <a:bodyPr wrap="square" lIns="0" tIns="0" rIns="0" bIns="0" rtlCol="0" anchor="t"/>
          <a:lstStyle/>
          <a:p>
            <a:pPr marL="0" indent="0">
              <a:buNone/>
            </a:pPr>
            <a:r>
              <a:rPr lang="en-US" sz="1100" b="1" dirty="0">
                <a:solidFill>
                  <a:schemeClr val="accent1"/>
                </a:solidFill>
              </a:rPr>
              <a:t>[13]</a:t>
            </a:r>
            <a:endParaRPr lang="en-US" sz="1100" dirty="0"/>
          </a:p>
        </p:txBody>
      </p:sp>
      <p:sp>
        <p:nvSpPr>
          <p:cNvPr id="17" name="Text 15"/>
          <p:cNvSpPr txBox="1"/>
          <p:nvPr/>
        </p:nvSpPr>
        <p:spPr>
          <a:xfrm>
            <a:off x="1051560" y="3950208"/>
            <a:ext cx="8641080" cy="548640"/>
          </a:xfrm>
          <a:prstGeom prst="rect">
            <a:avLst/>
          </a:prstGeom>
          <a:noFill/>
          <a:ln/>
        </p:spPr>
        <p:txBody>
          <a:bodyPr wrap="square" lIns="0" tIns="0" rIns="0" bIns="0" rtlCol="0" anchor="t"/>
          <a:lstStyle/>
          <a:p>
            <a:pPr marL="0" indent="0">
              <a:buNone/>
            </a:pPr>
            <a:r>
              <a:rPr lang="en-US" sz="1000" dirty="0">
                <a:solidFill>
                  <a:schemeClr val="tx1"/>
                </a:solidFill>
              </a:rPr>
              <a:t>Awad, M., Ndiaye, M. &amp; Osman, A. (2021). Vehicle routing in cold food supply chain logistics: a literature review. The International Journal of Logistics Management, 32(2), 592–617. </a:t>
            </a:r>
            <a:r>
              <a:rPr lang="en-US" sz="1000" u="sng" dirty="0">
                <a:solidFill>
                  <a:schemeClr val="accent1"/>
                </a:solidFill>
                <a:hlinkClick r:id="rId7">
                  <a:extLst>
                    <a:ext uri="{A12FA001-AC4F-418D-AE19-62706E023703}">
                      <ahyp:hlinkClr xmlns:ahyp="http://schemas.microsoft.com/office/drawing/2018/hyperlinkcolor" val="tx"/>
                    </a:ext>
                  </a:extLst>
                </a:hlinkClick>
              </a:rPr>
              <a:t>https://doi.org/10.1108/IJLM-02-2020-0092</a:t>
            </a:r>
            <a:endParaRPr lang="en-US" sz="1000" dirty="0"/>
          </a:p>
        </p:txBody>
      </p:sp>
      <p:sp>
        <p:nvSpPr>
          <p:cNvPr id="18" name="Text 16"/>
          <p:cNvSpPr txBox="1"/>
          <p:nvPr/>
        </p:nvSpPr>
        <p:spPr>
          <a:xfrm>
            <a:off x="9829800" y="3950208"/>
            <a:ext cx="1810512" cy="548640"/>
          </a:xfrm>
          <a:prstGeom prst="rect">
            <a:avLst/>
          </a:prstGeom>
          <a:noFill/>
          <a:ln/>
        </p:spPr>
        <p:txBody>
          <a:bodyPr wrap="square" lIns="0" tIns="0" rIns="0" bIns="0" rtlCol="0" anchor="t"/>
          <a:lstStyle/>
          <a:p>
            <a:pPr marL="0" indent="0">
              <a:buNone/>
            </a:pPr>
            <a:r>
              <a:rPr lang="en-US" sz="1000" i="1" dirty="0">
                <a:solidFill>
                  <a:schemeClr val="accent5"/>
                </a:solidFill>
              </a:rPr>
              <a:t>Slides 7, 9</a:t>
            </a:r>
            <a:endParaRPr lang="en-US" sz="1000" dirty="0"/>
          </a:p>
        </p:txBody>
      </p:sp>
      <p:sp>
        <p:nvSpPr>
          <p:cNvPr id="19" name="Text 17"/>
          <p:cNvSpPr txBox="1"/>
          <p:nvPr/>
        </p:nvSpPr>
        <p:spPr>
          <a:xfrm>
            <a:off x="548640" y="4553712"/>
            <a:ext cx="502920" cy="548640"/>
          </a:xfrm>
          <a:prstGeom prst="rect">
            <a:avLst/>
          </a:prstGeom>
          <a:noFill/>
          <a:ln/>
        </p:spPr>
        <p:txBody>
          <a:bodyPr wrap="square" lIns="0" tIns="0" rIns="0" bIns="0" rtlCol="0" anchor="t"/>
          <a:lstStyle/>
          <a:p>
            <a:pPr marL="0" indent="0">
              <a:buNone/>
            </a:pPr>
            <a:r>
              <a:rPr lang="en-US" sz="1100" b="1" dirty="0">
                <a:solidFill>
                  <a:schemeClr val="accent1"/>
                </a:solidFill>
              </a:rPr>
              <a:t>[14]</a:t>
            </a:r>
            <a:endParaRPr lang="en-US" sz="1100" dirty="0"/>
          </a:p>
        </p:txBody>
      </p:sp>
      <p:sp>
        <p:nvSpPr>
          <p:cNvPr id="20" name="Text 18"/>
          <p:cNvSpPr txBox="1"/>
          <p:nvPr/>
        </p:nvSpPr>
        <p:spPr>
          <a:xfrm>
            <a:off x="1051560" y="4553712"/>
            <a:ext cx="8641080" cy="548640"/>
          </a:xfrm>
          <a:prstGeom prst="rect">
            <a:avLst/>
          </a:prstGeom>
          <a:noFill/>
          <a:ln/>
        </p:spPr>
        <p:txBody>
          <a:bodyPr wrap="square" lIns="0" tIns="0" rIns="0" bIns="0" rtlCol="0" anchor="t"/>
          <a:lstStyle/>
          <a:p>
            <a:pPr marL="0" indent="0">
              <a:buNone/>
            </a:pPr>
            <a:r>
              <a:rPr lang="en-US" sz="1000" dirty="0">
                <a:solidFill>
                  <a:schemeClr val="tx1"/>
                </a:solidFill>
              </a:rPr>
              <a:t>Central Goods and Services Tax Rules, 2017, Rule 138(14)(e) (as substituted by Notification 12/2018-Central Tax) read with the Schedule to Notification 2/2017-Central Tax (Rate). </a:t>
            </a:r>
            <a:r>
              <a:rPr lang="en-US" sz="1000" u="sng" dirty="0">
                <a:solidFill>
                  <a:schemeClr val="accent1"/>
                </a:solidFill>
                <a:hlinkClick r:id="rId8">
                  <a:extLst>
                    <a:ext uri="{A12FA001-AC4F-418D-AE19-62706E023703}">
                      <ahyp:hlinkClr xmlns:ahyp="http://schemas.microsoft.com/office/drawing/2018/hyperlinkcolor" val="tx"/>
                    </a:ext>
                  </a:extLst>
                </a:hlinkClick>
              </a:rPr>
              <a:t>https://www.gstzen.in/a/rule-138-central-goods-and-services-tax-rules-2017-cgst-rule-138-replaced-as-per-central-tax-notification-122018.html</a:t>
            </a:r>
            <a:endParaRPr lang="en-US" sz="1000" dirty="0"/>
          </a:p>
        </p:txBody>
      </p:sp>
      <p:sp>
        <p:nvSpPr>
          <p:cNvPr id="21" name="Text 19"/>
          <p:cNvSpPr txBox="1"/>
          <p:nvPr/>
        </p:nvSpPr>
        <p:spPr>
          <a:xfrm>
            <a:off x="9829800" y="4553712"/>
            <a:ext cx="1810512" cy="548640"/>
          </a:xfrm>
          <a:prstGeom prst="rect">
            <a:avLst/>
          </a:prstGeom>
          <a:noFill/>
          <a:ln/>
        </p:spPr>
        <p:txBody>
          <a:bodyPr wrap="square" lIns="0" tIns="0" rIns="0" bIns="0" rtlCol="0" anchor="t"/>
          <a:lstStyle/>
          <a:p>
            <a:pPr marL="0" indent="0">
              <a:buNone/>
            </a:pPr>
            <a:r>
              <a:rPr lang="en-US" sz="1000" i="1" dirty="0">
                <a:solidFill>
                  <a:schemeClr val="accent5"/>
                </a:solidFill>
              </a:rPr>
              <a:t>Slide 9</a:t>
            </a:r>
            <a:endParaRPr lang="en-US" sz="1000" dirty="0"/>
          </a:p>
        </p:txBody>
      </p:sp>
      <p:sp>
        <p:nvSpPr>
          <p:cNvPr id="22" name="Text 20"/>
          <p:cNvSpPr txBox="1"/>
          <p:nvPr/>
        </p:nvSpPr>
        <p:spPr>
          <a:xfrm>
            <a:off x="548640" y="5157216"/>
            <a:ext cx="502920" cy="548640"/>
          </a:xfrm>
          <a:prstGeom prst="rect">
            <a:avLst/>
          </a:prstGeom>
          <a:noFill/>
          <a:ln/>
        </p:spPr>
        <p:txBody>
          <a:bodyPr wrap="square" lIns="0" tIns="0" rIns="0" bIns="0" rtlCol="0" anchor="t"/>
          <a:lstStyle/>
          <a:p>
            <a:pPr marL="0" indent="0">
              <a:buNone/>
            </a:pPr>
            <a:r>
              <a:rPr lang="en-US" sz="1100" b="1" dirty="0">
                <a:solidFill>
                  <a:schemeClr val="accent1"/>
                </a:solidFill>
              </a:rPr>
              <a:t>[15]</a:t>
            </a:r>
            <a:endParaRPr lang="en-US" sz="1100" dirty="0"/>
          </a:p>
        </p:txBody>
      </p:sp>
      <p:sp>
        <p:nvSpPr>
          <p:cNvPr id="23" name="Text 21"/>
          <p:cNvSpPr txBox="1"/>
          <p:nvPr/>
        </p:nvSpPr>
        <p:spPr>
          <a:xfrm>
            <a:off x="1051560" y="5157216"/>
            <a:ext cx="8641080" cy="548640"/>
          </a:xfrm>
          <a:prstGeom prst="rect">
            <a:avLst/>
          </a:prstGeom>
          <a:noFill/>
          <a:ln/>
        </p:spPr>
        <p:txBody>
          <a:bodyPr wrap="square" lIns="0" tIns="0" rIns="0" bIns="0" rtlCol="0" anchor="t"/>
          <a:lstStyle/>
          <a:p>
            <a:pPr marL="0" indent="0">
              <a:buNone/>
            </a:pPr>
            <a:r>
              <a:rPr lang="en-US" sz="1000" dirty="0">
                <a:solidFill>
                  <a:schemeClr val="tx1"/>
                </a:solidFill>
              </a:rPr>
              <a:t>Mandi Algos (2026). Agricultural Supply Chain Research Blueprint: dataset inventory and data-availability classification (internal document). </a:t>
            </a:r>
            <a:r>
              <a:rPr lang="en-US" sz="1000" i="1" dirty="0">
                <a:solidFill>
                  <a:schemeClr val="accent5"/>
                </a:solidFill>
              </a:rPr>
              <a:t>Internal, not published</a:t>
            </a:r>
            <a:endParaRPr lang="en-US" sz="1000" dirty="0"/>
          </a:p>
        </p:txBody>
      </p:sp>
      <p:sp>
        <p:nvSpPr>
          <p:cNvPr id="24" name="Text 22"/>
          <p:cNvSpPr txBox="1"/>
          <p:nvPr/>
        </p:nvSpPr>
        <p:spPr>
          <a:xfrm>
            <a:off x="9829800" y="5157216"/>
            <a:ext cx="1810512" cy="548640"/>
          </a:xfrm>
          <a:prstGeom prst="rect">
            <a:avLst/>
          </a:prstGeom>
          <a:noFill/>
          <a:ln/>
        </p:spPr>
        <p:txBody>
          <a:bodyPr wrap="square" lIns="0" tIns="0" rIns="0" bIns="0" rtlCol="0" anchor="t"/>
          <a:lstStyle/>
          <a:p>
            <a:pPr marL="0" indent="0">
              <a:buNone/>
            </a:pPr>
            <a:r>
              <a:rPr lang="en-US" sz="1000" i="1" dirty="0">
                <a:solidFill>
                  <a:schemeClr val="accent5"/>
                </a:solidFill>
              </a:rPr>
              <a:t>Slide 9</a:t>
            </a:r>
            <a:endParaRPr lang="en-US" sz="1000" dirty="0"/>
          </a:p>
        </p:txBody>
      </p:sp>
      <p:sp>
        <p:nvSpPr>
          <p:cNvPr id="25" name="Text 23"/>
          <p:cNvSpPr txBox="1"/>
          <p:nvPr/>
        </p:nvSpPr>
        <p:spPr>
          <a:xfrm>
            <a:off x="9829800" y="1298448"/>
            <a:ext cx="1810512" cy="219456"/>
          </a:xfrm>
          <a:prstGeom prst="rect">
            <a:avLst/>
          </a:prstGeom>
          <a:noFill/>
          <a:ln/>
        </p:spPr>
        <p:txBody>
          <a:bodyPr wrap="square" lIns="0" tIns="0" rIns="0" bIns="0" rtlCol="0" anchor="ctr"/>
          <a:lstStyle/>
          <a:p>
            <a:pPr marL="0" indent="0">
              <a:buNone/>
            </a:pPr>
            <a:r>
              <a:rPr lang="en-US" sz="900" b="1" kern="0" spc="100" dirty="0">
                <a:solidFill>
                  <a:schemeClr val="accent5"/>
                </a:solidFill>
              </a:rPr>
              <a:t>USED ON</a:t>
            </a:r>
            <a:endParaRPr lang="en-US" sz="900" dirty="0"/>
          </a:p>
        </p:txBody>
      </p:sp>
      <p:sp>
        <p:nvSpPr>
          <p:cNvPr id="26" name="Source line"/>
          <p:cNvSpPr txBox="1"/>
          <p:nvPr/>
        </p:nvSpPr>
        <p:spPr>
          <a:xfrm>
            <a:off x="548640" y="6062472"/>
            <a:ext cx="11091672" cy="347472"/>
          </a:xfrm>
          <a:prstGeom prst="rect">
            <a:avLst/>
          </a:prstGeom>
          <a:noFill/>
          <a:ln/>
        </p:spPr>
        <p:txBody>
          <a:bodyPr wrap="square" lIns="0" tIns="0" rIns="0" bIns="0" rtlCol="0" anchor="t"/>
          <a:lstStyle/>
          <a:p>
            <a:pPr marL="0" indent="0">
              <a:buNone/>
            </a:pPr>
            <a:r>
              <a:rPr lang="en-US" sz="950" dirty="0">
                <a:solidFill>
                  <a:schemeClr val="accent5"/>
                </a:solidFill>
              </a:rPr>
              <a:t>[14] is our reading of the e-way bill rule; check it against the current CBIC text before relying on it operationally. [15] is our own planning document, cited for its data-availability audit, not as external evidence.</a:t>
            </a:r>
            <a:endParaRPr lang="en-US" sz="950" dirty="0"/>
          </a:p>
        </p:txBody>
      </p:sp>
      <p:sp>
        <p:nvSpPr>
          <p:cNvPr id="27" name="Slide Number Placeholder 0"/>
          <p:cNvSpPr>
            <a:spLocks noGrp="1"/>
          </p:cNvSpPr>
          <p:nvPr>
            <p:ph type="sldNum" sz="quarter" idx="4294967295"/>
          </p:nvPr>
        </p:nvSpPr>
        <p:spPr>
          <a:xfrm>
            <a:off x="11183112" y="6473952"/>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Journey After Harvest">
  <a:themeElements>
    <a:clrScheme name="Journey After Harvest">
      <a:dk1>
        <a:srgbClr val="1B2430"/>
      </a:dk1>
      <a:lt1>
        <a:srgbClr val="FFFFFF"/>
      </a:lt1>
      <a:dk2>
        <a:srgbClr val="12263A"/>
      </a:dk2>
      <a:lt2>
        <a:srgbClr val="EEF3F5"/>
      </a:lt2>
      <a:accent1>
        <a:srgbClr val="0F8B8D"/>
      </a:accent1>
      <a:accent2>
        <a:srgbClr val="4CC3CF"/>
      </a:accent2>
      <a:accent3>
        <a:srgbClr val="D9A21B"/>
      </a:accent3>
      <a:accent4>
        <a:srgbClr val="B9472E"/>
      </a:accent4>
      <a:accent5>
        <a:srgbClr val="5E6E7E"/>
      </a:accent5>
      <a:accent6>
        <a:srgbClr val="D3E2E6"/>
      </a:accent6>
      <a:hlink>
        <a:srgbClr val="0F8B8D"/>
      </a:hlink>
      <a:folHlink>
        <a:srgbClr val="5E6E7E"/>
      </a:folHlink>
    </a:clrScheme>
    <a:fontScheme name="Journey After Harv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5458</Words>
  <Application>Microsoft Office PowerPoint</Application>
  <PresentationFormat>Widescreen</PresentationFormat>
  <Paragraphs>337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Journey After Harvest</vt:lpstr>
      <vt:lpstr>PowerPoint Presentation</vt:lpstr>
      <vt:lpstr>Perishable loads lose value between dispatch and sale</vt:lpstr>
      <vt:lpstr>Where it happens: failure points from mandi to market</vt:lpstr>
      <vt:lpstr>Most fruit and vegetables lose 3–6× more than grains at the market stage</vt:lpstr>
      <vt:lpstr>The dispatcher decides the journey; the farmer often pays for it</vt:lpstr>
      <vt:lpstr>Why it persists: produce moves warm through an unmeasured chain</vt:lpstr>
      <vt:lpstr>Today's efforts address storage, prices and trucks more than the trip</vt:lpstr>
      <vt:lpstr>Costs fall on farm income, market quality and consumer prices</vt:lpstr>
      <vt:lpstr>Three distinct gaps: in data, in research and in everyday practice</vt:lpstr>
      <vt:lpstr>Why this problem deserves investigation now</vt:lpstr>
      <vt:lpstr>Sources, numbered as cited on each slide (1/2)</vt:lpstr>
      <vt:lpstr>Sources, numbered as cited on each 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Journey After Harvest – Problem Brief</dc:title>
  <dc:subject>IMPACT TANK '26 Week 0 – Problem Discovery</dc:subject>
  <dc:creator>Mandi Algos</dc:creator>
  <cp:lastModifiedBy>Pranav Umbarkar</cp:lastModifiedBy>
  <cp:revision>2</cp:revision>
  <dcterms:created xsi:type="dcterms:W3CDTF">2026-10-12T11:36:01Z</dcterms:created>
  <dcterms:modified xsi:type="dcterms:W3CDTF">2026-10-14T11:58:03Z</dcterms:modified>
</cp:coreProperties>
</file>
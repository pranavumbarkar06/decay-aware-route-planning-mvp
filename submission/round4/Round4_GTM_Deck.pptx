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8C743D1F-605E-7B3A-0294-AFF8D284FDD2}">
          <p14:sldIdLst>
            <p14:sldId id="256"/>
            <p14:sldId id="257"/>
          </p14:sldIdLst>
        </p14:section>
        <p14:section name="People" id="{BAD21C38-1271-E99D-A7FD-12F119088F02}">
          <p14:sldIdLst>
            <p14:sldId id="258"/>
            <p14:sldId id="259"/>
            <p14:sldId id="260"/>
            <p14:sldId id="261"/>
            <p14:sldId id="262"/>
            <p14:sldId id="263"/>
          </p14:sldIdLst>
        </p14:section>
        <p14:section name="Evidence" id="{3A2046F7-974D-AF55-A5D6-34E1EE61979B}">
          <p14:sldIdLst>
            <p14:sldId id="264"/>
            <p14:sldId id="265"/>
          </p14:sldIdLst>
        </p14:section>
        <p14:section name="Market" id="{2AF93126-EDD5-CC37-5097-01755B672460}">
          <p14:sldIdLst>
            <p14:sldId id="266"/>
            <p14:sldId id="267"/>
          </p14:sldIdLst>
        </p14:section>
        <p14:section name="Execution" id="{C6F028BA-B4D3-5546-1BCE-737E85082081}">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0B3D2E"/>
              </a:solidFill>
              <a:ln w="12700" cap="flat">
                <a:solidFill>
                  <a:srgbClr val="FFFFFF"/>
                </a:solidFill>
                <a:prstDash val="solid"/>
                <a:round/>
              </a:ln>
              <a:effectLst/>
            </c:spPr>
            <c:extLst>
              <c:ext xmlns:c16="http://schemas.microsoft.com/office/drawing/2014/chart" uri="{C3380CC4-5D6E-409C-BE32-E72D297353CC}">
                <c16:uniqueId val="{00000001-728F-4A4B-8C77-515F9D0E37E4}"/>
              </c:ext>
            </c:extLst>
          </c:dPt>
          <c:dPt>
            <c:idx val="1"/>
            <c:bubble3D val="0"/>
            <c:spPr>
              <a:solidFill>
                <a:srgbClr val="0F766E"/>
              </a:solidFill>
              <a:ln w="12700" cap="flat">
                <a:solidFill>
                  <a:srgbClr val="FFFFFF"/>
                </a:solidFill>
                <a:prstDash val="solid"/>
                <a:round/>
              </a:ln>
              <a:effectLst/>
            </c:spPr>
            <c:extLst>
              <c:ext xmlns:c16="http://schemas.microsoft.com/office/drawing/2014/chart" uri="{C3380CC4-5D6E-409C-BE32-E72D297353CC}">
                <c16:uniqueId val="{00000003-728F-4A4B-8C77-515F9D0E37E4}"/>
              </c:ext>
            </c:extLst>
          </c:dPt>
          <c:dPt>
            <c:idx val="2"/>
            <c:bubble3D val="0"/>
            <c:spPr>
              <a:solidFill>
                <a:srgbClr val="10B981"/>
              </a:solidFill>
              <a:ln w="12700" cap="flat">
                <a:solidFill>
                  <a:srgbClr val="FFFFFF"/>
                </a:solidFill>
                <a:prstDash val="solid"/>
                <a:round/>
              </a:ln>
              <a:effectLst/>
            </c:spPr>
            <c:extLst>
              <c:ext xmlns:c16="http://schemas.microsoft.com/office/drawing/2014/chart" uri="{C3380CC4-5D6E-409C-BE32-E72D297353CC}">
                <c16:uniqueId val="{00000005-728F-4A4B-8C77-515F9D0E37E4}"/>
              </c:ext>
            </c:extLst>
          </c:dPt>
          <c:dPt>
            <c:idx val="3"/>
            <c:bubble3D val="0"/>
            <c:spPr>
              <a:solidFill>
                <a:srgbClr val="6FB7A8"/>
              </a:solidFill>
              <a:ln w="12700" cap="flat">
                <a:solidFill>
                  <a:srgbClr val="FFFFFF"/>
                </a:solidFill>
                <a:prstDash val="solid"/>
                <a:round/>
              </a:ln>
              <a:effectLst/>
            </c:spPr>
            <c:extLst>
              <c:ext xmlns:c16="http://schemas.microsoft.com/office/drawing/2014/chart" uri="{C3380CC4-5D6E-409C-BE32-E72D297353CC}">
                <c16:uniqueId val="{00000007-728F-4A4B-8C77-515F9D0E37E4}"/>
              </c:ext>
            </c:extLst>
          </c:dPt>
          <c:dPt>
            <c:idx val="4"/>
            <c:bubble3D val="0"/>
            <c:spPr>
              <a:solidFill>
                <a:srgbClr val="8A5A00"/>
              </a:solidFill>
              <a:ln w="12700" cap="flat">
                <a:solidFill>
                  <a:srgbClr val="FFFFFF"/>
                </a:solidFill>
                <a:prstDash val="solid"/>
                <a:round/>
              </a:ln>
              <a:effectLst/>
            </c:spPr>
            <c:extLst>
              <c:ext xmlns:c16="http://schemas.microsoft.com/office/drawing/2014/chart" uri="{C3380CC4-5D6E-409C-BE32-E72D297353CC}">
                <c16:uniqueId val="{00000009-728F-4A4B-8C77-515F9D0E37E4}"/>
              </c:ext>
            </c:extLst>
          </c:dPt>
          <c:dPt>
            <c:idx val="5"/>
            <c:bubble3D val="0"/>
            <c:spPr>
              <a:solidFill>
                <a:srgbClr val="D6A647"/>
              </a:solidFill>
              <a:ln w="12700" cap="flat">
                <a:solidFill>
                  <a:srgbClr val="FFFFFF"/>
                </a:solidFill>
                <a:prstDash val="solid"/>
                <a:round/>
              </a:ln>
              <a:effectLst/>
            </c:spPr>
            <c:extLst>
              <c:ext xmlns:c16="http://schemas.microsoft.com/office/drawing/2014/chart" uri="{C3380CC4-5D6E-409C-BE32-E72D297353CC}">
                <c16:uniqueId val="{0000000B-728F-4A4B-8C77-515F9D0E37E4}"/>
              </c:ext>
            </c:extLst>
          </c:dPt>
          <c:dPt>
            <c:idx val="6"/>
            <c:bubble3D val="0"/>
            <c:spPr>
              <a:solidFill>
                <a:srgbClr val="5B6B73"/>
              </a:solidFill>
              <a:ln w="12700" cap="flat">
                <a:solidFill>
                  <a:srgbClr val="FFFFFF"/>
                </a:solidFill>
                <a:prstDash val="solid"/>
                <a:round/>
              </a:ln>
              <a:effectLst/>
            </c:spPr>
            <c:extLst>
              <c:ext xmlns:c16="http://schemas.microsoft.com/office/drawing/2014/chart" uri="{C3380CC4-5D6E-409C-BE32-E72D297353CC}">
                <c16:uniqueId val="{0000000D-728F-4A4B-8C77-515F9D0E37E4}"/>
              </c:ext>
            </c:extLst>
          </c:dPt>
          <c:dPt>
            <c:idx val="7"/>
            <c:bubble3D val="0"/>
            <c:spPr>
              <a:solidFill>
                <a:srgbClr val="B7C4BF"/>
              </a:solidFill>
              <a:ln w="12700" cap="flat">
                <a:solidFill>
                  <a:srgbClr val="FFFFFF"/>
                </a:solidFill>
                <a:prstDash val="solid"/>
                <a:round/>
              </a:ln>
              <a:effectLst/>
            </c:spPr>
            <c:extLst>
              <c:ext xmlns:c16="http://schemas.microsoft.com/office/drawing/2014/chart" uri="{C3380CC4-5D6E-409C-BE32-E72D297353CC}">
                <c16:uniqueId val="{0000000F-728F-4A4B-8C77-515F9D0E37E4}"/>
              </c:ext>
            </c:extLst>
          </c:dPt>
          <c:cat>
            <c:strRef>
              <c:f>Sheet1!$A$2:$A$9</c:f>
              <c:strCache>
                <c:ptCount val="8"/>
                <c:pt idx="0">
                  <c:v>Travel</c:v>
                </c:pt>
                <c:pt idx="1">
                  <c:v>Posters + banner (Marathi/Hindi)</c:v>
                </c:pt>
                <c:pt idx="2">
                  <c:v>Handouts</c:v>
                </c:pt>
                <c:pt idx="3">
                  <c:v>300 QR stickers</c:v>
                </c:pt>
                <c:pt idx="4">
                  <c:v>Demo desk</c:v>
                </c:pt>
                <c:pt idx="5">
                  <c:v>Refreshments</c:v>
                </c:pt>
                <c:pt idx="6">
                  <c:v>Mobile data</c:v>
                </c:pt>
                <c:pt idx="7">
                  <c:v>Reserve</c:v>
                </c:pt>
              </c:strCache>
            </c:strRef>
          </c:cat>
          <c:val>
            <c:numRef>
              <c:f>Sheet1!$B$2:$B$9</c:f>
              <c:numCache>
                <c:formatCode>General</c:formatCode>
                <c:ptCount val="8"/>
                <c:pt idx="0">
                  <c:v>2500</c:v>
                </c:pt>
                <c:pt idx="1">
                  <c:v>1800</c:v>
                </c:pt>
                <c:pt idx="2">
                  <c:v>700</c:v>
                </c:pt>
                <c:pt idx="3">
                  <c:v>600</c:v>
                </c:pt>
                <c:pt idx="4">
                  <c:v>1000</c:v>
                </c:pt>
                <c:pt idx="5">
                  <c:v>1000</c:v>
                </c:pt>
                <c:pt idx="6">
                  <c:v>500</c:v>
                </c:pt>
                <c:pt idx="7">
                  <c:v>1900</c:v>
                </c:pt>
              </c:numCache>
            </c:numRef>
          </c:val>
          <c:extLst>
            <c:ext xmlns:c16="http://schemas.microsoft.com/office/drawing/2014/chart" uri="{C3380CC4-5D6E-409C-BE32-E72D297353CC}">
              <c16:uniqueId val="{00000010-728F-4A4B-8C77-515F9D0E37E4}"/>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8651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We're [Team name] from [Institution].
"The Journey After Harvest" is a working prototype for three perishable crops, tomato, Nagpur orange and onion, in the Nagpur Division of Maharashtra. In the last round we built it. This round is about a harder question: does it address a genuine need, and how would we reach our first users?
Two things up front, because they shape everything that follows. First, anything about impact in this deck is simulation output, not a field result. Second, the five people you'll meet are hypothesised personas built from published research and our prototype work, not interviewees. We'll show you exactly what we've validated and what we haven't.
The journey on this slide is the spine of the deck: farm, collection, transit, market, and finally a buyer or an NGO. Our prototype lives in the middle of that chain.
Transition: let's start with how big the problem is, and what we don't know about it.
Likely question: "Is this a real product?"
Answer: It's a runnable prototype with an operations layer and a simulation-based decision layer. Sign-in is still a development stub, so first users would join a staffed demo and a pilot waitlist, not a public 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loses about 19.3 million tonnes of fruits and vegetables after harvest every year: 7.36 million tonnes of fruit and 11.97 million tonnes of vegetables. That's from the NABCONS study for the Ministry of Food Processing Industries, covering 54 crops over 2020 to 2022, as tabled in a PIB release on 1 August 2025.
The same table gives per-crop loss in two places: farm operations and market level. For our crops: tomato loses 8.37% at farm level and 3.25% at market level; citrus, which includes orange, 5.53% and 2.18%; onion 5.31% and 1.96%.
Here's the important part: none of those numbers isolate transit. We can't take 19.3 million tonnes and call it a transport problem, and we won't. The transit share is unknown, and that's exactly the gap our operations layer is designed to start measuring: weights and condition at every handover.
Why do timing and destination matter at all? Because quality falls with time and temperature. A peer-reviewed production-routing model by Manouchehri and colleagues in Heliyon (2020) treats quality exactly that way. To be precise: that paper models chicken meat with a microbial-growth curve, not fresh produce, so we borrow the principle, not the numbers.
Transition: the losses touch different people at different stages. Let's meet them.
Likely question: "So how big is your addressable loss?"
Answer: We don't know yet, and we won't guess. The first pilot's handover records are how we'd measure it.
Sources:
- PIB, Ministry of Food Processing Industries, "NABCONS Study Assesses Post-Harvest Losses Across 54 Crops During 2020–22", posted 1 Aug 2025: https://www.pib.gov.in/PressReleasePage.aspx?PRID=2151371 (Annexure-II, Tables 1 and 2).
- Manouchehri F., Shahandeh Nookabadi A., Kadivar M. (2020). Production routing in perishable and quality degradable supply chains. Heliyon 6(2): e03376. https://pmc.ncbi.nlm.nih.gov/articles/PMC7033347/
- [SOURCE VERIFICATION REQUIRED] The team also holds PIB PRID 1884245 for the same figures; it could not be fetched automatically. Check it before citing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Post-harvest loss isn't one person's problem. It moves through a chain of people, and each one sees a different piece of it.
These five personas are hypothesised. We built them from published research on Indian fresh-produce chains and from the roles our prototype already supports. They are not real people we interviewed, and you won't see names, ages or quotes, because we'd be making those up.
Quickly, left to right:
- The farmer wants a simple record of what they handed over.
- The collection-point supervisor juggles handovers, wastage and congestion, often on paper.
- The grocery store owner is a buyer-side segment for our roadmap. The prototype has no retailer screens yet, which is why that card says ROADMAP.
- The truck driver can be blamed for spoilage that happened before or after the trip.
- The NGO owner can use surplus produce, but gets little notice and has to plan pickups fast.
Each card says what that person would actually do in the app.
Transition: let's take them one at a time, starting where the chain starts, with the farmer.
Likely question: "Why these five and not dispatchers or commission agents?"
Answer: Dispatchers are central to the routing decision and appear throughout. The driver and supervisor slides show where the dispatcher acts, and dispatcher interviews are first on our roadmap.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our hypothesised farmer. They bring tomato, orange or onion to a mandi or a collection point, and today they often leave with little accessible record of what they handed over or what it weighed.
Our message to them is deliberately simple: "Same mandi, same buyer, plus a weight record." Nothing about who they sell to changes. They get a QR label for each lot, and each handover is confirmed by both sides, the sender declaring weight and condition and the receiver weighing and confirming, with every event appended to a tamper-evident, hash-chained log. If the two weights differ by more than 2%, the lot is flagged as disputed rather than silently booked as waste.
The screenshot is the real prototype screen, with demo data: a QR label, the lot code, and a one-time PIN that locks after repeated wrong tries and expires.
What we don't know yet is whether a farmer values that record enough to use it every time. That's the assumption to test, and in this short window we could not get time with working farmers, so it's untested.
Transition: the person on the other side of that handover is the collection-point supervisor.
Likely question: "Will farmers really use a smartphone app?"
Answer: That's exactly what we need to test. The label and PIN can be handled by the receiver's phone, so the farmer may not need their own device. We'd confirm that in interviews.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collection-point supervisor sits at the busiest handover in the chain. Lots come in, someone has to confirm them, decide what goes out first, and note what was lost and why.
Our hypothesis is that these things are recorded inconsistently today, so the supervisor gets the most of the operations layer in one place:
- Scanning a QR lot and confirming the handover.
- A shelf-life traffic light that sorts lots first-expiring-first-out. Every estimate can be opened to show its inputs and whether each is real or assumed.
- A one-tap wastage logger with a reason and an undo window. Undo writes a correcting entry, so history is never deleted.
- The mandi crowd meter, which compares today's arrivals with the market's usual 14-day median from Agmarknet. It never says "% full", because no capacity data exists.
- The Route Advisor, when a load is about to leave.
The screenshot is the real wastage logger with demo data.
The assumption to test is whether one consolidated interface actually makes the day easier, or just adds another screen. Field validation is pending.
Transition: further down the chain is a buyer our prototype doesn't serve yet: the grocery store owner.
Likely question: "Isn't this extra work for a busy supervisor?"
Answer: It might be. That's why the wastage log is one tap, and why we'd measure time per handover in the pilot rather than assume it's faster.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persona is different, and we want to be upfront about it. The prototype has no retailer screens today. The grocery store owner is a buyer-side segment on our roadmap, not a current user.
Why include them at all? Because the receiving end is where the value of a well-managed journey shows up: the right quantity arriving with enough usable life left. Our hypothesis is that retailers often see a mismatch between what arrives, its condition, and the demand they expected.
What we would build later is a retailer view of incoming supply and estimated remaining shelf life, using the same shelf-life model that already drives the traffic lights. Everything on this slide marked FUTURE is not built, and the phone outline is a concept placeholder, not a screen.
The assumption to test is simple: do retailers actually value better visibility into condition and incoming supply, and would that change what they order or accept?
Transition: between the collection point and the buyer is the person who carries the risk on the road, the truck driver.
Likely question: "Why not build the retailer view now?"
Answer: We'd rather validate the handover record with farmers and supervisors first. A retailer view only works if the records feeding it are trustworthy.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truck driver carries the produce, and often the blame. Our hypothesis is that when a load arrives in poor condition, it can be hard to tell whether the damage happened before pickup, on the road, or after drop-off.
What we offer is a record, not surveillance. There's a two-party handover at pickup and another at drop-off, each with a declared and a confirmed weight and condition, on a tamper-evident log. On the right is the real prototype with demo data: the handover form, where weight and condition are entered, and below it the lot's journey header confirming the tamper-evident log verifies.
On routing, we're careful. The Route Advisor compares the usual route with a quality-aware alternative and recommends. It does not reroute trucks automatically. The route is confirmed by a dispatcher, and people decide. The recommendation itself comes from simulation and is not field-validated. There are no truck sensors or live machine learning in the prototype; those are future roadmap items.
The assumption to test is whether drivers and dispatchers find this record and the recommendations clear enough to use in a hurry.
Transition: when a load can't be sold in time, the last person in our chain can still put it to use, the NGO.
Likely question: "Won't drivers resist being tracked?"
Answer: We don't track location; we record handovers. The pitch to drivers is protection from unfair blame. Whether they see it that way is something we must test directly.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NGO owner. Our hypothesis is that NGOs can use surplus produce but hear about it late, with little certainty about what's available or when it can be picked up.
In the prototype, when a lot won't sell in time, it's offered to the nearest suitable NGOs: those that accept that crop and have capacity. The first claim wins. We enforce that in the database, and our tests cover two NGOs claiming at the same instant, with exactly one winner. The winner gets a two-hour pickup timer. Pickup is another two-party handover, and the kilograms are booked as donated, not wasted.
The screenshot is the real claim screen with demo data. We haven't run a rescue in a real market. Nothing here says redistribution has happened.
The assumption to test is behavioural: would an NGO actually monitor offers, claim within two hours and coordinate a pickup in practice? Two hours may be too short or too long; we don't know yet.
Transition: that's five hypotheses about people. Next, what we've actually tested, and what we haven't.
Likely question: "Who pays for the NGO side?"
Answer: Our hypothesis is that it's free for NGOs. The pricing slide shows who might pay and the exact question we'd ask each group.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so we'll say it plainly. [Read the validation statement on the slide.]
The table separates three kinds of claim.
First, things the software does. QR handovers and wastage logging work. They're covered by automated end-to-end tests, including two NGOs claiming at once and an offline handover that syncs later. But passing tests shows the software works, not that people want it. So those rows say Untested for users, not Supported.
Second, the one claim we tested rigorously: does quality-aware routing improve outcomes overall? We pre-registered the test before running it: same lots, weather, roads and random seeds; only the routing policy differs; 20 seeds in each of three seasons. The answer was no overall winner, so that row is Unsupported. We'll unpack it on the next slide.
Third, everything about behaviour and money: adoption, commercial usefulness, willingness to pay. All untested, with placeholders where interview evidence will go. We will not fill them with numbers we don't have.
The bottom line is our secondary evidence. A peer-reviewed production-routing model treats quality as time- and temperature-dependent, which supports the design idea. That paper models chicken meat and minimises cost with no shortages allowed. So it's an interpretation, not proof that our system works.
Transition: so what did the simulation teach us, and what did we change?
Likely question: "So you have no validation?"
Answer: We have honest secondary evidence, one rigorous negative result, and a falsifiable plan. Direct interviews are step one on the roadmap, and we'll report the numbers exactly as they come.
Source: Manouchehri F., Shahandeh Nookabadi A., Kadivar M. (2020), Heliyon 6(2): e03376, https://pmc.ncbi.nlm.nih.gov/articles/PMC7033347/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our own simulation found, and we think it's the most useful thing we learned.
We compared a static shortest-path policy with a quality-aware policy on identical inputs: the same synthetic lots, real roads, replayed weather and real market volumes, 20 seeds per season. The decision rule was committed to git before the registered runs.
Quality-aware routing lowered wastage in summer and in monsoon. But it left more demand unmet in every season, because it sent at-risk produce toward processing and NGOs instead of markets. In winter it did worse on both. So there was no overall winner, and we're not going to dress that up. No loss-reduction figures appear in this deck, on purpose.
What did we change because of it? Two real things, both visible in the prototype.
First, the Route Advisor never presents its suggestion as the answer. The screen says "The app recommends; you decide." Each result carries a caution that, in simulation, this kind of policy cut waste in hot seasons but raised unmet demand, and the Simulation Lab shows both metrics side by side.
Second, onboarding: sign-in is still a development stub, so first users come through a staffed demo and a pilot waitlist.
On the right are ideas we want to test, not things we've done: putting the trade-off inside the advisor itself, clearer shelf-life views, simpler records, and human approval before any routing decision. Interview insights will go in the placeholder.
Transition: so where does this sit among tools that already exist?
Likely question: "Why show a negative result in a pitch?"
Answer: Because the trade-off is real, and a dispatcher would hit it on day one. Knowing it now means we design for the trade-off instead of promising a number we can't back.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good tools in this space already, and we want to be precise about them.
The matrix has two axes: how much a product does for traceability and handover operations, and how much routing intelligence it offers. We placed each product only where its official website supports it.
- SourceTrace and TraceX document traceability: farm-to-retail traceability and supply-chain software for SourceTrace; blockchain traceability and EUDR compliance for TraceX, which is based in Bengaluru. Neither site describes route optimisation, so they sit bottom-right.
- Locus documents route planning, dispatch and shipment tracking, but nothing about produce traceability, so it sits top-left.
- Agmarknet and e-NAM are government platforms for market information and online trading. We use Agmarknet's price and arrival data ourselves.
- Ninjacart runs a fresh-produce B2B marketplace. Its site doesn't establish traceability or routing features, so we didn't place it.
Where we sit is intended, not proven. We combine handover records, wastage, shelf life, crowd awareness and NGO rescue with route comparison, for one region's perishables. But our routing is simulation-based and didn't beat the baseline, so the top-right position is a design goal. We don't claim to be first, only or best.
Transition: if that's the position, who might actually pay?
Likely question: "Why wouldn't a SourceTrace or Locus customer just use them?"
Answer: They might, and for traceability alone they could be the better choice. Our hypothesis is that small collection points and commission agents in Vidarbha need something lighter that joins handover records with destination decisions. That's what interviews will test.
Sources (official sites, reviewed 28 Oct 2026):
- Agmarknet: https://agmarknet.gov.in
- e-NAM: https://enam.gov.in
- SourceTrace: https://www.sourcetrace.com
- TraceX: https://tracextech.com
- Locus: https://locus.sh
- Ninjacart: https://ninjacart.com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prices on this slide, and that's deliberate. We haven't asked anyone yet, so any number would be invented.
What we do have is a hypothesis about who pays and why.
- Free for farmers and NGOs. Farmers are the source of the handover record. If they pay, they won't adopt, and without them there's no record. NGOs receive surplus for redistribution, and charging them would undercut the rescue flow.
- Paid tiers for collection centres and dispatchers, because they'd get operational value: consolidated lot records, handover history and monitoring for collection centres; route comparison with the waste-versus-unmet-demand trade-off for dispatchers.
- Later, larger operators with several locations and integrations.
Each card has the exact question we'll ask, and they're written not to lead. We start from what people do and spend today, before we ever mention a price. And we'll treat any "yes, I'd pay" as a hypothesis until someone commits to a pilot. Willingness to pay is not demand.
Transition: to ask those questions at all, we need to reach people. Here's how we'd spend ten thousand rupees.
Likely question: "How will you make money, then?"
Answer: Most likely from collection centres and dispatchers, the people who'd save time or reduce disputes. Whether they value that enough to pay, and how much, is the first thing our interviews will test.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we'd turn ten thousand rupees into first-user learning. These amounts are our own estimates; we'll confirm them against real prices before spending.
Budget, line by line:
- Travel, ₹2,500: four field days, mostly at Nagpur mandi plus one Chandrapur trip, because dispatchers and supervisors are reached where they work.
- Posters and one banner in Marathi and Hindi, ₹1,800: one poster per persona, wordless, a four-picture "how it works".
- Handouts, ₹700: something to leave behind, with a QR link to the demo.
- 300 QR stickers, ₹600: so people can try a real handover on their own lots.
- Demo desk, ₹1,000: a table and standee near commission-agent shops. We need APMC permission first.
- Refreshments, ₹1,000: hospitality during demos, never payment for sign-ups.
- Mobile data, ₹500: for reliable live demos.
- Reserve, ₹1,900: reprints and surprises.
The poster messages match the persona slides:
- Farmer: "Same mandi, same buyer, plus a weight record."
- Dispatcher: "Compare your usual route with a quality-aware option; you decide."
- NGO: "Offers for nearby surplus with a two-hour claim timer."
- Supervisor: "A red/amber/green shelf-life light and simpler lot tracking."
We promise no earnings and no avoided loss.
Our targets are 15 farmers or FPO members, 8 dispatchers, 3 supervisors and 3 NGOs trying a demo. These are targets, not results.
We count activations, not sign-ups. Sign-in is a development stub, so sign-ups would mean nothing. An activation is a completed demo handover or a commitment to run a pilot lot. The funnel runs reach, demo, activation, pilot.
If APMC permission is slow, we have two fallbacks: a digital-first route with WhatsApp demo videos, or a partner-led split through FPOs and KVKs.
Transition: what happens after those four days?
Likely question: "Why not spend it on ads?"
Answer: Our main users trust people more than ads, and we need conversations, not impressions. A small digital piece, the WhatsApp videos, costs almost nothing and is our fallback.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finish with where this goes.
Now: close the validation gap. That means direct interviews with farmers, dispatchers, commission agents, supervisors and NGOs, then a staffed pilot at two or three collection centres in Nagpur Division. The pilot isn't just for feedback. Its handover records are the trip-level data that doesn't exist today, and the data our model needs for calibration.
Next: the things the pilot will tell us we need. A retailer view for the grocery store owner, SMS and WhatsApp notifications, and production basics like a Postgres database and real authentication in place of the current stub. Then refinement based on what the pilot shows.
Later, and clearly future: sensors in trucks and at transit points, learned models trained on real trips, and a wider rollout. None of that is built. We'd only start it once the records prove useful and trustworthy.
[Read the closing line.]
Thank you. We're happy to take questions, especially the hard ones about what we still have to show.
Likely question: "What would make you stop or pivot?"
Answer: If farmers and supervisors won't keep the handover record in a pilot, the decision layer has nothing to stand on. We'd focus on the simplest record-keeping problem before anything else.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8F4"/>
        </a:solidFill>
        <a:effectLst/>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marL="0" indent="0">
              <a:buNone/>
            </a:pPr>
            <a:r>
              <a:rPr lang="en-US" sz="1000" dirty="0">
                <a:solidFill>
                  <a:srgbClr val="5B6B73"/>
                </a:solidFill>
              </a:rPr>
              <a:t>Simulation output, not field-validated · personas are hypothesised</a:t>
            </a:r>
            <a:endParaRPr lang="en-US" sz="1000" dirty="0"/>
          </a:p>
        </p:txBody>
      </p:sp>
      <p:sp>
        <p:nvSpPr>
          <p:cNvPr id="3" name="Text 1"/>
          <p:cNvSpPr>
            <a:spLocks noGrp="1"/>
          </p:cNvSpPr>
          <p:nvPr>
            <p:ph type="title" idx="101" hasCustomPrompt="1"/>
          </p:nvPr>
        </p:nvSpPr>
        <p:spPr>
          <a:xfrm>
            <a:off x="548640" y="384048"/>
            <a:ext cx="11064240" cy="731520"/>
          </a:xfrm>
          <a:prstGeom prst="rect">
            <a:avLst/>
          </a:prstGeom>
          <a:noFill/>
          <a:ln/>
        </p:spPr>
        <p:txBody>
          <a:bodyPr wrap="square" rtlCol="0"/>
          <a:lstStyle>
            <a:lvl1pPr marL="0" indent="0" algn="l">
              <a:buNone/>
              <a:defRPr lang="en-US" sz="3600" b="1" dirty="0">
                <a:solidFill>
                  <a:srgbClr val="0B3D2E"/>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3D2E"/>
        </a:solidFill>
        <a:effectLst/>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marL="0" indent="0">
              <a:buNone/>
            </a:pPr>
            <a:r>
              <a:rPr lang="en-US" sz="1000" dirty="0">
                <a:solidFill>
                  <a:srgbClr val="B9D3C8"/>
                </a:solidFill>
              </a:rPr>
              <a:t>Simulation output, not field-validated · personas are hypothesised</a:t>
            </a:r>
            <a:endParaRPr lang="en-US" sz="1000" dirty="0"/>
          </a:p>
        </p:txBody>
      </p:sp>
      <p:sp>
        <p:nvSpPr>
          <p:cNvPr id="3" name="Text 1"/>
          <p:cNvSpPr>
            <a:spLocks noGrp="1"/>
          </p:cNvSpPr>
          <p:nvPr>
            <p:ph type="title" idx="101" hasCustomPrompt="1"/>
          </p:nvPr>
        </p:nvSpPr>
        <p:spPr>
          <a:xfrm>
            <a:off x="548640" y="384048"/>
            <a:ext cx="11064240" cy="731520"/>
          </a:xfrm>
          <a:prstGeom prst="rect">
            <a:avLst/>
          </a:prstGeom>
          <a:noFill/>
          <a:ln/>
        </p:spPr>
        <p:txBody>
          <a:bodyPr wrap="square" rtlCol="0"/>
          <a:lstStyle>
            <a:lvl1pPr marL="0" indent="0" algn="l">
              <a:buNone/>
              <a:defRPr lang="en-US" sz="3600" b="1" dirty="0">
                <a:solidFill>
                  <a:srgbClr val="FFFFFF"/>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D3C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www.pib.gov.in/PressReleasePage.aspx?PRID=2151371" TargetMode="External"/><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hyperlink" Target="https://pmc.ncbi.nlm.nih.gov/articles/PMC7033347/" TargetMode="External"/><Relationship Id="rId4" Type="http://schemas.openxmlformats.org/officeDocument/2006/relationships/image" Target="../media/image1.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hyperlink" Target="https://ninjacart.com" TargetMode="External"/><Relationship Id="rId3" Type="http://schemas.openxmlformats.org/officeDocument/2006/relationships/hyperlink" Target="https://agmarknet.gov.in" TargetMode="External"/><Relationship Id="rId7" Type="http://schemas.openxmlformats.org/officeDocument/2006/relationships/hyperlink" Target="https://locus.sh"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tracextech.com" TargetMode="External"/><Relationship Id="rId5" Type="http://schemas.openxmlformats.org/officeDocument/2006/relationships/hyperlink" Target="https://www.sourcetrace.com" TargetMode="External"/><Relationship Id="rId4" Type="http://schemas.openxmlformats.org/officeDocument/2006/relationships/hyperlink" Target="https://enam.gov.in"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77240"/>
            <a:ext cx="10058400" cy="365760"/>
          </a:xfrm>
          <a:prstGeom prst="rect">
            <a:avLst/>
          </a:prstGeom>
          <a:noFill/>
          <a:ln/>
        </p:spPr>
        <p:txBody>
          <a:bodyPr wrap="square" lIns="0" tIns="0" rIns="0" bIns="0" rtlCol="0" anchor="t"/>
          <a:lstStyle/>
          <a:p>
            <a:pPr marL="0" indent="0">
              <a:buNone/>
            </a:pPr>
            <a:r>
              <a:rPr lang="en-US" sz="1400" b="1" kern="0" spc="200" dirty="0">
                <a:solidFill>
                  <a:srgbClr val="10B981"/>
                </a:solidFill>
              </a:rPr>
              <a:t>IMPACT TANK ’26  ·  MARKET VALIDATION + GO-TO-MARKET</a:t>
            </a:r>
            <a:endParaRPr lang="en-US" sz="1400" dirty="0"/>
          </a:p>
        </p:txBody>
      </p:sp>
      <p:sp>
        <p:nvSpPr>
          <p:cNvPr id="3" name="Text 1"/>
          <p:cNvSpPr txBox="1"/>
          <p:nvPr/>
        </p:nvSpPr>
        <p:spPr>
          <a:xfrm>
            <a:off x="731520" y="1188720"/>
            <a:ext cx="10515600" cy="1005840"/>
          </a:xfrm>
          <a:prstGeom prst="rect">
            <a:avLst/>
          </a:prstGeom>
          <a:noFill/>
          <a:ln/>
        </p:spPr>
        <p:txBody>
          <a:bodyPr wrap="square" lIns="0" tIns="0" rIns="0" bIns="0" rtlCol="0" anchor="t"/>
          <a:lstStyle/>
          <a:p>
            <a:pPr marL="0" indent="0">
              <a:buNone/>
            </a:pPr>
            <a:r>
              <a:rPr lang="en-US" sz="5400" b="1" dirty="0">
                <a:solidFill>
                  <a:srgbClr val="FFFFFF"/>
                </a:solidFill>
                <a:latin typeface="Calibri" pitchFamily="34" charset="0"/>
                <a:ea typeface="Calibri" pitchFamily="34" charset="-122"/>
                <a:cs typeface="Calibri" pitchFamily="34" charset="-120"/>
              </a:rPr>
              <a:t>The Journey After Harvest</a:t>
            </a:r>
            <a:endParaRPr lang="en-US" sz="5400" dirty="0"/>
          </a:p>
        </p:txBody>
      </p:sp>
      <p:sp>
        <p:nvSpPr>
          <p:cNvPr id="4" name="Text 2"/>
          <p:cNvSpPr txBox="1"/>
          <p:nvPr/>
        </p:nvSpPr>
        <p:spPr>
          <a:xfrm>
            <a:off x="731520" y="2240280"/>
            <a:ext cx="9601200" cy="822960"/>
          </a:xfrm>
          <a:prstGeom prst="rect">
            <a:avLst/>
          </a:prstGeom>
          <a:noFill/>
          <a:ln/>
        </p:spPr>
        <p:txBody>
          <a:bodyPr wrap="square" lIns="0" tIns="0" rIns="0" bIns="0" rtlCol="0" anchor="t"/>
          <a:lstStyle/>
          <a:p>
            <a:pPr marL="0" indent="0">
              <a:buNone/>
            </a:pPr>
            <a:r>
              <a:rPr lang="en-US" sz="2000" dirty="0">
                <a:solidFill>
                  <a:srgbClr val="DCEBE4"/>
                </a:solidFill>
              </a:rPr>
              <a:t>Connecting traceability, operational coordination and smarter produce-distribution decisions</a:t>
            </a:r>
            <a:endParaRPr lang="en-US" sz="2000" dirty="0"/>
          </a:p>
        </p:txBody>
      </p:sp>
      <p:sp>
        <p:nvSpPr>
          <p:cNvPr id="5" name="Text 3"/>
          <p:cNvSpPr txBox="1"/>
          <p:nvPr/>
        </p:nvSpPr>
        <p:spPr>
          <a:xfrm>
            <a:off x="731520" y="3108960"/>
            <a:ext cx="10058400" cy="365760"/>
          </a:xfrm>
          <a:prstGeom prst="rect">
            <a:avLst/>
          </a:prstGeom>
          <a:noFill/>
          <a:ln/>
        </p:spPr>
        <p:txBody>
          <a:bodyPr wrap="square" lIns="0" tIns="0" rIns="0" bIns="0" rtlCol="0" anchor="t"/>
          <a:lstStyle/>
          <a:p>
            <a:pPr marL="0" indent="0">
              <a:buNone/>
            </a:pPr>
            <a:r>
              <a:rPr lang="en-US" sz="1600" b="1" dirty="0">
                <a:solidFill>
                  <a:srgbClr val="10B981"/>
                </a:solidFill>
              </a:rPr>
              <a:t>Tomato · Nagpur orange · Onion   |   Nagpur Division, Maharashtra</a:t>
            </a:r>
            <a:endParaRPr lang="en-US" sz="1600" dirty="0"/>
          </a:p>
        </p:txBody>
      </p:sp>
      <p:sp>
        <p:nvSpPr>
          <p:cNvPr id="6" name="Shape 4"/>
          <p:cNvSpPr/>
          <p:nvPr/>
        </p:nvSpPr>
        <p:spPr>
          <a:xfrm>
            <a:off x="1097280" y="4315968"/>
            <a:ext cx="9144000" cy="0"/>
          </a:xfrm>
          <a:prstGeom prst="line">
            <a:avLst/>
          </a:prstGeom>
          <a:noFill/>
          <a:ln w="25400">
            <a:solidFill>
              <a:srgbClr val="3E7A64"/>
            </a:solidFill>
            <a:prstDash val="dash"/>
          </a:ln>
        </p:spPr>
      </p:sp>
      <p:sp>
        <p:nvSpPr>
          <p:cNvPr id="7" name="icon circle FaSeedling"/>
          <p:cNvSpPr/>
          <p:nvPr/>
        </p:nvSpPr>
        <p:spPr>
          <a:xfrm>
            <a:off x="731520" y="3950208"/>
            <a:ext cx="731520" cy="731520"/>
          </a:xfrm>
          <a:prstGeom prst="ellipse">
            <a:avLst/>
          </a:prstGeom>
          <a:solidFill>
            <a:srgbClr val="1F5C47"/>
          </a:solidFill>
          <a:ln w="12700">
            <a:solidFill>
              <a:srgbClr val="1F5C47"/>
            </a:solidFill>
            <a:prstDash val="solid"/>
          </a:ln>
        </p:spPr>
      </p:sp>
      <p:pic>
        <p:nvPicPr>
          <p:cNvPr id="8" name="Image 0" descr="Seedling icon"/>
          <p:cNvPicPr>
            <a:picLocks noChangeAspect="1"/>
          </p:cNvPicPr>
          <p:nvPr/>
        </p:nvPicPr>
        <p:blipFill>
          <a:blip r:embed="rId3"/>
          <a:stretch>
            <a:fillRect/>
          </a:stretch>
        </p:blipFill>
        <p:spPr>
          <a:xfrm>
            <a:off x="929030" y="4147718"/>
            <a:ext cx="336499" cy="336499"/>
          </a:xfrm>
          <a:prstGeom prst="rect">
            <a:avLst/>
          </a:prstGeom>
        </p:spPr>
      </p:pic>
      <p:sp>
        <p:nvSpPr>
          <p:cNvPr id="9" name="Text 6"/>
          <p:cNvSpPr txBox="1"/>
          <p:nvPr/>
        </p:nvSpPr>
        <p:spPr>
          <a:xfrm>
            <a:off x="365760" y="4754880"/>
            <a:ext cx="1463040" cy="320040"/>
          </a:xfrm>
          <a:prstGeom prst="rect">
            <a:avLst/>
          </a:prstGeom>
          <a:noFill/>
          <a:ln/>
        </p:spPr>
        <p:txBody>
          <a:bodyPr wrap="square" lIns="0" tIns="0" rIns="0" bIns="0" rtlCol="0" anchor="t"/>
          <a:lstStyle/>
          <a:p>
            <a:pPr marL="0" indent="0" algn="ctr">
              <a:buNone/>
            </a:pPr>
            <a:r>
              <a:rPr lang="en-US" sz="1200" dirty="0">
                <a:solidFill>
                  <a:srgbClr val="DCEBE4"/>
                </a:solidFill>
              </a:rPr>
              <a:t>Farm</a:t>
            </a:r>
            <a:endParaRPr lang="en-US" sz="1200" dirty="0"/>
          </a:p>
        </p:txBody>
      </p:sp>
      <p:sp>
        <p:nvSpPr>
          <p:cNvPr id="10" name="icon circle FaWarehouse"/>
          <p:cNvSpPr/>
          <p:nvPr/>
        </p:nvSpPr>
        <p:spPr>
          <a:xfrm>
            <a:off x="3017520" y="3950208"/>
            <a:ext cx="731520" cy="731520"/>
          </a:xfrm>
          <a:prstGeom prst="ellipse">
            <a:avLst/>
          </a:prstGeom>
          <a:solidFill>
            <a:srgbClr val="1F5C47"/>
          </a:solidFill>
          <a:ln w="12700">
            <a:solidFill>
              <a:srgbClr val="1F5C47"/>
            </a:solidFill>
            <a:prstDash val="solid"/>
          </a:ln>
        </p:spPr>
      </p:sp>
      <p:pic>
        <p:nvPicPr>
          <p:cNvPr id="11" name="Image 1" descr="Warehouse icon"/>
          <p:cNvPicPr>
            <a:picLocks noChangeAspect="1"/>
          </p:cNvPicPr>
          <p:nvPr/>
        </p:nvPicPr>
        <p:blipFill>
          <a:blip r:embed="rId4"/>
          <a:stretch>
            <a:fillRect/>
          </a:stretch>
        </p:blipFill>
        <p:spPr>
          <a:xfrm>
            <a:off x="3215030" y="4147718"/>
            <a:ext cx="336499" cy="336499"/>
          </a:xfrm>
          <a:prstGeom prst="rect">
            <a:avLst/>
          </a:prstGeom>
        </p:spPr>
      </p:pic>
      <p:sp>
        <p:nvSpPr>
          <p:cNvPr id="12" name="Text 8"/>
          <p:cNvSpPr txBox="1"/>
          <p:nvPr/>
        </p:nvSpPr>
        <p:spPr>
          <a:xfrm>
            <a:off x="2651760" y="4754880"/>
            <a:ext cx="1463040" cy="320040"/>
          </a:xfrm>
          <a:prstGeom prst="rect">
            <a:avLst/>
          </a:prstGeom>
          <a:noFill/>
          <a:ln/>
        </p:spPr>
        <p:txBody>
          <a:bodyPr wrap="square" lIns="0" tIns="0" rIns="0" bIns="0" rtlCol="0" anchor="t"/>
          <a:lstStyle/>
          <a:p>
            <a:pPr marL="0" indent="0" algn="ctr">
              <a:buNone/>
            </a:pPr>
            <a:r>
              <a:rPr lang="en-US" sz="1200" dirty="0">
                <a:solidFill>
                  <a:srgbClr val="DCEBE4"/>
                </a:solidFill>
              </a:rPr>
              <a:t>Collection</a:t>
            </a:r>
            <a:endParaRPr lang="en-US" sz="1200" dirty="0"/>
          </a:p>
        </p:txBody>
      </p:sp>
      <p:sp>
        <p:nvSpPr>
          <p:cNvPr id="13" name="icon circle FaTruck"/>
          <p:cNvSpPr/>
          <p:nvPr/>
        </p:nvSpPr>
        <p:spPr>
          <a:xfrm>
            <a:off x="5303520" y="3950208"/>
            <a:ext cx="731520" cy="731520"/>
          </a:xfrm>
          <a:prstGeom prst="ellipse">
            <a:avLst/>
          </a:prstGeom>
          <a:solidFill>
            <a:srgbClr val="10B981"/>
          </a:solidFill>
          <a:ln w="12700">
            <a:solidFill>
              <a:srgbClr val="10B981"/>
            </a:solidFill>
            <a:prstDash val="solid"/>
          </a:ln>
        </p:spPr>
      </p:sp>
      <p:pic>
        <p:nvPicPr>
          <p:cNvPr id="14" name="Image 2" descr="Truck icon"/>
          <p:cNvPicPr>
            <a:picLocks noChangeAspect="1"/>
          </p:cNvPicPr>
          <p:nvPr/>
        </p:nvPicPr>
        <p:blipFill>
          <a:blip r:embed="rId5"/>
          <a:stretch>
            <a:fillRect/>
          </a:stretch>
        </p:blipFill>
        <p:spPr>
          <a:xfrm>
            <a:off x="5501030" y="4147718"/>
            <a:ext cx="336499" cy="336499"/>
          </a:xfrm>
          <a:prstGeom prst="rect">
            <a:avLst/>
          </a:prstGeom>
        </p:spPr>
      </p:pic>
      <p:sp>
        <p:nvSpPr>
          <p:cNvPr id="15" name="Text 10"/>
          <p:cNvSpPr txBox="1"/>
          <p:nvPr/>
        </p:nvSpPr>
        <p:spPr>
          <a:xfrm>
            <a:off x="4937760" y="4754880"/>
            <a:ext cx="1463040" cy="320040"/>
          </a:xfrm>
          <a:prstGeom prst="rect">
            <a:avLst/>
          </a:prstGeom>
          <a:noFill/>
          <a:ln/>
        </p:spPr>
        <p:txBody>
          <a:bodyPr wrap="square" lIns="0" tIns="0" rIns="0" bIns="0" rtlCol="0" anchor="t"/>
          <a:lstStyle/>
          <a:p>
            <a:pPr marL="0" indent="0" algn="ctr">
              <a:buNone/>
            </a:pPr>
            <a:r>
              <a:rPr lang="en-US" sz="1200" dirty="0">
                <a:solidFill>
                  <a:srgbClr val="DCEBE4"/>
                </a:solidFill>
              </a:rPr>
              <a:t>Transit</a:t>
            </a:r>
            <a:endParaRPr lang="en-US" sz="1200" dirty="0"/>
          </a:p>
        </p:txBody>
      </p:sp>
      <p:sp>
        <p:nvSpPr>
          <p:cNvPr id="16" name="icon circle FaStore"/>
          <p:cNvSpPr/>
          <p:nvPr/>
        </p:nvSpPr>
        <p:spPr>
          <a:xfrm>
            <a:off x="7589520" y="3950208"/>
            <a:ext cx="731520" cy="731520"/>
          </a:xfrm>
          <a:prstGeom prst="ellipse">
            <a:avLst/>
          </a:prstGeom>
          <a:solidFill>
            <a:srgbClr val="1F5C47"/>
          </a:solidFill>
          <a:ln w="12700">
            <a:solidFill>
              <a:srgbClr val="1F5C47"/>
            </a:solidFill>
            <a:prstDash val="solid"/>
          </a:ln>
        </p:spPr>
      </p:sp>
      <p:pic>
        <p:nvPicPr>
          <p:cNvPr id="17" name="Image 3" descr="Store icon"/>
          <p:cNvPicPr>
            <a:picLocks noChangeAspect="1"/>
          </p:cNvPicPr>
          <p:nvPr/>
        </p:nvPicPr>
        <p:blipFill>
          <a:blip r:embed="rId6"/>
          <a:stretch>
            <a:fillRect/>
          </a:stretch>
        </p:blipFill>
        <p:spPr>
          <a:xfrm>
            <a:off x="7787030" y="4147718"/>
            <a:ext cx="336499" cy="336499"/>
          </a:xfrm>
          <a:prstGeom prst="rect">
            <a:avLst/>
          </a:prstGeom>
        </p:spPr>
      </p:pic>
      <p:sp>
        <p:nvSpPr>
          <p:cNvPr id="18" name="Text 12"/>
          <p:cNvSpPr txBox="1"/>
          <p:nvPr/>
        </p:nvSpPr>
        <p:spPr>
          <a:xfrm>
            <a:off x="7223760" y="4754880"/>
            <a:ext cx="1463040" cy="320040"/>
          </a:xfrm>
          <a:prstGeom prst="rect">
            <a:avLst/>
          </a:prstGeom>
          <a:noFill/>
          <a:ln/>
        </p:spPr>
        <p:txBody>
          <a:bodyPr wrap="square" lIns="0" tIns="0" rIns="0" bIns="0" rtlCol="0" anchor="t"/>
          <a:lstStyle/>
          <a:p>
            <a:pPr marL="0" indent="0" algn="ctr">
              <a:buNone/>
            </a:pPr>
            <a:r>
              <a:rPr lang="en-US" sz="1200" dirty="0">
                <a:solidFill>
                  <a:srgbClr val="DCEBE4"/>
                </a:solidFill>
              </a:rPr>
              <a:t>Market</a:t>
            </a:r>
            <a:endParaRPr lang="en-US" sz="1200" dirty="0"/>
          </a:p>
        </p:txBody>
      </p:sp>
      <p:sp>
        <p:nvSpPr>
          <p:cNvPr id="19" name="icon circle FaHandHoldingHeart"/>
          <p:cNvSpPr/>
          <p:nvPr/>
        </p:nvSpPr>
        <p:spPr>
          <a:xfrm>
            <a:off x="9875520" y="3950208"/>
            <a:ext cx="731520" cy="731520"/>
          </a:xfrm>
          <a:prstGeom prst="ellipse">
            <a:avLst/>
          </a:prstGeom>
          <a:solidFill>
            <a:srgbClr val="1F5C47"/>
          </a:solidFill>
          <a:ln w="12700">
            <a:solidFill>
              <a:srgbClr val="1F5C47"/>
            </a:solidFill>
            <a:prstDash val="solid"/>
          </a:ln>
        </p:spPr>
      </p:sp>
      <p:pic>
        <p:nvPicPr>
          <p:cNvPr id="20" name="Image 4" descr="HandHoldingHeart icon"/>
          <p:cNvPicPr>
            <a:picLocks noChangeAspect="1"/>
          </p:cNvPicPr>
          <p:nvPr/>
        </p:nvPicPr>
        <p:blipFill>
          <a:blip r:embed="rId7"/>
          <a:stretch>
            <a:fillRect/>
          </a:stretch>
        </p:blipFill>
        <p:spPr>
          <a:xfrm>
            <a:off x="10073030" y="4147718"/>
            <a:ext cx="336499" cy="336499"/>
          </a:xfrm>
          <a:prstGeom prst="rect">
            <a:avLst/>
          </a:prstGeom>
        </p:spPr>
      </p:pic>
      <p:sp>
        <p:nvSpPr>
          <p:cNvPr id="21" name="Text 14"/>
          <p:cNvSpPr txBox="1"/>
          <p:nvPr/>
        </p:nvSpPr>
        <p:spPr>
          <a:xfrm>
            <a:off x="9509760" y="4754880"/>
            <a:ext cx="1463040" cy="320040"/>
          </a:xfrm>
          <a:prstGeom prst="rect">
            <a:avLst/>
          </a:prstGeom>
          <a:noFill/>
          <a:ln/>
        </p:spPr>
        <p:txBody>
          <a:bodyPr wrap="square" lIns="0" tIns="0" rIns="0" bIns="0" rtlCol="0" anchor="t"/>
          <a:lstStyle/>
          <a:p>
            <a:pPr marL="0" indent="0" algn="ctr">
              <a:buNone/>
            </a:pPr>
            <a:r>
              <a:rPr lang="en-US" sz="1200" dirty="0">
                <a:solidFill>
                  <a:srgbClr val="DCEBE4"/>
                </a:solidFill>
              </a:rPr>
              <a:t>Buyer / NGO</a:t>
            </a:r>
            <a:endParaRPr lang="en-US" sz="1200" dirty="0"/>
          </a:p>
        </p:txBody>
      </p:sp>
      <p:sp>
        <p:nvSpPr>
          <p:cNvPr id="22" name="Text 15"/>
          <p:cNvSpPr txBox="1"/>
          <p:nvPr/>
        </p:nvSpPr>
        <p:spPr>
          <a:xfrm>
            <a:off x="731520" y="5486400"/>
            <a:ext cx="10058400" cy="365760"/>
          </a:xfrm>
          <a:prstGeom prst="rect">
            <a:avLst/>
          </a:prstGeom>
          <a:noFill/>
          <a:ln/>
        </p:spPr>
        <p:txBody>
          <a:bodyPr wrap="square" lIns="0" tIns="0" rIns="0" bIns="0" rtlCol="0" anchor="t"/>
          <a:lstStyle/>
          <a:p>
            <a:pPr marL="0" indent="0">
              <a:buNone/>
            </a:pPr>
            <a:r>
              <a:rPr lang="en-US" sz="1600" dirty="0">
                <a:solidFill>
                  <a:srgbClr val="FFFFFF"/>
                </a:solidFill>
              </a:rPr>
              <a:t>[Mandi Algos]  ·  [Pranav Umbarkar, Ananya Reddy, </a:t>
            </a:r>
            <a:r>
              <a:rPr lang="en-US" sz="1600" dirty="0" err="1">
                <a:solidFill>
                  <a:srgbClr val="FFFFFF"/>
                </a:solidFill>
              </a:rPr>
              <a:t>Haamiz</a:t>
            </a:r>
            <a:r>
              <a:rPr lang="en-US" sz="1600" dirty="0">
                <a:solidFill>
                  <a:srgbClr val="FFFFFF"/>
                </a:solidFill>
              </a:rPr>
              <a:t> Suhail, Shrot Parekh]  ·  [NIT Warangal]</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D3C8"/>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Large losses, unknown transit share</a:t>
            </a:r>
            <a:endParaRPr lang="en-US" sz="3600" dirty="0"/>
          </a:p>
        </p:txBody>
      </p:sp>
      <p:sp>
        <p:nvSpPr>
          <p:cNvPr id="3" name="stat card"/>
          <p:cNvSpPr/>
          <p:nvPr/>
        </p:nvSpPr>
        <p:spPr>
          <a:xfrm>
            <a:off x="548640" y="1325880"/>
            <a:ext cx="3931920" cy="2697480"/>
          </a:xfrm>
          <a:prstGeom prst="roundRect">
            <a:avLst>
              <a:gd name="adj" fmla="val 406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4" name="Text 2"/>
          <p:cNvSpPr txBox="1"/>
          <p:nvPr/>
        </p:nvSpPr>
        <p:spPr>
          <a:xfrm>
            <a:off x="777240" y="1463040"/>
            <a:ext cx="3566160" cy="868680"/>
          </a:xfrm>
          <a:prstGeom prst="rect">
            <a:avLst/>
          </a:prstGeom>
          <a:noFill/>
          <a:ln/>
        </p:spPr>
        <p:txBody>
          <a:bodyPr wrap="square" lIns="0" tIns="0" rIns="0" bIns="0" rtlCol="0" anchor="t"/>
          <a:lstStyle/>
          <a:p>
            <a:pPr marL="0" indent="0">
              <a:buNone/>
            </a:pPr>
            <a:r>
              <a:rPr lang="en-US" sz="6000" b="1" dirty="0">
                <a:solidFill>
                  <a:srgbClr val="0B3D2E"/>
                </a:solidFill>
              </a:rPr>
              <a:t>19.33 Mt</a:t>
            </a:r>
            <a:endParaRPr lang="en-US" sz="6000" dirty="0"/>
          </a:p>
        </p:txBody>
      </p:sp>
      <p:sp>
        <p:nvSpPr>
          <p:cNvPr id="5" name="Text 3"/>
          <p:cNvSpPr txBox="1"/>
          <p:nvPr/>
        </p:nvSpPr>
        <p:spPr>
          <a:xfrm>
            <a:off x="777240" y="2331720"/>
            <a:ext cx="3566160" cy="640080"/>
          </a:xfrm>
          <a:prstGeom prst="rect">
            <a:avLst/>
          </a:prstGeom>
          <a:noFill/>
          <a:ln/>
        </p:spPr>
        <p:txBody>
          <a:bodyPr wrap="square" lIns="0" tIns="0" rIns="0" bIns="0" rtlCol="0" anchor="t"/>
          <a:lstStyle/>
          <a:p>
            <a:pPr marL="0" indent="0">
              <a:buNone/>
            </a:pPr>
            <a:r>
              <a:rPr lang="en-US" sz="1500" dirty="0">
                <a:solidFill>
                  <a:srgbClr val="1F2933"/>
                </a:solidFill>
              </a:rPr>
              <a:t>of fruits (7.36 Mt) and vegetables (11.97 Mt) lost after harvest</a:t>
            </a:r>
            <a:endParaRPr lang="en-US" sz="1500" dirty="0"/>
          </a:p>
        </p:txBody>
      </p:sp>
      <p:sp>
        <p:nvSpPr>
          <p:cNvPr id="6" name="chip DOCUMENTED"/>
          <p:cNvSpPr/>
          <p:nvPr/>
        </p:nvSpPr>
        <p:spPr>
          <a:xfrm>
            <a:off x="777240" y="3017520"/>
            <a:ext cx="987552" cy="256032"/>
          </a:xfrm>
          <a:prstGeom prst="roundRect">
            <a:avLst>
              <a:gd name="adj" fmla="val 50000"/>
            </a:avLst>
          </a:prstGeom>
          <a:solidFill>
            <a:srgbClr val="0F766E"/>
          </a:solidFill>
          <a:ln w="12700">
            <a:solidFill>
              <a:srgbClr val="0F766E"/>
            </a:solidFill>
            <a:prstDash val="solid"/>
          </a:ln>
        </p:spPr>
      </p:sp>
      <p:sp>
        <p:nvSpPr>
          <p:cNvPr id="7" name="Text 5"/>
          <p:cNvSpPr txBox="1"/>
          <p:nvPr/>
        </p:nvSpPr>
        <p:spPr>
          <a:xfrm>
            <a:off x="777240" y="3017520"/>
            <a:ext cx="987552"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DOCUMENTED</a:t>
            </a:r>
            <a:endParaRPr lang="en-US" sz="1000" dirty="0"/>
          </a:p>
        </p:txBody>
      </p:sp>
      <p:sp>
        <p:nvSpPr>
          <p:cNvPr id="8" name="Text 6"/>
          <p:cNvSpPr txBox="1"/>
          <p:nvPr/>
        </p:nvSpPr>
        <p:spPr>
          <a:xfrm>
            <a:off x="777240" y="3383280"/>
            <a:ext cx="3566160" cy="457200"/>
          </a:xfrm>
          <a:prstGeom prst="rect">
            <a:avLst/>
          </a:prstGeom>
          <a:noFill/>
          <a:ln/>
        </p:spPr>
        <p:txBody>
          <a:bodyPr wrap="square" lIns="0" tIns="0" rIns="0" bIns="0" rtlCol="0" anchor="t"/>
          <a:lstStyle/>
          <a:p>
            <a:pPr marL="0" indent="0">
              <a:buNone/>
            </a:pPr>
            <a:r>
              <a:rPr lang="en-US" sz="1000" u="sng" dirty="0">
                <a:solidFill>
                  <a:srgbClr val="5B6B73"/>
                </a:solidFill>
                <a:hlinkClick r:id="rId3">
                  <a:extLst>
                    <a:ext uri="{A12FA001-AC4F-418D-AE19-62706E023703}">
                      <ahyp:hlinkClr xmlns:ahyp="http://schemas.microsoft.com/office/drawing/2018/hyperlinkcolor" val="tx"/>
                    </a:ext>
                  </a:extLst>
                </a:hlinkClick>
              </a:rPr>
              <a:t>NABCONS study (2022) for MoFPI, 54 crops, 2020–22 · PIB, 1 Aug 2025</a:t>
            </a:r>
            <a:endParaRPr lang="en-US" sz="1000" dirty="0"/>
          </a:p>
        </p:txBody>
      </p:sp>
      <p:sp>
        <p:nvSpPr>
          <p:cNvPr id="9" name="crop table card"/>
          <p:cNvSpPr/>
          <p:nvPr/>
        </p:nvSpPr>
        <p:spPr>
          <a:xfrm>
            <a:off x="548640" y="4206240"/>
            <a:ext cx="3931920" cy="1920240"/>
          </a:xfrm>
          <a:prstGeom prst="roundRect">
            <a:avLst>
              <a:gd name="adj" fmla="val 571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0" name="Text 8"/>
          <p:cNvSpPr txBox="1"/>
          <p:nvPr/>
        </p:nvSpPr>
        <p:spPr>
          <a:xfrm>
            <a:off x="777240" y="4315968"/>
            <a:ext cx="3566160" cy="320040"/>
          </a:xfrm>
          <a:prstGeom prst="rect">
            <a:avLst/>
          </a:prstGeom>
          <a:noFill/>
          <a:ln/>
        </p:spPr>
        <p:txBody>
          <a:bodyPr wrap="square" lIns="0" tIns="0" rIns="0" bIns="0" rtlCol="0" anchor="t"/>
          <a:lstStyle/>
          <a:p>
            <a:pPr marL="0" indent="0">
              <a:buNone/>
            </a:pPr>
            <a:r>
              <a:rPr lang="en-US" sz="1400" b="1" dirty="0">
                <a:solidFill>
                  <a:srgbClr val="0B3D2E"/>
                </a:solidFill>
              </a:rPr>
              <a:t>Our crops: % lost (NABCONS)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4663440"/>
          <a:ext cx="3520440" cy="1097280"/>
        </p:xfrm>
        <a:graphic>
          <a:graphicData uri="http://schemas.openxmlformats.org/drawingml/2006/table">
            <a:tbl>
              <a:tblPr/>
              <a:tblGrid>
                <a:gridCol w="1600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74320">
                <a:tc>
                  <a:txBody>
                    <a:bodyPr/>
                    <a:lstStyle/>
                    <a:p>
                      <a:pPr marL="0" indent="0">
                        <a:buNone/>
                      </a:pPr>
                      <a:r>
                        <a:rPr lang="en-US" sz="1200" b="1" dirty="0">
                          <a:solidFill>
                            <a:srgbClr val="1F2933"/>
                          </a:solidFill>
                        </a:rPr>
                        <a:t>Crop</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b="1" dirty="0">
                          <a:solidFill>
                            <a:srgbClr val="1F2933"/>
                          </a:solidFill>
                        </a:rPr>
                        <a:t>Farm level</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b="1" dirty="0">
                          <a:solidFill>
                            <a:srgbClr val="1F2933"/>
                          </a:solidFill>
                        </a:rPr>
                        <a:t>Market level</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rgbClr val="1F2933"/>
                          </a:solidFill>
                        </a:rPr>
                        <a:t>Tomato</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8.37%</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3.25%</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200" dirty="0">
                          <a:solidFill>
                            <a:srgbClr val="1F2933"/>
                          </a:solidFill>
                        </a:rPr>
                        <a:t>Citrus (incl. orange)</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5.53%</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2.18%</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200" dirty="0">
                          <a:solidFill>
                            <a:srgbClr val="1F2933"/>
                          </a:solidFill>
                        </a:rPr>
                        <a:t>Onion</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5.31%</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1.96%</a:t>
                      </a:r>
                      <a:endParaRPr lang="en-US" sz="1200" dirty="0"/>
                    </a:p>
                  </a:txBody>
                  <a:tcPr marL="36576" marR="36576" marT="36576" marB="36576">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9"/>
          <p:cNvSpPr txBox="1"/>
          <p:nvPr/>
        </p:nvSpPr>
        <p:spPr>
          <a:xfrm>
            <a:off x="777240" y="5788152"/>
            <a:ext cx="3566160" cy="274320"/>
          </a:xfrm>
          <a:prstGeom prst="rect">
            <a:avLst/>
          </a:prstGeom>
          <a:noFill/>
          <a:ln/>
        </p:spPr>
        <p:txBody>
          <a:bodyPr wrap="square" lIns="0" tIns="0" rIns="0" bIns="0" rtlCol="0" anchor="t"/>
          <a:lstStyle/>
          <a:p>
            <a:pPr marL="0" indent="0">
              <a:buNone/>
            </a:pPr>
            <a:r>
              <a:rPr lang="en-US" sz="1100" i="1" dirty="0">
                <a:solidFill>
                  <a:srgbClr val="5B6B73"/>
                </a:solidFill>
              </a:rPr>
              <a:t>Transit is not reported separately</a:t>
            </a:r>
            <a:endParaRPr lang="en-US" sz="1100" dirty="0"/>
          </a:p>
        </p:txBody>
      </p:sp>
      <p:sp>
        <p:nvSpPr>
          <p:cNvPr id="13" name="prototype bracket"/>
          <p:cNvSpPr/>
          <p:nvPr/>
        </p:nvSpPr>
        <p:spPr>
          <a:xfrm>
            <a:off x="6144768" y="1481328"/>
            <a:ext cx="4224528" cy="1417320"/>
          </a:xfrm>
          <a:prstGeom prst="roundRect">
            <a:avLst>
              <a:gd name="adj" fmla="val 7742"/>
            </a:avLst>
          </a:prstGeom>
          <a:solidFill>
            <a:srgbClr val="E3F1EF">
              <a:alpha val="70000"/>
            </a:srgbClr>
          </a:solidFill>
          <a:ln w="15875">
            <a:solidFill>
              <a:srgbClr val="0F766E"/>
            </a:solidFill>
            <a:prstDash val="dash"/>
          </a:ln>
        </p:spPr>
      </p:sp>
      <p:sp>
        <p:nvSpPr>
          <p:cNvPr id="14" name="Text 11"/>
          <p:cNvSpPr txBox="1"/>
          <p:nvPr/>
        </p:nvSpPr>
        <p:spPr>
          <a:xfrm>
            <a:off x="6263640" y="1216152"/>
            <a:ext cx="2286000" cy="256032"/>
          </a:xfrm>
          <a:prstGeom prst="rect">
            <a:avLst/>
          </a:prstGeom>
          <a:noFill/>
          <a:ln/>
        </p:spPr>
        <p:txBody>
          <a:bodyPr wrap="square" lIns="0" tIns="0" rIns="0" bIns="0" rtlCol="0" anchor="t"/>
          <a:lstStyle/>
          <a:p>
            <a:pPr marL="0" indent="0">
              <a:buNone/>
            </a:pPr>
            <a:r>
              <a:rPr lang="en-US" sz="1100" b="1" dirty="0">
                <a:solidFill>
                  <a:srgbClr val="0F766E"/>
                </a:solidFill>
              </a:rPr>
              <a:t>Prototype covers</a:t>
            </a:r>
            <a:endParaRPr lang="en-US" sz="1100" dirty="0"/>
          </a:p>
        </p:txBody>
      </p:sp>
      <p:sp>
        <p:nvSpPr>
          <p:cNvPr id="15" name="Shape 12"/>
          <p:cNvSpPr/>
          <p:nvPr/>
        </p:nvSpPr>
        <p:spPr>
          <a:xfrm>
            <a:off x="5303520" y="1938528"/>
            <a:ext cx="5669280" cy="0"/>
          </a:xfrm>
          <a:prstGeom prst="line">
            <a:avLst/>
          </a:prstGeom>
          <a:noFill/>
          <a:ln w="19050">
            <a:solidFill>
              <a:srgbClr val="A8BDB5"/>
            </a:solidFill>
            <a:prstDash val="solid"/>
          </a:ln>
        </p:spPr>
      </p:sp>
      <p:sp>
        <p:nvSpPr>
          <p:cNvPr id="16" name="icon circle FaSeedling"/>
          <p:cNvSpPr/>
          <p:nvPr/>
        </p:nvSpPr>
        <p:spPr>
          <a:xfrm>
            <a:off x="4937760" y="1572768"/>
            <a:ext cx="731520" cy="731520"/>
          </a:xfrm>
          <a:prstGeom prst="ellipse">
            <a:avLst/>
          </a:prstGeom>
          <a:solidFill>
            <a:srgbClr val="5B6B73"/>
          </a:solidFill>
          <a:ln w="12700">
            <a:solidFill>
              <a:srgbClr val="5B6B73"/>
            </a:solidFill>
            <a:prstDash val="solid"/>
          </a:ln>
        </p:spPr>
      </p:sp>
      <p:pic>
        <p:nvPicPr>
          <p:cNvPr id="17" name="Image 0" descr="Seedling icon"/>
          <p:cNvPicPr>
            <a:picLocks noChangeAspect="1"/>
          </p:cNvPicPr>
          <p:nvPr/>
        </p:nvPicPr>
        <p:blipFill>
          <a:blip r:embed="rId4"/>
          <a:stretch>
            <a:fillRect/>
          </a:stretch>
        </p:blipFill>
        <p:spPr>
          <a:xfrm>
            <a:off x="5135270" y="1770278"/>
            <a:ext cx="336499" cy="336499"/>
          </a:xfrm>
          <a:prstGeom prst="rect">
            <a:avLst/>
          </a:prstGeom>
        </p:spPr>
      </p:pic>
      <p:sp>
        <p:nvSpPr>
          <p:cNvPr id="18" name="Text 14"/>
          <p:cNvSpPr txBox="1"/>
          <p:nvPr/>
        </p:nvSpPr>
        <p:spPr>
          <a:xfrm>
            <a:off x="4617720" y="2359152"/>
            <a:ext cx="1371600" cy="274320"/>
          </a:xfrm>
          <a:prstGeom prst="rect">
            <a:avLst/>
          </a:prstGeom>
          <a:noFill/>
          <a:ln/>
        </p:spPr>
        <p:txBody>
          <a:bodyPr wrap="square" lIns="0" tIns="0" rIns="0" bIns="0" rtlCol="0" anchor="t"/>
          <a:lstStyle/>
          <a:p>
            <a:pPr marL="0" indent="0" algn="ctr">
              <a:buNone/>
            </a:pPr>
            <a:r>
              <a:rPr lang="en-US" sz="1200" b="1" dirty="0">
                <a:solidFill>
                  <a:srgbClr val="1F2933"/>
                </a:solidFill>
              </a:rPr>
              <a:t>Farm</a:t>
            </a:r>
            <a:endParaRPr lang="en-US" sz="1200" dirty="0"/>
          </a:p>
        </p:txBody>
      </p:sp>
      <p:sp>
        <p:nvSpPr>
          <p:cNvPr id="19" name="icon circle FaWarehouse"/>
          <p:cNvSpPr/>
          <p:nvPr/>
        </p:nvSpPr>
        <p:spPr>
          <a:xfrm>
            <a:off x="6355080" y="1572768"/>
            <a:ext cx="731520" cy="731520"/>
          </a:xfrm>
          <a:prstGeom prst="ellipse">
            <a:avLst/>
          </a:prstGeom>
          <a:solidFill>
            <a:srgbClr val="0F766E"/>
          </a:solidFill>
          <a:ln w="12700">
            <a:solidFill>
              <a:srgbClr val="0F766E"/>
            </a:solidFill>
            <a:prstDash val="solid"/>
          </a:ln>
        </p:spPr>
      </p:sp>
      <p:pic>
        <p:nvPicPr>
          <p:cNvPr id="20" name="Image 1" descr="Warehouse icon"/>
          <p:cNvPicPr>
            <a:picLocks noChangeAspect="1"/>
          </p:cNvPicPr>
          <p:nvPr/>
        </p:nvPicPr>
        <p:blipFill>
          <a:blip r:embed="rId5"/>
          <a:stretch>
            <a:fillRect/>
          </a:stretch>
        </p:blipFill>
        <p:spPr>
          <a:xfrm>
            <a:off x="6552590" y="1770278"/>
            <a:ext cx="336499" cy="336499"/>
          </a:xfrm>
          <a:prstGeom prst="rect">
            <a:avLst/>
          </a:prstGeom>
        </p:spPr>
      </p:pic>
      <p:sp>
        <p:nvSpPr>
          <p:cNvPr id="21" name="Text 16"/>
          <p:cNvSpPr txBox="1"/>
          <p:nvPr/>
        </p:nvSpPr>
        <p:spPr>
          <a:xfrm>
            <a:off x="6035040" y="2359152"/>
            <a:ext cx="1371600" cy="274320"/>
          </a:xfrm>
          <a:prstGeom prst="rect">
            <a:avLst/>
          </a:prstGeom>
          <a:noFill/>
          <a:ln/>
        </p:spPr>
        <p:txBody>
          <a:bodyPr wrap="square" lIns="0" tIns="0" rIns="0" bIns="0" rtlCol="0" anchor="t"/>
          <a:lstStyle/>
          <a:p>
            <a:pPr marL="0" indent="0" algn="ctr">
              <a:buNone/>
            </a:pPr>
            <a:r>
              <a:rPr lang="en-US" sz="1200" b="1" dirty="0">
                <a:solidFill>
                  <a:srgbClr val="1F2933"/>
                </a:solidFill>
              </a:rPr>
              <a:t>Collection</a:t>
            </a:r>
            <a:endParaRPr lang="en-US" sz="1200" dirty="0"/>
          </a:p>
        </p:txBody>
      </p:sp>
      <p:sp>
        <p:nvSpPr>
          <p:cNvPr id="22" name="icon circle FaTruck"/>
          <p:cNvSpPr/>
          <p:nvPr/>
        </p:nvSpPr>
        <p:spPr>
          <a:xfrm>
            <a:off x="7772400" y="1572768"/>
            <a:ext cx="731520" cy="731520"/>
          </a:xfrm>
          <a:prstGeom prst="ellipse">
            <a:avLst/>
          </a:prstGeom>
          <a:solidFill>
            <a:srgbClr val="0F766E"/>
          </a:solidFill>
          <a:ln w="12700">
            <a:solidFill>
              <a:srgbClr val="0F766E"/>
            </a:solidFill>
            <a:prstDash val="solid"/>
          </a:ln>
        </p:spPr>
      </p:sp>
      <p:pic>
        <p:nvPicPr>
          <p:cNvPr id="23" name="Image 2" descr="Truck icon"/>
          <p:cNvPicPr>
            <a:picLocks noChangeAspect="1"/>
          </p:cNvPicPr>
          <p:nvPr/>
        </p:nvPicPr>
        <p:blipFill>
          <a:blip r:embed="rId6"/>
          <a:stretch>
            <a:fillRect/>
          </a:stretch>
        </p:blipFill>
        <p:spPr>
          <a:xfrm>
            <a:off x="7969910" y="1770278"/>
            <a:ext cx="336499" cy="336499"/>
          </a:xfrm>
          <a:prstGeom prst="rect">
            <a:avLst/>
          </a:prstGeom>
        </p:spPr>
      </p:pic>
      <p:sp>
        <p:nvSpPr>
          <p:cNvPr id="24" name="Text 18"/>
          <p:cNvSpPr txBox="1"/>
          <p:nvPr/>
        </p:nvSpPr>
        <p:spPr>
          <a:xfrm>
            <a:off x="7452360" y="2359152"/>
            <a:ext cx="1371600" cy="274320"/>
          </a:xfrm>
          <a:prstGeom prst="rect">
            <a:avLst/>
          </a:prstGeom>
          <a:noFill/>
          <a:ln/>
        </p:spPr>
        <p:txBody>
          <a:bodyPr wrap="square" lIns="0" tIns="0" rIns="0" bIns="0" rtlCol="0" anchor="t"/>
          <a:lstStyle/>
          <a:p>
            <a:pPr marL="0" indent="0" algn="ctr">
              <a:buNone/>
            </a:pPr>
            <a:r>
              <a:rPr lang="en-US" sz="1200" b="1" dirty="0">
                <a:solidFill>
                  <a:srgbClr val="1F2933"/>
                </a:solidFill>
              </a:rPr>
              <a:t>Transit</a:t>
            </a:r>
            <a:endParaRPr lang="en-US" sz="1200" dirty="0"/>
          </a:p>
        </p:txBody>
      </p:sp>
      <p:sp>
        <p:nvSpPr>
          <p:cNvPr id="25" name="icon circle FaStore"/>
          <p:cNvSpPr/>
          <p:nvPr/>
        </p:nvSpPr>
        <p:spPr>
          <a:xfrm>
            <a:off x="9189720" y="1572768"/>
            <a:ext cx="731520" cy="731520"/>
          </a:xfrm>
          <a:prstGeom prst="ellipse">
            <a:avLst/>
          </a:prstGeom>
          <a:solidFill>
            <a:srgbClr val="0F766E"/>
          </a:solidFill>
          <a:ln w="12700">
            <a:solidFill>
              <a:srgbClr val="0F766E"/>
            </a:solidFill>
            <a:prstDash val="solid"/>
          </a:ln>
        </p:spPr>
      </p:sp>
      <p:pic>
        <p:nvPicPr>
          <p:cNvPr id="26" name="Image 3" descr="Store icon"/>
          <p:cNvPicPr>
            <a:picLocks noChangeAspect="1"/>
          </p:cNvPicPr>
          <p:nvPr/>
        </p:nvPicPr>
        <p:blipFill>
          <a:blip r:embed="rId7"/>
          <a:stretch>
            <a:fillRect/>
          </a:stretch>
        </p:blipFill>
        <p:spPr>
          <a:xfrm>
            <a:off x="9387230" y="1770278"/>
            <a:ext cx="336499" cy="336499"/>
          </a:xfrm>
          <a:prstGeom prst="rect">
            <a:avLst/>
          </a:prstGeom>
        </p:spPr>
      </p:pic>
      <p:sp>
        <p:nvSpPr>
          <p:cNvPr id="27" name="Text 20"/>
          <p:cNvSpPr txBox="1"/>
          <p:nvPr/>
        </p:nvSpPr>
        <p:spPr>
          <a:xfrm>
            <a:off x="8869680" y="2359152"/>
            <a:ext cx="1371600" cy="274320"/>
          </a:xfrm>
          <a:prstGeom prst="rect">
            <a:avLst/>
          </a:prstGeom>
          <a:noFill/>
          <a:ln/>
        </p:spPr>
        <p:txBody>
          <a:bodyPr wrap="square" lIns="0" tIns="0" rIns="0" bIns="0" rtlCol="0" anchor="t"/>
          <a:lstStyle/>
          <a:p>
            <a:pPr marL="0" indent="0" algn="ctr">
              <a:buNone/>
            </a:pPr>
            <a:r>
              <a:rPr lang="en-US" sz="1200" b="1" dirty="0">
                <a:solidFill>
                  <a:srgbClr val="1F2933"/>
                </a:solidFill>
              </a:rPr>
              <a:t>Mandi / market</a:t>
            </a:r>
            <a:endParaRPr lang="en-US" sz="1200" dirty="0"/>
          </a:p>
        </p:txBody>
      </p:sp>
      <p:sp>
        <p:nvSpPr>
          <p:cNvPr id="28" name="icon circle FaBasketShopping"/>
          <p:cNvSpPr/>
          <p:nvPr/>
        </p:nvSpPr>
        <p:spPr>
          <a:xfrm>
            <a:off x="10607040" y="1572768"/>
            <a:ext cx="731520" cy="731520"/>
          </a:xfrm>
          <a:prstGeom prst="ellipse">
            <a:avLst/>
          </a:prstGeom>
          <a:solidFill>
            <a:srgbClr val="5B6B73"/>
          </a:solidFill>
          <a:ln w="12700">
            <a:solidFill>
              <a:srgbClr val="5B6B73"/>
            </a:solidFill>
            <a:prstDash val="solid"/>
          </a:ln>
        </p:spPr>
      </p:sp>
      <p:pic>
        <p:nvPicPr>
          <p:cNvPr id="29" name="Image 4" descr="BasketShopping icon"/>
          <p:cNvPicPr>
            <a:picLocks noChangeAspect="1"/>
          </p:cNvPicPr>
          <p:nvPr/>
        </p:nvPicPr>
        <p:blipFill>
          <a:blip r:embed="rId8"/>
          <a:stretch>
            <a:fillRect/>
          </a:stretch>
        </p:blipFill>
        <p:spPr>
          <a:xfrm>
            <a:off x="10804550" y="1770278"/>
            <a:ext cx="336499" cy="336499"/>
          </a:xfrm>
          <a:prstGeom prst="rect">
            <a:avLst/>
          </a:prstGeom>
        </p:spPr>
      </p:pic>
      <p:sp>
        <p:nvSpPr>
          <p:cNvPr id="30" name="Text 22"/>
          <p:cNvSpPr txBox="1"/>
          <p:nvPr/>
        </p:nvSpPr>
        <p:spPr>
          <a:xfrm>
            <a:off x="10287000" y="2359152"/>
            <a:ext cx="1371600" cy="274320"/>
          </a:xfrm>
          <a:prstGeom prst="rect">
            <a:avLst/>
          </a:prstGeom>
          <a:noFill/>
          <a:ln/>
        </p:spPr>
        <p:txBody>
          <a:bodyPr wrap="square" lIns="0" tIns="0" rIns="0" bIns="0" rtlCol="0" anchor="t"/>
          <a:lstStyle/>
          <a:p>
            <a:pPr marL="0" indent="0" algn="ctr">
              <a:buNone/>
            </a:pPr>
            <a:r>
              <a:rPr lang="en-US" sz="1200" b="1" dirty="0">
                <a:solidFill>
                  <a:srgbClr val="1F2933"/>
                </a:solidFill>
              </a:rPr>
              <a:t>Buyer</a:t>
            </a:r>
            <a:endParaRPr lang="en-US" sz="1200" dirty="0"/>
          </a:p>
        </p:txBody>
      </p:sp>
      <p:pic>
        <p:nvPicPr>
          <p:cNvPr id="31" name="Image 5" descr="information gap"/>
          <p:cNvPicPr>
            <a:picLocks noChangeAspect="1"/>
          </p:cNvPicPr>
          <p:nvPr/>
        </p:nvPicPr>
        <p:blipFill>
          <a:blip r:embed="rId9"/>
          <a:stretch>
            <a:fillRect/>
          </a:stretch>
        </p:blipFill>
        <p:spPr>
          <a:xfrm>
            <a:off x="5641848" y="2999232"/>
            <a:ext cx="219456" cy="219456"/>
          </a:xfrm>
          <a:prstGeom prst="rect">
            <a:avLst/>
          </a:prstGeom>
        </p:spPr>
      </p:pic>
      <p:sp>
        <p:nvSpPr>
          <p:cNvPr id="32" name="Text 23"/>
          <p:cNvSpPr txBox="1"/>
          <p:nvPr/>
        </p:nvSpPr>
        <p:spPr>
          <a:xfrm>
            <a:off x="5897880" y="2990088"/>
            <a:ext cx="1188720" cy="256032"/>
          </a:xfrm>
          <a:prstGeom prst="rect">
            <a:avLst/>
          </a:prstGeom>
          <a:noFill/>
          <a:ln/>
        </p:spPr>
        <p:txBody>
          <a:bodyPr wrap="square" lIns="0" tIns="0" rIns="0" bIns="0" rtlCol="0" anchor="t"/>
          <a:lstStyle/>
          <a:p>
            <a:pPr marL="0" indent="0">
              <a:buNone/>
            </a:pPr>
            <a:r>
              <a:rPr lang="en-US" sz="1100" b="1" dirty="0">
                <a:solidFill>
                  <a:srgbClr val="8A5A00"/>
                </a:solidFill>
              </a:rPr>
              <a:t>Handover</a:t>
            </a:r>
            <a:endParaRPr lang="en-US" sz="1100" dirty="0"/>
          </a:p>
        </p:txBody>
      </p:sp>
      <p:pic>
        <p:nvPicPr>
          <p:cNvPr id="33" name="Image 6" descr="information gap"/>
          <p:cNvPicPr>
            <a:picLocks noChangeAspect="1"/>
          </p:cNvPicPr>
          <p:nvPr/>
        </p:nvPicPr>
        <p:blipFill>
          <a:blip r:embed="rId9"/>
          <a:stretch>
            <a:fillRect/>
          </a:stretch>
        </p:blipFill>
        <p:spPr>
          <a:xfrm>
            <a:off x="7562088" y="2999232"/>
            <a:ext cx="219456" cy="219456"/>
          </a:xfrm>
          <a:prstGeom prst="rect">
            <a:avLst/>
          </a:prstGeom>
        </p:spPr>
      </p:pic>
      <p:sp>
        <p:nvSpPr>
          <p:cNvPr id="34" name="Text 24"/>
          <p:cNvSpPr txBox="1"/>
          <p:nvPr/>
        </p:nvSpPr>
        <p:spPr>
          <a:xfrm>
            <a:off x="7818120" y="2990088"/>
            <a:ext cx="1188720" cy="256032"/>
          </a:xfrm>
          <a:prstGeom prst="rect">
            <a:avLst/>
          </a:prstGeom>
          <a:noFill/>
          <a:ln/>
        </p:spPr>
        <p:txBody>
          <a:bodyPr wrap="square" lIns="0" tIns="0" rIns="0" bIns="0" rtlCol="0" anchor="t"/>
          <a:lstStyle/>
          <a:p>
            <a:pPr marL="0" indent="0">
              <a:buNone/>
            </a:pPr>
            <a:r>
              <a:rPr lang="en-US" sz="1100" b="1" dirty="0">
                <a:solidFill>
                  <a:srgbClr val="8A5A00"/>
                </a:solidFill>
              </a:rPr>
              <a:t>Delays, heat</a:t>
            </a:r>
            <a:endParaRPr lang="en-US" sz="1100" dirty="0"/>
          </a:p>
        </p:txBody>
      </p:sp>
      <p:pic>
        <p:nvPicPr>
          <p:cNvPr id="35" name="Image 7" descr="information gap"/>
          <p:cNvPicPr>
            <a:picLocks noChangeAspect="1"/>
          </p:cNvPicPr>
          <p:nvPr/>
        </p:nvPicPr>
        <p:blipFill>
          <a:blip r:embed="rId9"/>
          <a:stretch>
            <a:fillRect/>
          </a:stretch>
        </p:blipFill>
        <p:spPr>
          <a:xfrm>
            <a:off x="8979408" y="2999232"/>
            <a:ext cx="219456" cy="219456"/>
          </a:xfrm>
          <a:prstGeom prst="rect">
            <a:avLst/>
          </a:prstGeom>
        </p:spPr>
      </p:pic>
      <p:sp>
        <p:nvSpPr>
          <p:cNvPr id="36" name="Text 25"/>
          <p:cNvSpPr txBox="1"/>
          <p:nvPr/>
        </p:nvSpPr>
        <p:spPr>
          <a:xfrm>
            <a:off x="9235440" y="2990088"/>
            <a:ext cx="1188720" cy="256032"/>
          </a:xfrm>
          <a:prstGeom prst="rect">
            <a:avLst/>
          </a:prstGeom>
          <a:noFill/>
          <a:ln/>
        </p:spPr>
        <p:txBody>
          <a:bodyPr wrap="square" lIns="0" tIns="0" rIns="0" bIns="0" rtlCol="0" anchor="t"/>
          <a:lstStyle/>
          <a:p>
            <a:pPr marL="0" indent="0">
              <a:buNone/>
            </a:pPr>
            <a:r>
              <a:rPr lang="en-US" sz="1100" b="1" dirty="0">
                <a:solidFill>
                  <a:srgbClr val="8A5A00"/>
                </a:solidFill>
              </a:rPr>
              <a:t>Mandi queues</a:t>
            </a:r>
            <a:endParaRPr lang="en-US" sz="1100" dirty="0"/>
          </a:p>
        </p:txBody>
      </p:sp>
      <p:sp>
        <p:nvSpPr>
          <p:cNvPr id="37" name="chip INTERPRETATION"/>
          <p:cNvSpPr/>
          <p:nvPr/>
        </p:nvSpPr>
        <p:spPr>
          <a:xfrm>
            <a:off x="10378440" y="2990088"/>
            <a:ext cx="1272845" cy="256032"/>
          </a:xfrm>
          <a:prstGeom prst="roundRect">
            <a:avLst>
              <a:gd name="adj" fmla="val 50000"/>
            </a:avLst>
          </a:prstGeom>
          <a:solidFill>
            <a:srgbClr val="5B6B73"/>
          </a:solidFill>
          <a:ln w="12700">
            <a:solidFill>
              <a:srgbClr val="5B6B73"/>
            </a:solidFill>
            <a:prstDash val="solid"/>
          </a:ln>
        </p:spPr>
      </p:sp>
      <p:sp>
        <p:nvSpPr>
          <p:cNvPr id="38" name="Text 27"/>
          <p:cNvSpPr txBox="1"/>
          <p:nvPr/>
        </p:nvSpPr>
        <p:spPr>
          <a:xfrm>
            <a:off x="10378440" y="2990088"/>
            <a:ext cx="1272845"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INTERPRETATION</a:t>
            </a:r>
            <a:endParaRPr lang="en-US" sz="1000" dirty="0"/>
          </a:p>
        </p:txBody>
      </p:sp>
      <p:sp>
        <p:nvSpPr>
          <p:cNvPr id="39" name="transit unknown callout"/>
          <p:cNvSpPr/>
          <p:nvPr/>
        </p:nvSpPr>
        <p:spPr>
          <a:xfrm>
            <a:off x="4754880" y="3520440"/>
            <a:ext cx="6858000" cy="1188720"/>
          </a:xfrm>
          <a:prstGeom prst="roundRect">
            <a:avLst>
              <a:gd name="adj" fmla="val 9231"/>
            </a:avLst>
          </a:prstGeom>
          <a:solidFill>
            <a:srgbClr val="FBF1DD"/>
          </a:solidFill>
          <a:ln w="12700">
            <a:solidFill>
              <a:srgbClr val="FBF1DD"/>
            </a:solidFill>
            <a:prstDash val="solid"/>
          </a:ln>
          <a:effectLst>
            <a:outerShdw blurRad="76200" dist="25400" dir="5400000" algn="bl" rotWithShape="0">
              <a:srgbClr val="000000">
                <a:alpha val="12000"/>
              </a:srgbClr>
            </a:outerShdw>
          </a:effectLst>
        </p:spPr>
      </p:sp>
      <p:sp>
        <p:nvSpPr>
          <p:cNvPr id="40" name="Text 29"/>
          <p:cNvSpPr txBox="1"/>
          <p:nvPr/>
        </p:nvSpPr>
        <p:spPr>
          <a:xfrm>
            <a:off x="4983480" y="3630168"/>
            <a:ext cx="4572000" cy="411480"/>
          </a:xfrm>
          <a:prstGeom prst="rect">
            <a:avLst/>
          </a:prstGeom>
          <a:noFill/>
          <a:ln/>
        </p:spPr>
        <p:txBody>
          <a:bodyPr wrap="square" lIns="0" tIns="0" rIns="0" bIns="0" rtlCol="0" anchor="t"/>
          <a:lstStyle/>
          <a:p>
            <a:pPr marL="0" indent="0">
              <a:buNone/>
            </a:pPr>
            <a:r>
              <a:rPr lang="en-US" sz="2200" b="1" dirty="0">
                <a:solidFill>
                  <a:srgbClr val="8A5A00"/>
                </a:solidFill>
              </a:rPr>
              <a:t>Transit-stage share: unknown</a:t>
            </a:r>
            <a:endParaRPr lang="en-US" sz="2200" dirty="0"/>
          </a:p>
        </p:txBody>
      </p:sp>
      <p:sp>
        <p:nvSpPr>
          <p:cNvPr id="41" name="chip HYPOTHESIS TO VALIDATE"/>
          <p:cNvSpPr/>
          <p:nvPr/>
        </p:nvSpPr>
        <p:spPr>
          <a:xfrm>
            <a:off x="9646920" y="3703320"/>
            <a:ext cx="1843430" cy="256032"/>
          </a:xfrm>
          <a:prstGeom prst="roundRect">
            <a:avLst>
              <a:gd name="adj" fmla="val 50000"/>
            </a:avLst>
          </a:prstGeom>
          <a:solidFill>
            <a:srgbClr val="8A5A00"/>
          </a:solidFill>
          <a:ln w="12700">
            <a:solidFill>
              <a:srgbClr val="8A5A00"/>
            </a:solidFill>
            <a:prstDash val="solid"/>
          </a:ln>
        </p:spPr>
      </p:sp>
      <p:sp>
        <p:nvSpPr>
          <p:cNvPr id="42" name="Text 31"/>
          <p:cNvSpPr txBox="1"/>
          <p:nvPr/>
        </p:nvSpPr>
        <p:spPr>
          <a:xfrm>
            <a:off x="9646920" y="3703320"/>
            <a:ext cx="1843430"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 TO VALIDATE</a:t>
            </a:r>
            <a:endParaRPr lang="en-US" sz="1000" dirty="0"/>
          </a:p>
        </p:txBody>
      </p:sp>
      <p:sp>
        <p:nvSpPr>
          <p:cNvPr id="43" name="Text 32"/>
          <p:cNvSpPr txBox="1"/>
          <p:nvPr/>
        </p:nvSpPr>
        <p:spPr>
          <a:xfrm>
            <a:off x="4983480" y="4069080"/>
            <a:ext cx="6400800" cy="594360"/>
          </a:xfrm>
          <a:prstGeom prst="rect">
            <a:avLst/>
          </a:prstGeom>
          <a:noFill/>
          <a:ln/>
        </p:spPr>
        <p:txBody>
          <a:bodyPr wrap="square" lIns="0" tIns="0" rIns="0" bIns="0" rtlCol="0" anchor="t"/>
          <a:lstStyle/>
          <a:p>
            <a:pPr marL="0" indent="0">
              <a:buNone/>
            </a:pPr>
            <a:r>
              <a:rPr lang="en-US" sz="1400" dirty="0">
                <a:solidFill>
                  <a:srgbClr val="1F2933"/>
                </a:solidFill>
              </a:rPr>
              <a:t>NABCONS reports farm-level and market-level loss; what happens on the road is not measured separately. Closing that gap is the point of the operations layer.</a:t>
            </a:r>
            <a:endParaRPr lang="en-US" sz="1400" dirty="0"/>
          </a:p>
        </p:txBody>
      </p:sp>
      <p:sp>
        <p:nvSpPr>
          <p:cNvPr id="44" name="time temperature callout"/>
          <p:cNvSpPr/>
          <p:nvPr/>
        </p:nvSpPr>
        <p:spPr>
          <a:xfrm>
            <a:off x="4754880" y="4892040"/>
            <a:ext cx="6858000" cy="1234440"/>
          </a:xfrm>
          <a:prstGeom prst="roundRect">
            <a:avLst>
              <a:gd name="adj" fmla="val 888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45" name="Text 34"/>
          <p:cNvSpPr txBox="1"/>
          <p:nvPr/>
        </p:nvSpPr>
        <p:spPr>
          <a:xfrm>
            <a:off x="4983480" y="5001768"/>
            <a:ext cx="4754880" cy="365760"/>
          </a:xfrm>
          <a:prstGeom prst="rect">
            <a:avLst/>
          </a:prstGeom>
          <a:noFill/>
          <a:ln/>
        </p:spPr>
        <p:txBody>
          <a:bodyPr wrap="square" lIns="0" tIns="0" rIns="0" bIns="0" rtlCol="0" anchor="t"/>
          <a:lstStyle/>
          <a:p>
            <a:pPr marL="0" indent="0">
              <a:buNone/>
            </a:pPr>
            <a:r>
              <a:rPr lang="en-US" sz="1800" b="1" dirty="0">
                <a:solidFill>
                  <a:srgbClr val="0B3D2E"/>
                </a:solidFill>
              </a:rPr>
              <a:t>Quality falls with time and temperature</a:t>
            </a:r>
            <a:endParaRPr lang="en-US" sz="1800" dirty="0"/>
          </a:p>
        </p:txBody>
      </p:sp>
      <p:sp>
        <p:nvSpPr>
          <p:cNvPr id="46" name="chip INTERPRETATION"/>
          <p:cNvSpPr/>
          <p:nvPr/>
        </p:nvSpPr>
        <p:spPr>
          <a:xfrm>
            <a:off x="10195560" y="5047488"/>
            <a:ext cx="1272845" cy="256032"/>
          </a:xfrm>
          <a:prstGeom prst="roundRect">
            <a:avLst>
              <a:gd name="adj" fmla="val 50000"/>
            </a:avLst>
          </a:prstGeom>
          <a:solidFill>
            <a:srgbClr val="5B6B73"/>
          </a:solidFill>
          <a:ln w="12700">
            <a:solidFill>
              <a:srgbClr val="5B6B73"/>
            </a:solidFill>
            <a:prstDash val="solid"/>
          </a:ln>
        </p:spPr>
      </p:sp>
      <p:sp>
        <p:nvSpPr>
          <p:cNvPr id="47" name="Text 36"/>
          <p:cNvSpPr txBox="1"/>
          <p:nvPr/>
        </p:nvSpPr>
        <p:spPr>
          <a:xfrm>
            <a:off x="10195560" y="5047488"/>
            <a:ext cx="1272845"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INTERPRETATION</a:t>
            </a:r>
            <a:endParaRPr lang="en-US" sz="1000" dirty="0"/>
          </a:p>
        </p:txBody>
      </p:sp>
      <p:sp>
        <p:nvSpPr>
          <p:cNvPr id="48" name="Text 37"/>
          <p:cNvSpPr txBox="1"/>
          <p:nvPr/>
        </p:nvSpPr>
        <p:spPr>
          <a:xfrm>
            <a:off x="4983480" y="5376672"/>
            <a:ext cx="6400800" cy="457200"/>
          </a:xfrm>
          <a:prstGeom prst="rect">
            <a:avLst/>
          </a:prstGeom>
          <a:noFill/>
          <a:ln/>
        </p:spPr>
        <p:txBody>
          <a:bodyPr wrap="square" lIns="0" tIns="0" rIns="0" bIns="0" rtlCol="0" anchor="t"/>
          <a:lstStyle/>
          <a:p>
            <a:pPr marL="0" indent="0">
              <a:buNone/>
            </a:pPr>
            <a:r>
              <a:rPr lang="en-US" sz="1400" dirty="0">
                <a:solidFill>
                  <a:srgbClr val="1F2933"/>
                </a:solidFill>
              </a:rPr>
              <a:t>So when and where a load goes matters. A published production-routing model treats quality as a function of time and temperature.</a:t>
            </a:r>
            <a:endParaRPr lang="en-US" sz="1400" dirty="0"/>
          </a:p>
        </p:txBody>
      </p:sp>
      <p:sp>
        <p:nvSpPr>
          <p:cNvPr id="49" name="Text 38"/>
          <p:cNvSpPr txBox="1"/>
          <p:nvPr/>
        </p:nvSpPr>
        <p:spPr>
          <a:xfrm>
            <a:off x="4983480" y="5852160"/>
            <a:ext cx="6400800" cy="228600"/>
          </a:xfrm>
          <a:prstGeom prst="rect">
            <a:avLst/>
          </a:prstGeom>
          <a:noFill/>
          <a:ln/>
        </p:spPr>
        <p:txBody>
          <a:bodyPr wrap="square" lIns="0" tIns="0" rIns="0" bIns="0" rtlCol="0" anchor="t"/>
          <a:lstStyle/>
          <a:p>
            <a:pPr marL="0" indent="0">
              <a:buNone/>
            </a:pPr>
            <a:r>
              <a:rPr lang="en-US" sz="1000" u="sng" dirty="0">
                <a:solidFill>
                  <a:srgbClr val="5B6B73"/>
                </a:solidFill>
                <a:hlinkClick r:id="rId10">
                  <a:extLst>
                    <a:ext uri="{A12FA001-AC4F-418D-AE19-62706E023703}">
                      <ahyp:hlinkClr xmlns:ahyp="http://schemas.microsoft.com/office/drawing/2018/hyperlinkcolor" val="tx"/>
                    </a:ext>
                  </a:extLst>
                </a:hlinkClick>
              </a:rPr>
              <a:t>Manouchehri, Shahandeh Nookabadi &amp; Kadivar, Heliyon 2020 (models chicken meat; we use the principle only)</a:t>
            </a:r>
            <a:endParaRPr lang="en-US" sz="1000" dirty="0"/>
          </a:p>
        </p:txBody>
      </p:sp>
      <p:sp>
        <p:nvSpPr>
          <p:cNvPr id="50"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One supply chain, five different needs</a:t>
            </a:r>
            <a:endParaRPr lang="en-US" sz="3600" dirty="0"/>
          </a:p>
        </p:txBody>
      </p:sp>
      <p:sp>
        <p:nvSpPr>
          <p:cNvPr id="3" name="chip HYPOTHESIS TO VALIDATE"/>
          <p:cNvSpPr/>
          <p:nvPr/>
        </p:nvSpPr>
        <p:spPr>
          <a:xfrm>
            <a:off x="9829800" y="621792"/>
            <a:ext cx="1843430" cy="256032"/>
          </a:xfrm>
          <a:prstGeom prst="roundRect">
            <a:avLst>
              <a:gd name="adj" fmla="val 50000"/>
            </a:avLst>
          </a:prstGeom>
          <a:solidFill>
            <a:srgbClr val="8A5A00"/>
          </a:solidFill>
          <a:ln w="12700">
            <a:solidFill>
              <a:srgbClr val="8A5A00"/>
            </a:solidFill>
            <a:prstDash val="solid"/>
          </a:ln>
        </p:spPr>
      </p:sp>
      <p:sp>
        <p:nvSpPr>
          <p:cNvPr id="4" name="Text 2"/>
          <p:cNvSpPr txBox="1"/>
          <p:nvPr/>
        </p:nvSpPr>
        <p:spPr>
          <a:xfrm>
            <a:off x="9829800" y="621792"/>
            <a:ext cx="1843430"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 TO VALIDATE</a:t>
            </a:r>
            <a:endParaRPr lang="en-US" sz="1000" dirty="0"/>
          </a:p>
        </p:txBody>
      </p:sp>
      <p:sp>
        <p:nvSpPr>
          <p:cNvPr id="5" name="persona card Farmer"/>
          <p:cNvSpPr/>
          <p:nvPr/>
        </p:nvSpPr>
        <p:spPr>
          <a:xfrm>
            <a:off x="548640" y="1371600"/>
            <a:ext cx="2103120" cy="4754880"/>
          </a:xfrm>
          <a:prstGeom prst="roundRect">
            <a:avLst>
              <a:gd name="adj" fmla="val 521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6" name="icon circle FaSeedling"/>
          <p:cNvSpPr/>
          <p:nvPr/>
        </p:nvSpPr>
        <p:spPr>
          <a:xfrm>
            <a:off x="1188720" y="1572768"/>
            <a:ext cx="822960" cy="822960"/>
          </a:xfrm>
          <a:prstGeom prst="ellipse">
            <a:avLst/>
          </a:prstGeom>
          <a:solidFill>
            <a:srgbClr val="0F766E"/>
          </a:solidFill>
          <a:ln w="12700">
            <a:solidFill>
              <a:srgbClr val="0F766E"/>
            </a:solidFill>
            <a:prstDash val="solid"/>
          </a:ln>
        </p:spPr>
      </p:sp>
      <p:pic>
        <p:nvPicPr>
          <p:cNvPr id="7" name="Image 0" descr="Seedling icon"/>
          <p:cNvPicPr>
            <a:picLocks noChangeAspect="1"/>
          </p:cNvPicPr>
          <p:nvPr/>
        </p:nvPicPr>
        <p:blipFill>
          <a:blip r:embed="rId3"/>
          <a:stretch>
            <a:fillRect/>
          </a:stretch>
        </p:blipFill>
        <p:spPr>
          <a:xfrm>
            <a:off x="1410919" y="1794967"/>
            <a:ext cx="378562" cy="378562"/>
          </a:xfrm>
          <a:prstGeom prst="rect">
            <a:avLst/>
          </a:prstGeom>
        </p:spPr>
      </p:pic>
      <p:sp>
        <p:nvSpPr>
          <p:cNvPr id="8" name="Text 5"/>
          <p:cNvSpPr txBox="1"/>
          <p:nvPr/>
        </p:nvSpPr>
        <p:spPr>
          <a:xfrm>
            <a:off x="713232" y="2514600"/>
            <a:ext cx="1783080" cy="594360"/>
          </a:xfrm>
          <a:prstGeom prst="rect">
            <a:avLst/>
          </a:prstGeom>
          <a:noFill/>
          <a:ln/>
        </p:spPr>
        <p:txBody>
          <a:bodyPr wrap="square" lIns="0" tIns="0" rIns="0" bIns="0" rtlCol="0" anchor="ctr"/>
          <a:lstStyle/>
          <a:p>
            <a:pPr marL="0" indent="0" algn="ctr">
              <a:buNone/>
            </a:pPr>
            <a:r>
              <a:rPr lang="en-US" sz="1700" b="1" dirty="0">
                <a:solidFill>
                  <a:srgbClr val="0B3D2E"/>
                </a:solidFill>
              </a:rPr>
              <a:t>Farmer</a:t>
            </a:r>
            <a:endParaRPr lang="en-US" sz="1700" dirty="0"/>
          </a:p>
        </p:txBody>
      </p:sp>
      <p:sp>
        <p:nvSpPr>
          <p:cNvPr id="9" name="Text 6"/>
          <p:cNvSpPr txBox="1"/>
          <p:nvPr/>
        </p:nvSpPr>
        <p:spPr>
          <a:xfrm>
            <a:off x="731520" y="3200400"/>
            <a:ext cx="1737360" cy="228600"/>
          </a:xfrm>
          <a:prstGeom prst="rect">
            <a:avLst/>
          </a:prstGeom>
          <a:noFill/>
          <a:ln/>
        </p:spPr>
        <p:txBody>
          <a:bodyPr wrap="square" lIns="0" tIns="0" rIns="0" bIns="0" rtlCol="0" anchor="t"/>
          <a:lstStyle/>
          <a:p>
            <a:pPr marL="0" indent="0">
              <a:buNone/>
            </a:pPr>
            <a:r>
              <a:rPr lang="en-US" sz="1000" b="1" kern="0" spc="100" dirty="0">
                <a:solidFill>
                  <a:srgbClr val="5B6B73"/>
                </a:solidFill>
              </a:rPr>
              <a:t>PAIN</a:t>
            </a:r>
            <a:endParaRPr lang="en-US" sz="1000" dirty="0"/>
          </a:p>
        </p:txBody>
      </p:sp>
      <p:sp>
        <p:nvSpPr>
          <p:cNvPr id="10" name="Text 7"/>
          <p:cNvSpPr txBox="1"/>
          <p:nvPr/>
        </p:nvSpPr>
        <p:spPr>
          <a:xfrm>
            <a:off x="731520" y="3429000"/>
            <a:ext cx="1783080" cy="868680"/>
          </a:xfrm>
          <a:prstGeom prst="rect">
            <a:avLst/>
          </a:prstGeom>
          <a:noFill/>
          <a:ln/>
        </p:spPr>
        <p:txBody>
          <a:bodyPr wrap="square" lIns="0" tIns="0" rIns="0" bIns="0" rtlCol="0" anchor="t"/>
          <a:lstStyle/>
          <a:p>
            <a:pPr marL="0" indent="0">
              <a:buNone/>
            </a:pPr>
            <a:r>
              <a:rPr lang="en-US" sz="1400" dirty="0">
                <a:solidFill>
                  <a:srgbClr val="1F2933"/>
                </a:solidFill>
              </a:rPr>
              <a:t>Little record of the weight handed over</a:t>
            </a:r>
            <a:endParaRPr lang="en-US" sz="1400" dirty="0"/>
          </a:p>
        </p:txBody>
      </p:sp>
      <p:sp>
        <p:nvSpPr>
          <p:cNvPr id="11" name="Text 8"/>
          <p:cNvSpPr txBox="1"/>
          <p:nvPr/>
        </p:nvSpPr>
        <p:spPr>
          <a:xfrm>
            <a:off x="731520" y="4343400"/>
            <a:ext cx="1737360" cy="228600"/>
          </a:xfrm>
          <a:prstGeom prst="rect">
            <a:avLst/>
          </a:prstGeom>
          <a:noFill/>
          <a:ln/>
        </p:spPr>
        <p:txBody>
          <a:bodyPr wrap="square" lIns="0" tIns="0" rIns="0" bIns="0" rtlCol="0" anchor="t"/>
          <a:lstStyle/>
          <a:p>
            <a:pPr marL="0" indent="0">
              <a:buNone/>
            </a:pPr>
            <a:r>
              <a:rPr lang="en-US" sz="1000" b="1" kern="0" spc="100" dirty="0">
                <a:solidFill>
                  <a:srgbClr val="0F766E"/>
                </a:solidFill>
              </a:rPr>
              <a:t>IN THE APP</a:t>
            </a:r>
            <a:endParaRPr lang="en-US" sz="1000" dirty="0"/>
          </a:p>
        </p:txBody>
      </p:sp>
      <p:sp>
        <p:nvSpPr>
          <p:cNvPr id="12" name="Text 9"/>
          <p:cNvSpPr txBox="1"/>
          <p:nvPr/>
        </p:nvSpPr>
        <p:spPr>
          <a:xfrm>
            <a:off x="731520" y="4572000"/>
            <a:ext cx="1783080" cy="868680"/>
          </a:xfrm>
          <a:prstGeom prst="rect">
            <a:avLst/>
          </a:prstGeom>
          <a:noFill/>
          <a:ln/>
        </p:spPr>
        <p:txBody>
          <a:bodyPr wrap="square" lIns="0" tIns="0" rIns="0" bIns="0" rtlCol="0" anchor="t"/>
          <a:lstStyle/>
          <a:p>
            <a:pPr marL="0" indent="0">
              <a:buNone/>
            </a:pPr>
            <a:r>
              <a:rPr lang="en-US" sz="1400" dirty="0">
                <a:solidFill>
                  <a:srgbClr val="1F2933"/>
                </a:solidFill>
              </a:rPr>
              <a:t>Gets a QR label; both sides confirm the weight</a:t>
            </a:r>
            <a:endParaRPr lang="en-US" sz="1400" dirty="0"/>
          </a:p>
        </p:txBody>
      </p:sp>
      <p:sp>
        <p:nvSpPr>
          <p:cNvPr id="13" name="chip HYPOTHESISED"/>
          <p:cNvSpPr/>
          <p:nvPr/>
        </p:nvSpPr>
        <p:spPr>
          <a:xfrm>
            <a:off x="731520" y="5669280"/>
            <a:ext cx="1130198" cy="256032"/>
          </a:xfrm>
          <a:prstGeom prst="roundRect">
            <a:avLst>
              <a:gd name="adj" fmla="val 50000"/>
            </a:avLst>
          </a:prstGeom>
          <a:solidFill>
            <a:srgbClr val="5B6B73"/>
          </a:solidFill>
          <a:ln w="12700">
            <a:solidFill>
              <a:srgbClr val="5B6B73"/>
            </a:solidFill>
            <a:prstDash val="solid"/>
          </a:ln>
        </p:spPr>
      </p:sp>
      <p:sp>
        <p:nvSpPr>
          <p:cNvPr id="14" name="Text 11"/>
          <p:cNvSpPr txBox="1"/>
          <p:nvPr/>
        </p:nvSpPr>
        <p:spPr>
          <a:xfrm>
            <a:off x="731520" y="5669280"/>
            <a:ext cx="1130198"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HYPOTHESISED</a:t>
            </a:r>
            <a:endParaRPr lang="en-US" sz="1000" dirty="0"/>
          </a:p>
        </p:txBody>
      </p:sp>
      <p:sp>
        <p:nvSpPr>
          <p:cNvPr id="15" name="persona card Collection-point supervisor"/>
          <p:cNvSpPr/>
          <p:nvPr/>
        </p:nvSpPr>
        <p:spPr>
          <a:xfrm>
            <a:off x="2788920" y="1371600"/>
            <a:ext cx="2103120" cy="4754880"/>
          </a:xfrm>
          <a:prstGeom prst="roundRect">
            <a:avLst>
              <a:gd name="adj" fmla="val 521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6" name="icon circle FaWarehouse"/>
          <p:cNvSpPr/>
          <p:nvPr/>
        </p:nvSpPr>
        <p:spPr>
          <a:xfrm>
            <a:off x="3429000" y="1572768"/>
            <a:ext cx="822960" cy="822960"/>
          </a:xfrm>
          <a:prstGeom prst="ellipse">
            <a:avLst/>
          </a:prstGeom>
          <a:solidFill>
            <a:srgbClr val="0F766E"/>
          </a:solidFill>
          <a:ln w="12700">
            <a:solidFill>
              <a:srgbClr val="0F766E"/>
            </a:solidFill>
            <a:prstDash val="solid"/>
          </a:ln>
        </p:spPr>
      </p:sp>
      <p:pic>
        <p:nvPicPr>
          <p:cNvPr id="17" name="Image 1" descr="Warehouse icon"/>
          <p:cNvPicPr>
            <a:picLocks noChangeAspect="1"/>
          </p:cNvPicPr>
          <p:nvPr/>
        </p:nvPicPr>
        <p:blipFill>
          <a:blip r:embed="rId4"/>
          <a:stretch>
            <a:fillRect/>
          </a:stretch>
        </p:blipFill>
        <p:spPr>
          <a:xfrm>
            <a:off x="3651199" y="1794967"/>
            <a:ext cx="378562" cy="378562"/>
          </a:xfrm>
          <a:prstGeom prst="rect">
            <a:avLst/>
          </a:prstGeom>
        </p:spPr>
      </p:pic>
      <p:sp>
        <p:nvSpPr>
          <p:cNvPr id="18" name="Text 14"/>
          <p:cNvSpPr txBox="1"/>
          <p:nvPr/>
        </p:nvSpPr>
        <p:spPr>
          <a:xfrm>
            <a:off x="2953512" y="2514600"/>
            <a:ext cx="1783080" cy="594360"/>
          </a:xfrm>
          <a:prstGeom prst="rect">
            <a:avLst/>
          </a:prstGeom>
          <a:noFill/>
          <a:ln/>
        </p:spPr>
        <p:txBody>
          <a:bodyPr wrap="square" lIns="0" tIns="0" rIns="0" bIns="0" rtlCol="0" anchor="ctr"/>
          <a:lstStyle/>
          <a:p>
            <a:pPr marL="0" indent="0" algn="ctr">
              <a:buNone/>
            </a:pPr>
            <a:r>
              <a:rPr lang="en-US" sz="1700" b="1" dirty="0">
                <a:solidFill>
                  <a:srgbClr val="0B3D2E"/>
                </a:solidFill>
              </a:rPr>
              <a:t>Collection-point supervisor</a:t>
            </a:r>
            <a:endParaRPr lang="en-US" sz="1700" dirty="0"/>
          </a:p>
        </p:txBody>
      </p:sp>
      <p:sp>
        <p:nvSpPr>
          <p:cNvPr id="19" name="Text 15"/>
          <p:cNvSpPr txBox="1"/>
          <p:nvPr/>
        </p:nvSpPr>
        <p:spPr>
          <a:xfrm>
            <a:off x="2971800" y="3200400"/>
            <a:ext cx="1737360" cy="228600"/>
          </a:xfrm>
          <a:prstGeom prst="rect">
            <a:avLst/>
          </a:prstGeom>
          <a:noFill/>
          <a:ln/>
        </p:spPr>
        <p:txBody>
          <a:bodyPr wrap="square" lIns="0" tIns="0" rIns="0" bIns="0" rtlCol="0" anchor="t"/>
          <a:lstStyle/>
          <a:p>
            <a:pPr marL="0" indent="0">
              <a:buNone/>
            </a:pPr>
            <a:r>
              <a:rPr lang="en-US" sz="1000" b="1" kern="0" spc="100" dirty="0">
                <a:solidFill>
                  <a:srgbClr val="5B6B73"/>
                </a:solidFill>
              </a:rPr>
              <a:t>PAIN</a:t>
            </a:r>
            <a:endParaRPr lang="en-US" sz="1000" dirty="0"/>
          </a:p>
        </p:txBody>
      </p:sp>
      <p:sp>
        <p:nvSpPr>
          <p:cNvPr id="20" name="Text 16"/>
          <p:cNvSpPr txBox="1"/>
          <p:nvPr/>
        </p:nvSpPr>
        <p:spPr>
          <a:xfrm>
            <a:off x="2971800" y="3429000"/>
            <a:ext cx="1783080" cy="868680"/>
          </a:xfrm>
          <a:prstGeom prst="rect">
            <a:avLst/>
          </a:prstGeom>
          <a:noFill/>
          <a:ln/>
        </p:spPr>
        <p:txBody>
          <a:bodyPr wrap="square" lIns="0" tIns="0" rIns="0" bIns="0" rtlCol="0" anchor="t"/>
          <a:lstStyle/>
          <a:p>
            <a:pPr marL="0" indent="0">
              <a:buNone/>
            </a:pPr>
            <a:r>
              <a:rPr lang="en-US" sz="1400" dirty="0">
                <a:solidFill>
                  <a:srgbClr val="1F2933"/>
                </a:solidFill>
              </a:rPr>
              <a:t>Handovers, wastage and crowding tracked by hand</a:t>
            </a:r>
            <a:endParaRPr lang="en-US" sz="1400" dirty="0"/>
          </a:p>
        </p:txBody>
      </p:sp>
      <p:sp>
        <p:nvSpPr>
          <p:cNvPr id="21" name="Text 17"/>
          <p:cNvSpPr txBox="1"/>
          <p:nvPr/>
        </p:nvSpPr>
        <p:spPr>
          <a:xfrm>
            <a:off x="2971800" y="4343400"/>
            <a:ext cx="1737360" cy="228600"/>
          </a:xfrm>
          <a:prstGeom prst="rect">
            <a:avLst/>
          </a:prstGeom>
          <a:noFill/>
          <a:ln/>
        </p:spPr>
        <p:txBody>
          <a:bodyPr wrap="square" lIns="0" tIns="0" rIns="0" bIns="0" rtlCol="0" anchor="t"/>
          <a:lstStyle/>
          <a:p>
            <a:pPr marL="0" indent="0">
              <a:buNone/>
            </a:pPr>
            <a:r>
              <a:rPr lang="en-US" sz="1000" b="1" kern="0" spc="100" dirty="0">
                <a:solidFill>
                  <a:srgbClr val="0F766E"/>
                </a:solidFill>
              </a:rPr>
              <a:t>IN THE APP</a:t>
            </a:r>
            <a:endParaRPr lang="en-US" sz="1000" dirty="0"/>
          </a:p>
        </p:txBody>
      </p:sp>
      <p:sp>
        <p:nvSpPr>
          <p:cNvPr id="22" name="Text 18"/>
          <p:cNvSpPr txBox="1"/>
          <p:nvPr/>
        </p:nvSpPr>
        <p:spPr>
          <a:xfrm>
            <a:off x="2971800" y="4572000"/>
            <a:ext cx="1783080" cy="868680"/>
          </a:xfrm>
          <a:prstGeom prst="rect">
            <a:avLst/>
          </a:prstGeom>
          <a:noFill/>
          <a:ln/>
        </p:spPr>
        <p:txBody>
          <a:bodyPr wrap="square" lIns="0" tIns="0" rIns="0" bIns="0" rtlCol="0" anchor="t"/>
          <a:lstStyle/>
          <a:p>
            <a:pPr marL="0" indent="0">
              <a:buNone/>
            </a:pPr>
            <a:r>
              <a:rPr lang="en-US" sz="1400" dirty="0">
                <a:solidFill>
                  <a:srgbClr val="1F2933"/>
                </a:solidFill>
              </a:rPr>
              <a:t>Scans lots, logs wastage, sees shelf-life lights</a:t>
            </a:r>
            <a:endParaRPr lang="en-US" sz="1400" dirty="0"/>
          </a:p>
        </p:txBody>
      </p:sp>
      <p:sp>
        <p:nvSpPr>
          <p:cNvPr id="23" name="chip HYPOTHESISED"/>
          <p:cNvSpPr/>
          <p:nvPr/>
        </p:nvSpPr>
        <p:spPr>
          <a:xfrm>
            <a:off x="2971800" y="5669280"/>
            <a:ext cx="1130198" cy="256032"/>
          </a:xfrm>
          <a:prstGeom prst="roundRect">
            <a:avLst>
              <a:gd name="adj" fmla="val 50000"/>
            </a:avLst>
          </a:prstGeom>
          <a:solidFill>
            <a:srgbClr val="5B6B73"/>
          </a:solidFill>
          <a:ln w="12700">
            <a:solidFill>
              <a:srgbClr val="5B6B73"/>
            </a:solidFill>
            <a:prstDash val="solid"/>
          </a:ln>
        </p:spPr>
      </p:sp>
      <p:sp>
        <p:nvSpPr>
          <p:cNvPr id="24" name="Text 20"/>
          <p:cNvSpPr txBox="1"/>
          <p:nvPr/>
        </p:nvSpPr>
        <p:spPr>
          <a:xfrm>
            <a:off x="2971800" y="5669280"/>
            <a:ext cx="1130198"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HYPOTHESISED</a:t>
            </a:r>
            <a:endParaRPr lang="en-US" sz="1000" dirty="0"/>
          </a:p>
        </p:txBody>
      </p:sp>
      <p:sp>
        <p:nvSpPr>
          <p:cNvPr id="25" name="persona card Grocery store owner"/>
          <p:cNvSpPr/>
          <p:nvPr/>
        </p:nvSpPr>
        <p:spPr>
          <a:xfrm>
            <a:off x="5029200" y="1371600"/>
            <a:ext cx="2103120" cy="4754880"/>
          </a:xfrm>
          <a:prstGeom prst="roundRect">
            <a:avLst>
              <a:gd name="adj" fmla="val 521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6" name="icon circle FaStore"/>
          <p:cNvSpPr/>
          <p:nvPr/>
        </p:nvSpPr>
        <p:spPr>
          <a:xfrm>
            <a:off x="5669280" y="1572768"/>
            <a:ext cx="822960" cy="822960"/>
          </a:xfrm>
          <a:prstGeom prst="ellipse">
            <a:avLst/>
          </a:prstGeom>
          <a:solidFill>
            <a:srgbClr val="8A5A00"/>
          </a:solidFill>
          <a:ln w="12700">
            <a:solidFill>
              <a:srgbClr val="8A5A00"/>
            </a:solidFill>
            <a:prstDash val="solid"/>
          </a:ln>
        </p:spPr>
      </p:sp>
      <p:pic>
        <p:nvPicPr>
          <p:cNvPr id="27" name="Image 2" descr="Store icon"/>
          <p:cNvPicPr>
            <a:picLocks noChangeAspect="1"/>
          </p:cNvPicPr>
          <p:nvPr/>
        </p:nvPicPr>
        <p:blipFill>
          <a:blip r:embed="rId5"/>
          <a:stretch>
            <a:fillRect/>
          </a:stretch>
        </p:blipFill>
        <p:spPr>
          <a:xfrm>
            <a:off x="5891479" y="1794967"/>
            <a:ext cx="378562" cy="378562"/>
          </a:xfrm>
          <a:prstGeom prst="rect">
            <a:avLst/>
          </a:prstGeom>
        </p:spPr>
      </p:pic>
      <p:sp>
        <p:nvSpPr>
          <p:cNvPr id="28" name="Text 23"/>
          <p:cNvSpPr txBox="1"/>
          <p:nvPr/>
        </p:nvSpPr>
        <p:spPr>
          <a:xfrm>
            <a:off x="5193792" y="2514600"/>
            <a:ext cx="1783080" cy="594360"/>
          </a:xfrm>
          <a:prstGeom prst="rect">
            <a:avLst/>
          </a:prstGeom>
          <a:noFill/>
          <a:ln/>
        </p:spPr>
        <p:txBody>
          <a:bodyPr wrap="square" lIns="0" tIns="0" rIns="0" bIns="0" rtlCol="0" anchor="ctr"/>
          <a:lstStyle/>
          <a:p>
            <a:pPr marL="0" indent="0" algn="ctr">
              <a:buNone/>
            </a:pPr>
            <a:r>
              <a:rPr lang="en-US" sz="1700" b="1" dirty="0">
                <a:solidFill>
                  <a:srgbClr val="0B3D2E"/>
                </a:solidFill>
              </a:rPr>
              <a:t>Grocery store owner</a:t>
            </a:r>
            <a:endParaRPr lang="en-US" sz="1700" dirty="0"/>
          </a:p>
        </p:txBody>
      </p:sp>
      <p:sp>
        <p:nvSpPr>
          <p:cNvPr id="29" name="Text 24"/>
          <p:cNvSpPr txBox="1"/>
          <p:nvPr/>
        </p:nvSpPr>
        <p:spPr>
          <a:xfrm>
            <a:off x="5212080" y="3200400"/>
            <a:ext cx="1737360" cy="228600"/>
          </a:xfrm>
          <a:prstGeom prst="rect">
            <a:avLst/>
          </a:prstGeom>
          <a:noFill/>
          <a:ln/>
        </p:spPr>
        <p:txBody>
          <a:bodyPr wrap="square" lIns="0" tIns="0" rIns="0" bIns="0" rtlCol="0" anchor="t"/>
          <a:lstStyle/>
          <a:p>
            <a:pPr marL="0" indent="0">
              <a:buNone/>
            </a:pPr>
            <a:r>
              <a:rPr lang="en-US" sz="1000" b="1" kern="0" spc="100" dirty="0">
                <a:solidFill>
                  <a:srgbClr val="5B6B73"/>
                </a:solidFill>
              </a:rPr>
              <a:t>PAIN</a:t>
            </a:r>
            <a:endParaRPr lang="en-US" sz="1000" dirty="0"/>
          </a:p>
        </p:txBody>
      </p:sp>
      <p:sp>
        <p:nvSpPr>
          <p:cNvPr id="30" name="Text 25"/>
          <p:cNvSpPr txBox="1"/>
          <p:nvPr/>
        </p:nvSpPr>
        <p:spPr>
          <a:xfrm>
            <a:off x="5212080" y="3429000"/>
            <a:ext cx="1783080" cy="868680"/>
          </a:xfrm>
          <a:prstGeom prst="rect">
            <a:avLst/>
          </a:prstGeom>
          <a:noFill/>
          <a:ln/>
        </p:spPr>
        <p:txBody>
          <a:bodyPr wrap="square" lIns="0" tIns="0" rIns="0" bIns="0" rtlCol="0" anchor="t"/>
          <a:lstStyle/>
          <a:p>
            <a:pPr marL="0" indent="0">
              <a:buNone/>
            </a:pPr>
            <a:r>
              <a:rPr lang="en-US" sz="1400" dirty="0">
                <a:solidFill>
                  <a:srgbClr val="1F2933"/>
                </a:solidFill>
              </a:rPr>
              <a:t>Supply and condition don't match demand</a:t>
            </a:r>
            <a:endParaRPr lang="en-US" sz="1400" dirty="0"/>
          </a:p>
        </p:txBody>
      </p:sp>
      <p:sp>
        <p:nvSpPr>
          <p:cNvPr id="31" name="Text 26"/>
          <p:cNvSpPr txBox="1"/>
          <p:nvPr/>
        </p:nvSpPr>
        <p:spPr>
          <a:xfrm>
            <a:off x="5212080" y="4343400"/>
            <a:ext cx="1737360" cy="228600"/>
          </a:xfrm>
          <a:prstGeom prst="rect">
            <a:avLst/>
          </a:prstGeom>
          <a:noFill/>
          <a:ln/>
        </p:spPr>
        <p:txBody>
          <a:bodyPr wrap="square" lIns="0" tIns="0" rIns="0" bIns="0" rtlCol="0" anchor="t"/>
          <a:lstStyle/>
          <a:p>
            <a:pPr marL="0" indent="0">
              <a:buNone/>
            </a:pPr>
            <a:r>
              <a:rPr lang="en-US" sz="1000" b="1" kern="0" spc="100" dirty="0">
                <a:solidFill>
                  <a:srgbClr val="8A5A00"/>
                </a:solidFill>
              </a:rPr>
              <a:t>WOULD DO (FUTURE)</a:t>
            </a:r>
            <a:endParaRPr lang="en-US" sz="1000" dirty="0"/>
          </a:p>
        </p:txBody>
      </p:sp>
      <p:sp>
        <p:nvSpPr>
          <p:cNvPr id="32" name="Text 27"/>
          <p:cNvSpPr txBox="1"/>
          <p:nvPr/>
        </p:nvSpPr>
        <p:spPr>
          <a:xfrm>
            <a:off x="5212080" y="4572000"/>
            <a:ext cx="1783080" cy="868680"/>
          </a:xfrm>
          <a:prstGeom prst="rect">
            <a:avLst/>
          </a:prstGeom>
          <a:noFill/>
          <a:ln/>
        </p:spPr>
        <p:txBody>
          <a:bodyPr wrap="square" lIns="0" tIns="0" rIns="0" bIns="0" rtlCol="0" anchor="t"/>
          <a:lstStyle/>
          <a:p>
            <a:pPr marL="0" indent="0">
              <a:buNone/>
            </a:pPr>
            <a:r>
              <a:rPr lang="en-US" sz="1400" dirty="0">
                <a:solidFill>
                  <a:srgbClr val="1F2933"/>
                </a:solidFill>
              </a:rPr>
              <a:t>Future: a view of incoming supply and shelf life</a:t>
            </a:r>
            <a:endParaRPr lang="en-US" sz="1400" dirty="0"/>
          </a:p>
        </p:txBody>
      </p:sp>
      <p:sp>
        <p:nvSpPr>
          <p:cNvPr id="33" name="chip ROADMAP"/>
          <p:cNvSpPr/>
          <p:nvPr/>
        </p:nvSpPr>
        <p:spPr>
          <a:xfrm>
            <a:off x="5212080" y="5669280"/>
            <a:ext cx="773582" cy="256032"/>
          </a:xfrm>
          <a:prstGeom prst="roundRect">
            <a:avLst>
              <a:gd name="adj" fmla="val 50000"/>
            </a:avLst>
          </a:prstGeom>
          <a:solidFill>
            <a:srgbClr val="8A5A00"/>
          </a:solidFill>
          <a:ln w="12700">
            <a:solidFill>
              <a:srgbClr val="8A5A00"/>
            </a:solidFill>
            <a:prstDash val="solid"/>
          </a:ln>
        </p:spPr>
      </p:sp>
      <p:sp>
        <p:nvSpPr>
          <p:cNvPr id="34" name="Text 29"/>
          <p:cNvSpPr txBox="1"/>
          <p:nvPr/>
        </p:nvSpPr>
        <p:spPr>
          <a:xfrm>
            <a:off x="5212080" y="5669280"/>
            <a:ext cx="773582"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ROADMAP</a:t>
            </a:r>
            <a:endParaRPr lang="en-US" sz="1000" dirty="0"/>
          </a:p>
        </p:txBody>
      </p:sp>
      <p:sp>
        <p:nvSpPr>
          <p:cNvPr id="35" name="persona card Truck driver"/>
          <p:cNvSpPr/>
          <p:nvPr/>
        </p:nvSpPr>
        <p:spPr>
          <a:xfrm>
            <a:off x="7269480" y="1371600"/>
            <a:ext cx="2103120" cy="4754880"/>
          </a:xfrm>
          <a:prstGeom prst="roundRect">
            <a:avLst>
              <a:gd name="adj" fmla="val 521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36" name="icon circle FaTruck"/>
          <p:cNvSpPr/>
          <p:nvPr/>
        </p:nvSpPr>
        <p:spPr>
          <a:xfrm>
            <a:off x="7909560" y="1572768"/>
            <a:ext cx="822960" cy="822960"/>
          </a:xfrm>
          <a:prstGeom prst="ellipse">
            <a:avLst/>
          </a:prstGeom>
          <a:solidFill>
            <a:srgbClr val="0F766E"/>
          </a:solidFill>
          <a:ln w="12700">
            <a:solidFill>
              <a:srgbClr val="0F766E"/>
            </a:solidFill>
            <a:prstDash val="solid"/>
          </a:ln>
        </p:spPr>
      </p:sp>
      <p:pic>
        <p:nvPicPr>
          <p:cNvPr id="37" name="Image 3" descr="Truck icon"/>
          <p:cNvPicPr>
            <a:picLocks noChangeAspect="1"/>
          </p:cNvPicPr>
          <p:nvPr/>
        </p:nvPicPr>
        <p:blipFill>
          <a:blip r:embed="rId6"/>
          <a:stretch>
            <a:fillRect/>
          </a:stretch>
        </p:blipFill>
        <p:spPr>
          <a:xfrm>
            <a:off x="8131759" y="1794967"/>
            <a:ext cx="378562" cy="378562"/>
          </a:xfrm>
          <a:prstGeom prst="rect">
            <a:avLst/>
          </a:prstGeom>
        </p:spPr>
      </p:pic>
      <p:sp>
        <p:nvSpPr>
          <p:cNvPr id="38" name="Text 32"/>
          <p:cNvSpPr txBox="1"/>
          <p:nvPr/>
        </p:nvSpPr>
        <p:spPr>
          <a:xfrm>
            <a:off x="7434072" y="2514600"/>
            <a:ext cx="1783080" cy="594360"/>
          </a:xfrm>
          <a:prstGeom prst="rect">
            <a:avLst/>
          </a:prstGeom>
          <a:noFill/>
          <a:ln/>
        </p:spPr>
        <p:txBody>
          <a:bodyPr wrap="square" lIns="0" tIns="0" rIns="0" bIns="0" rtlCol="0" anchor="ctr"/>
          <a:lstStyle/>
          <a:p>
            <a:pPr marL="0" indent="0" algn="ctr">
              <a:buNone/>
            </a:pPr>
            <a:r>
              <a:rPr lang="en-US" sz="1700" b="1" dirty="0">
                <a:solidFill>
                  <a:srgbClr val="0B3D2E"/>
                </a:solidFill>
              </a:rPr>
              <a:t>Truck driver</a:t>
            </a:r>
            <a:endParaRPr lang="en-US" sz="1700" dirty="0"/>
          </a:p>
        </p:txBody>
      </p:sp>
      <p:sp>
        <p:nvSpPr>
          <p:cNvPr id="39" name="Text 33"/>
          <p:cNvSpPr txBox="1"/>
          <p:nvPr/>
        </p:nvSpPr>
        <p:spPr>
          <a:xfrm>
            <a:off x="7452360" y="3200400"/>
            <a:ext cx="1737360" cy="228600"/>
          </a:xfrm>
          <a:prstGeom prst="rect">
            <a:avLst/>
          </a:prstGeom>
          <a:noFill/>
          <a:ln/>
        </p:spPr>
        <p:txBody>
          <a:bodyPr wrap="square" lIns="0" tIns="0" rIns="0" bIns="0" rtlCol="0" anchor="t"/>
          <a:lstStyle/>
          <a:p>
            <a:pPr marL="0" indent="0">
              <a:buNone/>
            </a:pPr>
            <a:r>
              <a:rPr lang="en-US" sz="1000" b="1" kern="0" spc="100" dirty="0">
                <a:solidFill>
                  <a:srgbClr val="5B6B73"/>
                </a:solidFill>
              </a:rPr>
              <a:t>PAIN</a:t>
            </a:r>
            <a:endParaRPr lang="en-US" sz="1000" dirty="0"/>
          </a:p>
        </p:txBody>
      </p:sp>
      <p:sp>
        <p:nvSpPr>
          <p:cNvPr id="40" name="Text 34"/>
          <p:cNvSpPr txBox="1"/>
          <p:nvPr/>
        </p:nvSpPr>
        <p:spPr>
          <a:xfrm>
            <a:off x="7452360" y="3429000"/>
            <a:ext cx="1783080" cy="868680"/>
          </a:xfrm>
          <a:prstGeom prst="rect">
            <a:avLst/>
          </a:prstGeom>
          <a:noFill/>
          <a:ln/>
        </p:spPr>
        <p:txBody>
          <a:bodyPr wrap="square" lIns="0" tIns="0" rIns="0" bIns="0" rtlCol="0" anchor="t"/>
          <a:lstStyle/>
          <a:p>
            <a:pPr marL="0" indent="0">
              <a:buNone/>
            </a:pPr>
            <a:r>
              <a:rPr lang="en-US" sz="1400" dirty="0">
                <a:solidFill>
                  <a:srgbClr val="1F2933"/>
                </a:solidFill>
              </a:rPr>
              <a:t>Blamed for spoilage that happened elsewhere</a:t>
            </a:r>
            <a:endParaRPr lang="en-US" sz="1400" dirty="0"/>
          </a:p>
        </p:txBody>
      </p:sp>
      <p:sp>
        <p:nvSpPr>
          <p:cNvPr id="41" name="Text 35"/>
          <p:cNvSpPr txBox="1"/>
          <p:nvPr/>
        </p:nvSpPr>
        <p:spPr>
          <a:xfrm>
            <a:off x="7452360" y="4343400"/>
            <a:ext cx="1737360" cy="228600"/>
          </a:xfrm>
          <a:prstGeom prst="rect">
            <a:avLst/>
          </a:prstGeom>
          <a:noFill/>
          <a:ln/>
        </p:spPr>
        <p:txBody>
          <a:bodyPr wrap="square" lIns="0" tIns="0" rIns="0" bIns="0" rtlCol="0" anchor="t"/>
          <a:lstStyle/>
          <a:p>
            <a:pPr marL="0" indent="0">
              <a:buNone/>
            </a:pPr>
            <a:r>
              <a:rPr lang="en-US" sz="1000" b="1" kern="0" spc="100" dirty="0">
                <a:solidFill>
                  <a:srgbClr val="0F766E"/>
                </a:solidFill>
              </a:rPr>
              <a:t>IN THE APP</a:t>
            </a:r>
            <a:endParaRPr lang="en-US" sz="1000" dirty="0"/>
          </a:p>
        </p:txBody>
      </p:sp>
      <p:sp>
        <p:nvSpPr>
          <p:cNvPr id="42" name="Text 36"/>
          <p:cNvSpPr txBox="1"/>
          <p:nvPr/>
        </p:nvSpPr>
        <p:spPr>
          <a:xfrm>
            <a:off x="7452360" y="4572000"/>
            <a:ext cx="1783080" cy="868680"/>
          </a:xfrm>
          <a:prstGeom prst="rect">
            <a:avLst/>
          </a:prstGeom>
          <a:noFill/>
          <a:ln/>
        </p:spPr>
        <p:txBody>
          <a:bodyPr wrap="square" lIns="0" tIns="0" rIns="0" bIns="0" rtlCol="0" anchor="t"/>
          <a:lstStyle/>
          <a:p>
            <a:pPr marL="0" indent="0">
              <a:buNone/>
            </a:pPr>
            <a:r>
              <a:rPr lang="en-US" sz="1400" dirty="0">
                <a:solidFill>
                  <a:srgbClr val="1F2933"/>
                </a:solidFill>
              </a:rPr>
              <a:t>Two-party handover record at pickup and drop-off</a:t>
            </a:r>
            <a:endParaRPr lang="en-US" sz="1400" dirty="0"/>
          </a:p>
        </p:txBody>
      </p:sp>
      <p:sp>
        <p:nvSpPr>
          <p:cNvPr id="43" name="chip HYPOTHESISED"/>
          <p:cNvSpPr/>
          <p:nvPr/>
        </p:nvSpPr>
        <p:spPr>
          <a:xfrm>
            <a:off x="7452360" y="5669280"/>
            <a:ext cx="1130198" cy="256032"/>
          </a:xfrm>
          <a:prstGeom prst="roundRect">
            <a:avLst>
              <a:gd name="adj" fmla="val 50000"/>
            </a:avLst>
          </a:prstGeom>
          <a:solidFill>
            <a:srgbClr val="5B6B73"/>
          </a:solidFill>
          <a:ln w="12700">
            <a:solidFill>
              <a:srgbClr val="5B6B73"/>
            </a:solidFill>
            <a:prstDash val="solid"/>
          </a:ln>
        </p:spPr>
      </p:sp>
      <p:sp>
        <p:nvSpPr>
          <p:cNvPr id="44" name="Text 38"/>
          <p:cNvSpPr txBox="1"/>
          <p:nvPr/>
        </p:nvSpPr>
        <p:spPr>
          <a:xfrm>
            <a:off x="7452360" y="5669280"/>
            <a:ext cx="1130198"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HYPOTHESISED</a:t>
            </a:r>
            <a:endParaRPr lang="en-US" sz="1000" dirty="0"/>
          </a:p>
        </p:txBody>
      </p:sp>
      <p:sp>
        <p:nvSpPr>
          <p:cNvPr id="45" name="persona card NGO owner"/>
          <p:cNvSpPr/>
          <p:nvPr/>
        </p:nvSpPr>
        <p:spPr>
          <a:xfrm>
            <a:off x="9509760" y="1371600"/>
            <a:ext cx="2103120" cy="4754880"/>
          </a:xfrm>
          <a:prstGeom prst="roundRect">
            <a:avLst>
              <a:gd name="adj" fmla="val 521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46" name="icon circle FaHandHoldingHeart"/>
          <p:cNvSpPr/>
          <p:nvPr/>
        </p:nvSpPr>
        <p:spPr>
          <a:xfrm>
            <a:off x="10149840" y="1572768"/>
            <a:ext cx="822960" cy="822960"/>
          </a:xfrm>
          <a:prstGeom prst="ellipse">
            <a:avLst/>
          </a:prstGeom>
          <a:solidFill>
            <a:srgbClr val="0F766E"/>
          </a:solidFill>
          <a:ln w="12700">
            <a:solidFill>
              <a:srgbClr val="0F766E"/>
            </a:solidFill>
            <a:prstDash val="solid"/>
          </a:ln>
        </p:spPr>
      </p:sp>
      <p:pic>
        <p:nvPicPr>
          <p:cNvPr id="47" name="Image 4" descr="HandHoldingHeart icon"/>
          <p:cNvPicPr>
            <a:picLocks noChangeAspect="1"/>
          </p:cNvPicPr>
          <p:nvPr/>
        </p:nvPicPr>
        <p:blipFill>
          <a:blip r:embed="rId7"/>
          <a:stretch>
            <a:fillRect/>
          </a:stretch>
        </p:blipFill>
        <p:spPr>
          <a:xfrm>
            <a:off x="10372039" y="1794967"/>
            <a:ext cx="378562" cy="378562"/>
          </a:xfrm>
          <a:prstGeom prst="rect">
            <a:avLst/>
          </a:prstGeom>
        </p:spPr>
      </p:pic>
      <p:sp>
        <p:nvSpPr>
          <p:cNvPr id="48" name="Text 41"/>
          <p:cNvSpPr txBox="1"/>
          <p:nvPr/>
        </p:nvSpPr>
        <p:spPr>
          <a:xfrm>
            <a:off x="9674352" y="2514600"/>
            <a:ext cx="1783080" cy="594360"/>
          </a:xfrm>
          <a:prstGeom prst="rect">
            <a:avLst/>
          </a:prstGeom>
          <a:noFill/>
          <a:ln/>
        </p:spPr>
        <p:txBody>
          <a:bodyPr wrap="square" lIns="0" tIns="0" rIns="0" bIns="0" rtlCol="0" anchor="ctr"/>
          <a:lstStyle/>
          <a:p>
            <a:pPr marL="0" indent="0" algn="ctr">
              <a:buNone/>
            </a:pPr>
            <a:r>
              <a:rPr lang="en-US" sz="1700" b="1" dirty="0">
                <a:solidFill>
                  <a:srgbClr val="0B3D2E"/>
                </a:solidFill>
              </a:rPr>
              <a:t>NGO owner</a:t>
            </a:r>
            <a:endParaRPr lang="en-US" sz="1700" dirty="0"/>
          </a:p>
        </p:txBody>
      </p:sp>
      <p:sp>
        <p:nvSpPr>
          <p:cNvPr id="49" name="Text 42"/>
          <p:cNvSpPr txBox="1"/>
          <p:nvPr/>
        </p:nvSpPr>
        <p:spPr>
          <a:xfrm>
            <a:off x="9692640" y="3200400"/>
            <a:ext cx="1737360" cy="228600"/>
          </a:xfrm>
          <a:prstGeom prst="rect">
            <a:avLst/>
          </a:prstGeom>
          <a:noFill/>
          <a:ln/>
        </p:spPr>
        <p:txBody>
          <a:bodyPr wrap="square" lIns="0" tIns="0" rIns="0" bIns="0" rtlCol="0" anchor="t"/>
          <a:lstStyle/>
          <a:p>
            <a:pPr marL="0" indent="0">
              <a:buNone/>
            </a:pPr>
            <a:r>
              <a:rPr lang="en-US" sz="1000" b="1" kern="0" spc="100" dirty="0">
                <a:solidFill>
                  <a:srgbClr val="5B6B73"/>
                </a:solidFill>
              </a:rPr>
              <a:t>PAIN</a:t>
            </a:r>
            <a:endParaRPr lang="en-US" sz="1000" dirty="0"/>
          </a:p>
        </p:txBody>
      </p:sp>
      <p:sp>
        <p:nvSpPr>
          <p:cNvPr id="50" name="Text 43"/>
          <p:cNvSpPr txBox="1"/>
          <p:nvPr/>
        </p:nvSpPr>
        <p:spPr>
          <a:xfrm>
            <a:off x="9692640" y="3429000"/>
            <a:ext cx="1783080" cy="868680"/>
          </a:xfrm>
          <a:prstGeom prst="rect">
            <a:avLst/>
          </a:prstGeom>
          <a:noFill/>
          <a:ln/>
        </p:spPr>
        <p:txBody>
          <a:bodyPr wrap="square" lIns="0" tIns="0" rIns="0" bIns="0" rtlCol="0" anchor="t"/>
          <a:lstStyle/>
          <a:p>
            <a:pPr marL="0" indent="0">
              <a:buNone/>
            </a:pPr>
            <a:r>
              <a:rPr lang="en-US" sz="1400" dirty="0">
                <a:solidFill>
                  <a:srgbClr val="1F2933"/>
                </a:solidFill>
              </a:rPr>
              <a:t>Short notice on surplus; pickup is hard to plan</a:t>
            </a:r>
            <a:endParaRPr lang="en-US" sz="1400" dirty="0"/>
          </a:p>
        </p:txBody>
      </p:sp>
      <p:sp>
        <p:nvSpPr>
          <p:cNvPr id="51" name="Text 44"/>
          <p:cNvSpPr txBox="1"/>
          <p:nvPr/>
        </p:nvSpPr>
        <p:spPr>
          <a:xfrm>
            <a:off x="9692640" y="4343400"/>
            <a:ext cx="1737360" cy="228600"/>
          </a:xfrm>
          <a:prstGeom prst="rect">
            <a:avLst/>
          </a:prstGeom>
          <a:noFill/>
          <a:ln/>
        </p:spPr>
        <p:txBody>
          <a:bodyPr wrap="square" lIns="0" tIns="0" rIns="0" bIns="0" rtlCol="0" anchor="t"/>
          <a:lstStyle/>
          <a:p>
            <a:pPr marL="0" indent="0">
              <a:buNone/>
            </a:pPr>
            <a:r>
              <a:rPr lang="en-US" sz="1000" b="1" kern="0" spc="100" dirty="0">
                <a:solidFill>
                  <a:srgbClr val="0F766E"/>
                </a:solidFill>
              </a:rPr>
              <a:t>IN THE APP</a:t>
            </a:r>
            <a:endParaRPr lang="en-US" sz="1000" dirty="0"/>
          </a:p>
        </p:txBody>
      </p:sp>
      <p:sp>
        <p:nvSpPr>
          <p:cNvPr id="52" name="Text 45"/>
          <p:cNvSpPr txBox="1"/>
          <p:nvPr/>
        </p:nvSpPr>
        <p:spPr>
          <a:xfrm>
            <a:off x="9692640" y="4572000"/>
            <a:ext cx="1783080" cy="868680"/>
          </a:xfrm>
          <a:prstGeom prst="rect">
            <a:avLst/>
          </a:prstGeom>
          <a:noFill/>
          <a:ln/>
        </p:spPr>
        <p:txBody>
          <a:bodyPr wrap="square" lIns="0" tIns="0" rIns="0" bIns="0" rtlCol="0" anchor="t"/>
          <a:lstStyle/>
          <a:p>
            <a:pPr marL="0" indent="0">
              <a:buNone/>
            </a:pPr>
            <a:r>
              <a:rPr lang="en-US" sz="1400" dirty="0">
                <a:solidFill>
                  <a:srgbClr val="1F2933"/>
                </a:solidFill>
              </a:rPr>
              <a:t>Sees nearby offers; claims within 2 hours</a:t>
            </a:r>
            <a:endParaRPr lang="en-US" sz="1400" dirty="0"/>
          </a:p>
        </p:txBody>
      </p:sp>
      <p:sp>
        <p:nvSpPr>
          <p:cNvPr id="53" name="chip HYPOTHESISED"/>
          <p:cNvSpPr/>
          <p:nvPr/>
        </p:nvSpPr>
        <p:spPr>
          <a:xfrm>
            <a:off x="9692640" y="5669280"/>
            <a:ext cx="1130198" cy="256032"/>
          </a:xfrm>
          <a:prstGeom prst="roundRect">
            <a:avLst>
              <a:gd name="adj" fmla="val 50000"/>
            </a:avLst>
          </a:prstGeom>
          <a:solidFill>
            <a:srgbClr val="5B6B73"/>
          </a:solidFill>
          <a:ln w="12700">
            <a:solidFill>
              <a:srgbClr val="5B6B73"/>
            </a:solidFill>
            <a:prstDash val="solid"/>
          </a:ln>
        </p:spPr>
      </p:sp>
      <p:sp>
        <p:nvSpPr>
          <p:cNvPr id="54" name="Text 47"/>
          <p:cNvSpPr txBox="1"/>
          <p:nvPr/>
        </p:nvSpPr>
        <p:spPr>
          <a:xfrm>
            <a:off x="9692640" y="5669280"/>
            <a:ext cx="1130198"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HYPOTHESISED</a:t>
            </a:r>
            <a:endParaRPr lang="en-US" sz="1000" dirty="0"/>
          </a:p>
        </p:txBody>
      </p:sp>
      <p:sp>
        <p:nvSpPr>
          <p:cNvPr id="5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Persona 1 · Farmer</a:t>
            </a:r>
            <a:endParaRPr lang="en-US" sz="3600" dirty="0"/>
          </a:p>
        </p:txBody>
      </p:sp>
      <p:sp>
        <p:nvSpPr>
          <p:cNvPr id="3" name="icon circle FaSeedling"/>
          <p:cNvSpPr/>
          <p:nvPr/>
        </p:nvSpPr>
        <p:spPr>
          <a:xfrm>
            <a:off x="548640" y="1280160"/>
            <a:ext cx="566928" cy="566928"/>
          </a:xfrm>
          <a:prstGeom prst="ellipse">
            <a:avLst/>
          </a:prstGeom>
          <a:solidFill>
            <a:srgbClr val="0F766E"/>
          </a:solidFill>
          <a:ln w="12700">
            <a:solidFill>
              <a:srgbClr val="0F766E"/>
            </a:solidFill>
            <a:prstDash val="solid"/>
          </a:ln>
        </p:spPr>
      </p:sp>
      <p:pic>
        <p:nvPicPr>
          <p:cNvPr id="4" name="Image 0" descr="Seedling icon"/>
          <p:cNvPicPr>
            <a:picLocks noChangeAspect="1"/>
          </p:cNvPicPr>
          <p:nvPr/>
        </p:nvPicPr>
        <p:blipFill>
          <a:blip r:embed="rId3"/>
          <a:stretch>
            <a:fillRect/>
          </a:stretch>
        </p:blipFill>
        <p:spPr>
          <a:xfrm>
            <a:off x="701711" y="1433231"/>
            <a:ext cx="260787" cy="260787"/>
          </a:xfrm>
          <a:prstGeom prst="rect">
            <a:avLst/>
          </a:prstGeom>
        </p:spPr>
      </p:pic>
      <p:sp>
        <p:nvSpPr>
          <p:cNvPr id="5" name="chip HYPOTHESISED PERSONA"/>
          <p:cNvSpPr/>
          <p:nvPr/>
        </p:nvSpPr>
        <p:spPr>
          <a:xfrm>
            <a:off x="1280160" y="1435608"/>
            <a:ext cx="1700784" cy="256032"/>
          </a:xfrm>
          <a:prstGeom prst="roundRect">
            <a:avLst>
              <a:gd name="adj" fmla="val 50000"/>
            </a:avLst>
          </a:prstGeom>
          <a:solidFill>
            <a:srgbClr val="5B6B73"/>
          </a:solidFill>
          <a:ln w="12700">
            <a:solidFill>
              <a:srgbClr val="5B6B73"/>
            </a:solidFill>
            <a:prstDash val="solid"/>
          </a:ln>
        </p:spPr>
      </p:sp>
      <p:sp>
        <p:nvSpPr>
          <p:cNvPr id="6" name="Text 3"/>
          <p:cNvSpPr txBox="1"/>
          <p:nvPr/>
        </p:nvSpPr>
        <p:spPr>
          <a:xfrm>
            <a:off x="1280160" y="1435608"/>
            <a:ext cx="1700784"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HYPOTHESISED PERSONA</a:t>
            </a:r>
            <a:endParaRPr lang="en-US" sz="1000" dirty="0"/>
          </a:p>
        </p:txBody>
      </p:sp>
      <p:sp>
        <p:nvSpPr>
          <p:cNvPr id="7" name="Text 4"/>
          <p:cNvSpPr txBox="1"/>
          <p:nvPr/>
        </p:nvSpPr>
        <p:spPr>
          <a:xfrm>
            <a:off x="3118104" y="1426464"/>
            <a:ext cx="3840480" cy="274320"/>
          </a:xfrm>
          <a:prstGeom prst="rect">
            <a:avLst/>
          </a:prstGeom>
          <a:noFill/>
          <a:ln/>
        </p:spPr>
        <p:txBody>
          <a:bodyPr wrap="square" lIns="0" tIns="0" rIns="0" bIns="0" rtlCol="0" anchor="ctr"/>
          <a:lstStyle/>
          <a:p>
            <a:pPr marL="0" indent="0">
              <a:buNone/>
            </a:pPr>
            <a:r>
              <a:rPr lang="en-US" sz="1200" i="1" dirty="0">
                <a:solidFill>
                  <a:srgbClr val="5B6B73"/>
                </a:solidFill>
              </a:rPr>
              <a:t>No direct farmer interviews in this window</a:t>
            </a:r>
            <a:endParaRPr lang="en-US" sz="1200" dirty="0"/>
          </a:p>
        </p:txBody>
      </p:sp>
      <p:sp>
        <p:nvSpPr>
          <p:cNvPr id="8" name="Text 5"/>
          <p:cNvSpPr txBox="1"/>
          <p:nvPr/>
        </p:nvSpPr>
        <p:spPr>
          <a:xfrm>
            <a:off x="548640" y="1965960"/>
            <a:ext cx="6675120" cy="548640"/>
          </a:xfrm>
          <a:prstGeom prst="rect">
            <a:avLst/>
          </a:prstGeom>
          <a:noFill/>
          <a:ln/>
        </p:spPr>
        <p:txBody>
          <a:bodyPr wrap="square" lIns="0" tIns="0" rIns="0" bIns="0" rtlCol="0" anchor="ctr"/>
          <a:lstStyle/>
          <a:p>
            <a:pPr marL="0" indent="0">
              <a:buNone/>
            </a:pPr>
            <a:r>
              <a:rPr lang="en-US" sz="2000" i="1" dirty="0">
                <a:solidFill>
                  <a:srgbClr val="0F766E"/>
                </a:solidFill>
              </a:rPr>
              <a:t>“Same mandi, same buyer, plus a weight record.”</a:t>
            </a:r>
            <a:endParaRPr lang="en-US" sz="2000" dirty="0"/>
          </a:p>
        </p:txBody>
      </p:sp>
      <p:sp>
        <p:nvSpPr>
          <p:cNvPr id="9" name="Text 6"/>
          <p:cNvSpPr txBox="1"/>
          <p:nvPr/>
        </p:nvSpPr>
        <p:spPr>
          <a:xfrm>
            <a:off x="548640" y="2651760"/>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CONTEXT</a:t>
            </a:r>
            <a:endParaRPr lang="en-US" sz="1100" dirty="0"/>
          </a:p>
        </p:txBody>
      </p:sp>
      <p:sp>
        <p:nvSpPr>
          <p:cNvPr id="10" name="Text 7"/>
          <p:cNvSpPr txBox="1"/>
          <p:nvPr/>
        </p:nvSpPr>
        <p:spPr>
          <a:xfrm>
            <a:off x="2286000" y="2624328"/>
            <a:ext cx="4983480" cy="603504"/>
          </a:xfrm>
          <a:prstGeom prst="rect">
            <a:avLst/>
          </a:prstGeom>
          <a:noFill/>
          <a:ln/>
        </p:spPr>
        <p:txBody>
          <a:bodyPr wrap="square" lIns="0" tIns="0" rIns="0" bIns="0" rtlCol="0" anchor="t"/>
          <a:lstStyle/>
          <a:p>
            <a:pPr marL="0" indent="0">
              <a:buNone/>
            </a:pPr>
            <a:r>
              <a:rPr lang="en-US" sz="1500" dirty="0">
                <a:solidFill>
                  <a:srgbClr val="1F2933"/>
                </a:solidFill>
              </a:rPr>
              <a:t>Brings tomato, orange or onion to a mandi or collection point</a:t>
            </a:r>
            <a:endParaRPr lang="en-US" sz="1500" dirty="0"/>
          </a:p>
        </p:txBody>
      </p:sp>
      <p:sp>
        <p:nvSpPr>
          <p:cNvPr id="11" name="Text 8"/>
          <p:cNvSpPr txBox="1"/>
          <p:nvPr/>
        </p:nvSpPr>
        <p:spPr>
          <a:xfrm>
            <a:off x="548640" y="3310128"/>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GOALS</a:t>
            </a:r>
            <a:endParaRPr lang="en-US" sz="1100" dirty="0"/>
          </a:p>
        </p:txBody>
      </p:sp>
      <p:sp>
        <p:nvSpPr>
          <p:cNvPr id="12" name="Text 9"/>
          <p:cNvSpPr txBox="1"/>
          <p:nvPr/>
        </p:nvSpPr>
        <p:spPr>
          <a:xfrm>
            <a:off x="2286000" y="3282696"/>
            <a:ext cx="4983480" cy="603504"/>
          </a:xfrm>
          <a:prstGeom prst="rect">
            <a:avLst/>
          </a:prstGeom>
          <a:noFill/>
          <a:ln/>
        </p:spPr>
        <p:txBody>
          <a:bodyPr wrap="square" lIns="0" tIns="0" rIns="0" bIns="0" rtlCol="0" anchor="t"/>
          <a:lstStyle/>
          <a:p>
            <a:pPr marL="0" indent="0">
              <a:buNone/>
            </a:pPr>
            <a:r>
              <a:rPr lang="en-US" sz="1500" dirty="0">
                <a:solidFill>
                  <a:srgbClr val="1F2933"/>
                </a:solidFill>
              </a:rPr>
              <a:t>Know how much was handed over, and to whom</a:t>
            </a:r>
            <a:endParaRPr lang="en-US" sz="1500" dirty="0"/>
          </a:p>
        </p:txBody>
      </p:sp>
      <p:sp>
        <p:nvSpPr>
          <p:cNvPr id="13" name="Text 10"/>
          <p:cNvSpPr txBox="1"/>
          <p:nvPr/>
        </p:nvSpPr>
        <p:spPr>
          <a:xfrm>
            <a:off x="548640" y="3968496"/>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PAINS</a:t>
            </a:r>
            <a:endParaRPr lang="en-US" sz="1100" dirty="0"/>
          </a:p>
        </p:txBody>
      </p:sp>
      <p:sp>
        <p:nvSpPr>
          <p:cNvPr id="14" name="Text 11"/>
          <p:cNvSpPr txBox="1"/>
          <p:nvPr/>
        </p:nvSpPr>
        <p:spPr>
          <a:xfrm>
            <a:off x="2286000" y="3941064"/>
            <a:ext cx="4983480" cy="603504"/>
          </a:xfrm>
          <a:prstGeom prst="rect">
            <a:avLst/>
          </a:prstGeom>
          <a:noFill/>
          <a:ln/>
        </p:spPr>
        <p:txBody>
          <a:bodyPr wrap="square" lIns="0" tIns="0" rIns="0" bIns="0" rtlCol="0" anchor="t"/>
          <a:lstStyle/>
          <a:p>
            <a:pPr marL="0" indent="0">
              <a:buNone/>
            </a:pPr>
            <a:r>
              <a:rPr lang="en-US" sz="1500" dirty="0">
                <a:solidFill>
                  <a:srgbClr val="1F2933"/>
                </a:solidFill>
              </a:rPr>
              <a:t>Little accessible record of the handover and the recorded weight</a:t>
            </a:r>
            <a:endParaRPr lang="en-US" sz="1500" dirty="0"/>
          </a:p>
        </p:txBody>
      </p:sp>
      <p:sp>
        <p:nvSpPr>
          <p:cNvPr id="15" name="Text 12"/>
          <p:cNvSpPr txBox="1"/>
          <p:nvPr/>
        </p:nvSpPr>
        <p:spPr>
          <a:xfrm>
            <a:off x="548640" y="4626864"/>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WE OFFER</a:t>
            </a:r>
            <a:endParaRPr lang="en-US" sz="1100" dirty="0"/>
          </a:p>
        </p:txBody>
      </p:sp>
      <p:sp>
        <p:nvSpPr>
          <p:cNvPr id="16" name="Text 13"/>
          <p:cNvSpPr txBox="1"/>
          <p:nvPr/>
        </p:nvSpPr>
        <p:spPr>
          <a:xfrm>
            <a:off x="2286000" y="4599432"/>
            <a:ext cx="4983480" cy="603504"/>
          </a:xfrm>
          <a:prstGeom prst="rect">
            <a:avLst/>
          </a:prstGeom>
          <a:noFill/>
          <a:ln/>
        </p:spPr>
        <p:txBody>
          <a:bodyPr wrap="square" lIns="0" tIns="0" rIns="0" bIns="0" rtlCol="0" anchor="t"/>
          <a:lstStyle/>
          <a:p>
            <a:pPr marL="0" indent="0">
              <a:buNone/>
            </a:pPr>
            <a:r>
              <a:rPr lang="en-US" sz="1500" dirty="0">
                <a:solidFill>
                  <a:srgbClr val="1F2933"/>
                </a:solidFill>
              </a:rPr>
              <a:t>QR-labelled lots; two-party handovers in a tamper-evident log</a:t>
            </a:r>
            <a:endParaRPr lang="en-US" sz="1500" dirty="0"/>
          </a:p>
        </p:txBody>
      </p:sp>
      <p:sp>
        <p:nvSpPr>
          <p:cNvPr id="17" name="assumption box"/>
          <p:cNvSpPr/>
          <p:nvPr/>
        </p:nvSpPr>
        <p:spPr>
          <a:xfrm>
            <a:off x="548640" y="5349240"/>
            <a:ext cx="6720840" cy="868680"/>
          </a:xfrm>
          <a:prstGeom prst="roundRect">
            <a:avLst>
              <a:gd name="adj" fmla="val 12632"/>
            </a:avLst>
          </a:prstGeom>
          <a:solidFill>
            <a:srgbClr val="FBF1DD"/>
          </a:solidFill>
          <a:ln w="12700">
            <a:solidFill>
              <a:srgbClr val="FBF1DD"/>
            </a:solidFill>
            <a:prstDash val="solid"/>
          </a:ln>
          <a:effectLst>
            <a:outerShdw blurRad="76200" dist="25400" dir="5400000" algn="bl" rotWithShape="0">
              <a:srgbClr val="000000">
                <a:alpha val="12000"/>
              </a:srgbClr>
            </a:outerShdw>
          </a:effectLst>
        </p:spPr>
      </p:sp>
      <p:sp>
        <p:nvSpPr>
          <p:cNvPr id="18" name="Text 15"/>
          <p:cNvSpPr txBox="1"/>
          <p:nvPr/>
        </p:nvSpPr>
        <p:spPr>
          <a:xfrm>
            <a:off x="731520" y="5440680"/>
            <a:ext cx="2743200" cy="228600"/>
          </a:xfrm>
          <a:prstGeom prst="rect">
            <a:avLst/>
          </a:prstGeom>
          <a:noFill/>
          <a:ln/>
        </p:spPr>
        <p:txBody>
          <a:bodyPr wrap="square" lIns="0" tIns="0" rIns="0" bIns="0" rtlCol="0" anchor="t"/>
          <a:lstStyle/>
          <a:p>
            <a:pPr marL="0" indent="0">
              <a:buNone/>
            </a:pPr>
            <a:r>
              <a:rPr lang="en-US" sz="1000" b="1" kern="0" spc="100" dirty="0">
                <a:solidFill>
                  <a:srgbClr val="8A5A00"/>
                </a:solidFill>
              </a:rPr>
              <a:t>ASSUMPTION TO TEST</a:t>
            </a:r>
            <a:endParaRPr lang="en-US" sz="1000" dirty="0"/>
          </a:p>
        </p:txBody>
      </p:sp>
      <p:sp>
        <p:nvSpPr>
          <p:cNvPr id="19" name="chip HYPOTHESIS TO VALIDATE"/>
          <p:cNvSpPr/>
          <p:nvPr/>
        </p:nvSpPr>
        <p:spPr>
          <a:xfrm>
            <a:off x="5257800" y="5422392"/>
            <a:ext cx="1843430" cy="256032"/>
          </a:xfrm>
          <a:prstGeom prst="roundRect">
            <a:avLst>
              <a:gd name="adj" fmla="val 50000"/>
            </a:avLst>
          </a:prstGeom>
          <a:solidFill>
            <a:srgbClr val="8A5A00"/>
          </a:solidFill>
          <a:ln w="12700">
            <a:solidFill>
              <a:srgbClr val="8A5A00"/>
            </a:solidFill>
            <a:prstDash val="solid"/>
          </a:ln>
        </p:spPr>
      </p:sp>
      <p:sp>
        <p:nvSpPr>
          <p:cNvPr id="20" name="Text 17"/>
          <p:cNvSpPr txBox="1"/>
          <p:nvPr/>
        </p:nvSpPr>
        <p:spPr>
          <a:xfrm>
            <a:off x="5257800" y="5422392"/>
            <a:ext cx="1843430"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 TO VALIDATE</a:t>
            </a:r>
            <a:endParaRPr lang="en-US" sz="1000" dirty="0"/>
          </a:p>
        </p:txBody>
      </p:sp>
      <p:sp>
        <p:nvSpPr>
          <p:cNvPr id="21" name="Text 18"/>
          <p:cNvSpPr txBox="1"/>
          <p:nvPr/>
        </p:nvSpPr>
        <p:spPr>
          <a:xfrm>
            <a:off x="731520" y="5715000"/>
            <a:ext cx="6400800" cy="457200"/>
          </a:xfrm>
          <a:prstGeom prst="rect">
            <a:avLst/>
          </a:prstGeom>
          <a:noFill/>
          <a:ln/>
        </p:spPr>
        <p:txBody>
          <a:bodyPr wrap="square" lIns="0" tIns="0" rIns="0" bIns="0" rtlCol="0" anchor="t"/>
          <a:lstStyle/>
          <a:p>
            <a:pPr marL="0" indent="0">
              <a:buNone/>
            </a:pPr>
            <a:r>
              <a:rPr lang="en-US" sz="1500" dirty="0">
                <a:solidFill>
                  <a:srgbClr val="1F2933"/>
                </a:solidFill>
              </a:rPr>
              <a:t>Farmers value a digital handover and weight record enough to use it regularly</a:t>
            </a:r>
            <a:endParaRPr lang="en-US" sz="1500" dirty="0"/>
          </a:p>
        </p:txBody>
      </p:sp>
      <p:sp>
        <p:nvSpPr>
          <p:cNvPr id="22" name="flow step 1"/>
          <p:cNvSpPr/>
          <p:nvPr/>
        </p:nvSpPr>
        <p:spPr>
          <a:xfrm>
            <a:off x="7543800" y="1325880"/>
            <a:ext cx="1600200" cy="868680"/>
          </a:xfrm>
          <a:prstGeom prst="roundRect">
            <a:avLst>
              <a:gd name="adj" fmla="val 10526"/>
            </a:avLst>
          </a:prstGeom>
          <a:solidFill>
            <a:srgbClr val="E3F1EF"/>
          </a:solidFill>
          <a:ln w="12700">
            <a:solidFill>
              <a:srgbClr val="0F766E"/>
            </a:solidFill>
            <a:prstDash val="solid"/>
          </a:ln>
        </p:spPr>
      </p:sp>
      <p:sp>
        <p:nvSpPr>
          <p:cNvPr id="23" name="Text 20"/>
          <p:cNvSpPr txBox="1"/>
          <p:nvPr/>
        </p:nvSpPr>
        <p:spPr>
          <a:xfrm>
            <a:off x="7607808" y="1325880"/>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Produce</a:t>
            </a:r>
            <a:endParaRPr lang="en-US" sz="1300" dirty="0"/>
          </a:p>
        </p:txBody>
      </p:sp>
      <p:pic>
        <p:nvPicPr>
          <p:cNvPr id="24" name="Image 1" descr="then"/>
          <p:cNvPicPr>
            <a:picLocks noChangeAspect="1"/>
          </p:cNvPicPr>
          <p:nvPr/>
        </p:nvPicPr>
        <p:blipFill>
          <a:blip r:embed="rId4"/>
          <a:stretch>
            <a:fillRect/>
          </a:stretch>
        </p:blipFill>
        <p:spPr>
          <a:xfrm>
            <a:off x="8229600" y="2240280"/>
            <a:ext cx="228600" cy="256032"/>
          </a:xfrm>
          <a:prstGeom prst="rect">
            <a:avLst/>
          </a:prstGeom>
        </p:spPr>
      </p:pic>
      <p:sp>
        <p:nvSpPr>
          <p:cNvPr id="25" name="flow step 2"/>
          <p:cNvSpPr/>
          <p:nvPr/>
        </p:nvSpPr>
        <p:spPr>
          <a:xfrm>
            <a:off x="7543800" y="2542032"/>
            <a:ext cx="1600200" cy="868680"/>
          </a:xfrm>
          <a:prstGeom prst="roundRect">
            <a:avLst>
              <a:gd name="adj" fmla="val 10526"/>
            </a:avLst>
          </a:prstGeom>
          <a:solidFill>
            <a:srgbClr val="E3F1EF"/>
          </a:solidFill>
          <a:ln w="12700">
            <a:solidFill>
              <a:srgbClr val="0F766E"/>
            </a:solidFill>
            <a:prstDash val="solid"/>
          </a:ln>
        </p:spPr>
      </p:sp>
      <p:sp>
        <p:nvSpPr>
          <p:cNvPr id="26" name="Text 22"/>
          <p:cNvSpPr txBox="1"/>
          <p:nvPr/>
        </p:nvSpPr>
        <p:spPr>
          <a:xfrm>
            <a:off x="7607808" y="2542032"/>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QR label</a:t>
            </a:r>
            <a:endParaRPr lang="en-US" sz="1300" dirty="0"/>
          </a:p>
        </p:txBody>
      </p:sp>
      <p:pic>
        <p:nvPicPr>
          <p:cNvPr id="27" name="Image 2" descr="then"/>
          <p:cNvPicPr>
            <a:picLocks noChangeAspect="1"/>
          </p:cNvPicPr>
          <p:nvPr/>
        </p:nvPicPr>
        <p:blipFill>
          <a:blip r:embed="rId4"/>
          <a:stretch>
            <a:fillRect/>
          </a:stretch>
        </p:blipFill>
        <p:spPr>
          <a:xfrm>
            <a:off x="8229600" y="3456432"/>
            <a:ext cx="228600" cy="256032"/>
          </a:xfrm>
          <a:prstGeom prst="rect">
            <a:avLst/>
          </a:prstGeom>
        </p:spPr>
      </p:pic>
      <p:sp>
        <p:nvSpPr>
          <p:cNvPr id="28" name="flow step 3"/>
          <p:cNvSpPr/>
          <p:nvPr/>
        </p:nvSpPr>
        <p:spPr>
          <a:xfrm>
            <a:off x="7543800" y="3758184"/>
            <a:ext cx="1600200" cy="868680"/>
          </a:xfrm>
          <a:prstGeom prst="roundRect">
            <a:avLst>
              <a:gd name="adj" fmla="val 10526"/>
            </a:avLst>
          </a:prstGeom>
          <a:solidFill>
            <a:srgbClr val="E3F1EF"/>
          </a:solidFill>
          <a:ln w="12700">
            <a:solidFill>
              <a:srgbClr val="0F766E"/>
            </a:solidFill>
            <a:prstDash val="solid"/>
          </a:ln>
        </p:spPr>
      </p:sp>
      <p:sp>
        <p:nvSpPr>
          <p:cNvPr id="29" name="Text 24"/>
          <p:cNvSpPr txBox="1"/>
          <p:nvPr/>
        </p:nvSpPr>
        <p:spPr>
          <a:xfrm>
            <a:off x="7607808" y="3758184"/>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Handover</a:t>
            </a:r>
            <a:endParaRPr lang="en-US" sz="1300" dirty="0"/>
          </a:p>
        </p:txBody>
      </p:sp>
      <p:pic>
        <p:nvPicPr>
          <p:cNvPr id="30" name="Image 3" descr="then"/>
          <p:cNvPicPr>
            <a:picLocks noChangeAspect="1"/>
          </p:cNvPicPr>
          <p:nvPr/>
        </p:nvPicPr>
        <p:blipFill>
          <a:blip r:embed="rId4"/>
          <a:stretch>
            <a:fillRect/>
          </a:stretch>
        </p:blipFill>
        <p:spPr>
          <a:xfrm>
            <a:off x="8229600" y="4672584"/>
            <a:ext cx="228600" cy="256032"/>
          </a:xfrm>
          <a:prstGeom prst="rect">
            <a:avLst/>
          </a:prstGeom>
        </p:spPr>
      </p:pic>
      <p:sp>
        <p:nvSpPr>
          <p:cNvPr id="31" name="flow step 4"/>
          <p:cNvSpPr/>
          <p:nvPr/>
        </p:nvSpPr>
        <p:spPr>
          <a:xfrm>
            <a:off x="7543800" y="4974336"/>
            <a:ext cx="1600200" cy="868680"/>
          </a:xfrm>
          <a:prstGeom prst="roundRect">
            <a:avLst>
              <a:gd name="adj" fmla="val 10526"/>
            </a:avLst>
          </a:prstGeom>
          <a:solidFill>
            <a:srgbClr val="E3F1EF"/>
          </a:solidFill>
          <a:ln w="12700">
            <a:solidFill>
              <a:srgbClr val="0F766E"/>
            </a:solidFill>
            <a:prstDash val="solid"/>
          </a:ln>
        </p:spPr>
      </p:sp>
      <p:sp>
        <p:nvSpPr>
          <p:cNvPr id="32" name="Text 26"/>
          <p:cNvSpPr txBox="1"/>
          <p:nvPr/>
        </p:nvSpPr>
        <p:spPr>
          <a:xfrm>
            <a:off x="7607808" y="4974336"/>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Weight record &amp; history</a:t>
            </a:r>
            <a:endParaRPr lang="en-US" sz="1300" dirty="0"/>
          </a:p>
        </p:txBody>
      </p:sp>
      <p:pic>
        <p:nvPicPr>
          <p:cNvPr id="33" name="Image 4" descr="Prototype: QR label + PIN (demo data)"/>
          <p:cNvPicPr>
            <a:picLocks noChangeAspect="1"/>
          </p:cNvPicPr>
          <p:nvPr/>
        </p:nvPicPr>
        <p:blipFill>
          <a:blip r:embed="rId5"/>
          <a:stretch>
            <a:fillRect/>
          </a:stretch>
        </p:blipFill>
        <p:spPr>
          <a:xfrm>
            <a:off x="9464040" y="1261872"/>
            <a:ext cx="2103120" cy="4670764"/>
          </a:xfrm>
          <a:prstGeom prst="rect">
            <a:avLst/>
          </a:prstGeom>
        </p:spPr>
      </p:pic>
      <p:sp>
        <p:nvSpPr>
          <p:cNvPr id="34" name="screenshot border"/>
          <p:cNvSpPr/>
          <p:nvPr/>
        </p:nvSpPr>
        <p:spPr>
          <a:xfrm>
            <a:off x="9464040" y="1261872"/>
            <a:ext cx="2103120" cy="4670764"/>
          </a:xfrm>
          <a:prstGeom prst="rect">
            <a:avLst/>
          </a:prstGeom>
          <a:ln w="12700">
            <a:solidFill>
              <a:srgbClr val="C9D6D1"/>
            </a:solidFill>
            <a:prstDash val="solid"/>
          </a:ln>
        </p:spPr>
      </p:sp>
      <p:sp>
        <p:nvSpPr>
          <p:cNvPr id="35" name="Text 28"/>
          <p:cNvSpPr txBox="1"/>
          <p:nvPr/>
        </p:nvSpPr>
        <p:spPr>
          <a:xfrm>
            <a:off x="9098280" y="5989320"/>
            <a:ext cx="2834640" cy="274320"/>
          </a:xfrm>
          <a:prstGeom prst="rect">
            <a:avLst/>
          </a:prstGeom>
          <a:noFill/>
          <a:ln/>
        </p:spPr>
        <p:txBody>
          <a:bodyPr wrap="square" lIns="0" tIns="0" rIns="0" bIns="0" rtlCol="0" anchor="t"/>
          <a:lstStyle/>
          <a:p>
            <a:pPr marL="0" indent="0" algn="ctr">
              <a:buNone/>
            </a:pPr>
            <a:r>
              <a:rPr lang="en-US" sz="1000" i="1" dirty="0">
                <a:solidFill>
                  <a:srgbClr val="5B6B73"/>
                </a:solidFill>
              </a:rPr>
              <a:t>Prototype: QR label + PIN (demo data)</a:t>
            </a:r>
            <a:endParaRPr lang="en-US" sz="1000" dirty="0"/>
          </a:p>
        </p:txBody>
      </p:sp>
      <p:sp>
        <p:nvSpPr>
          <p:cNvPr id="36"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Persona 2 · Collection-point supervisor</a:t>
            </a:r>
            <a:endParaRPr lang="en-US" sz="3600" dirty="0"/>
          </a:p>
        </p:txBody>
      </p:sp>
      <p:sp>
        <p:nvSpPr>
          <p:cNvPr id="3" name="icon circle FaWarehouse"/>
          <p:cNvSpPr/>
          <p:nvPr/>
        </p:nvSpPr>
        <p:spPr>
          <a:xfrm>
            <a:off x="548640" y="1280160"/>
            <a:ext cx="566928" cy="566928"/>
          </a:xfrm>
          <a:prstGeom prst="ellipse">
            <a:avLst/>
          </a:prstGeom>
          <a:solidFill>
            <a:srgbClr val="0F766E"/>
          </a:solidFill>
          <a:ln w="12700">
            <a:solidFill>
              <a:srgbClr val="0F766E"/>
            </a:solidFill>
            <a:prstDash val="solid"/>
          </a:ln>
        </p:spPr>
      </p:sp>
      <p:pic>
        <p:nvPicPr>
          <p:cNvPr id="4" name="Image 0" descr="Warehouse icon"/>
          <p:cNvPicPr>
            <a:picLocks noChangeAspect="1"/>
          </p:cNvPicPr>
          <p:nvPr/>
        </p:nvPicPr>
        <p:blipFill>
          <a:blip r:embed="rId3"/>
          <a:stretch>
            <a:fillRect/>
          </a:stretch>
        </p:blipFill>
        <p:spPr>
          <a:xfrm>
            <a:off x="701711" y="1433231"/>
            <a:ext cx="260787" cy="260787"/>
          </a:xfrm>
          <a:prstGeom prst="rect">
            <a:avLst/>
          </a:prstGeom>
        </p:spPr>
      </p:pic>
      <p:sp>
        <p:nvSpPr>
          <p:cNvPr id="5" name="chip HYPOTHESISED PERSONA"/>
          <p:cNvSpPr/>
          <p:nvPr/>
        </p:nvSpPr>
        <p:spPr>
          <a:xfrm>
            <a:off x="1280160" y="1435608"/>
            <a:ext cx="1700784" cy="256032"/>
          </a:xfrm>
          <a:prstGeom prst="roundRect">
            <a:avLst>
              <a:gd name="adj" fmla="val 50000"/>
            </a:avLst>
          </a:prstGeom>
          <a:solidFill>
            <a:srgbClr val="5B6B73"/>
          </a:solidFill>
          <a:ln w="12700">
            <a:solidFill>
              <a:srgbClr val="5B6B73"/>
            </a:solidFill>
            <a:prstDash val="solid"/>
          </a:ln>
        </p:spPr>
      </p:sp>
      <p:sp>
        <p:nvSpPr>
          <p:cNvPr id="6" name="Text 3"/>
          <p:cNvSpPr txBox="1"/>
          <p:nvPr/>
        </p:nvSpPr>
        <p:spPr>
          <a:xfrm>
            <a:off x="1280160" y="1435608"/>
            <a:ext cx="1700784"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HYPOTHESISED PERSONA</a:t>
            </a:r>
            <a:endParaRPr lang="en-US" sz="1000" dirty="0"/>
          </a:p>
        </p:txBody>
      </p:sp>
      <p:sp>
        <p:nvSpPr>
          <p:cNvPr id="7" name="Text 4"/>
          <p:cNvSpPr txBox="1"/>
          <p:nvPr/>
        </p:nvSpPr>
        <p:spPr>
          <a:xfrm>
            <a:off x="3118104" y="1426464"/>
            <a:ext cx="3840480" cy="274320"/>
          </a:xfrm>
          <a:prstGeom prst="rect">
            <a:avLst/>
          </a:prstGeom>
          <a:noFill/>
          <a:ln/>
        </p:spPr>
        <p:txBody>
          <a:bodyPr wrap="square" lIns="0" tIns="0" rIns="0" bIns="0" rtlCol="0" anchor="ctr"/>
          <a:lstStyle/>
          <a:p>
            <a:pPr marL="0" indent="0">
              <a:buNone/>
            </a:pPr>
            <a:r>
              <a:rPr lang="en-US" sz="1200" i="1" dirty="0">
                <a:solidFill>
                  <a:srgbClr val="5B6B73"/>
                </a:solidFill>
              </a:rPr>
              <a:t>Direct field validation pending</a:t>
            </a:r>
            <a:endParaRPr lang="en-US" sz="1200" dirty="0"/>
          </a:p>
        </p:txBody>
      </p:sp>
      <p:sp>
        <p:nvSpPr>
          <p:cNvPr id="8" name="Text 5"/>
          <p:cNvSpPr txBox="1"/>
          <p:nvPr/>
        </p:nvSpPr>
        <p:spPr>
          <a:xfrm>
            <a:off x="548640" y="1965960"/>
            <a:ext cx="6675120" cy="548640"/>
          </a:xfrm>
          <a:prstGeom prst="rect">
            <a:avLst/>
          </a:prstGeom>
          <a:noFill/>
          <a:ln/>
        </p:spPr>
        <p:txBody>
          <a:bodyPr wrap="square" lIns="0" tIns="0" rIns="0" bIns="0" rtlCol="0" anchor="ctr"/>
          <a:lstStyle/>
          <a:p>
            <a:pPr marL="0" indent="0">
              <a:buNone/>
            </a:pPr>
            <a:r>
              <a:rPr lang="en-US" sz="1700" i="1" dirty="0">
                <a:solidFill>
                  <a:srgbClr val="0F766E"/>
                </a:solidFill>
              </a:rPr>
              <a:t>“A red/amber/green shelf-life light and simpler lot tracking.”</a:t>
            </a:r>
            <a:endParaRPr lang="en-US" sz="1700" dirty="0"/>
          </a:p>
        </p:txBody>
      </p:sp>
      <p:sp>
        <p:nvSpPr>
          <p:cNvPr id="9" name="Text 6"/>
          <p:cNvSpPr txBox="1"/>
          <p:nvPr/>
        </p:nvSpPr>
        <p:spPr>
          <a:xfrm>
            <a:off x="548640" y="2651760"/>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CONTEXT</a:t>
            </a:r>
            <a:endParaRPr lang="en-US" sz="1100" dirty="0"/>
          </a:p>
        </p:txBody>
      </p:sp>
      <p:sp>
        <p:nvSpPr>
          <p:cNvPr id="10" name="Text 7"/>
          <p:cNvSpPr txBox="1"/>
          <p:nvPr/>
        </p:nvSpPr>
        <p:spPr>
          <a:xfrm>
            <a:off x="2286000" y="2624328"/>
            <a:ext cx="4983480" cy="603504"/>
          </a:xfrm>
          <a:prstGeom prst="rect">
            <a:avLst/>
          </a:prstGeom>
          <a:noFill/>
          <a:ln/>
        </p:spPr>
        <p:txBody>
          <a:bodyPr wrap="square" lIns="0" tIns="0" rIns="0" bIns="0" rtlCol="0" anchor="t"/>
          <a:lstStyle/>
          <a:p>
            <a:pPr marL="0" indent="0">
              <a:buNone/>
            </a:pPr>
            <a:r>
              <a:rPr lang="en-US" sz="1500" dirty="0">
                <a:solidFill>
                  <a:srgbClr val="1F2933"/>
                </a:solidFill>
              </a:rPr>
              <a:t>Receives incoming lots and confirms handovers at a collection point</a:t>
            </a:r>
            <a:endParaRPr lang="en-US" sz="1500" dirty="0"/>
          </a:p>
        </p:txBody>
      </p:sp>
      <p:sp>
        <p:nvSpPr>
          <p:cNvPr id="11" name="Text 8"/>
          <p:cNvSpPr txBox="1"/>
          <p:nvPr/>
        </p:nvSpPr>
        <p:spPr>
          <a:xfrm>
            <a:off x="548640" y="3310128"/>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GOALS</a:t>
            </a:r>
            <a:endParaRPr lang="en-US" sz="1100" dirty="0"/>
          </a:p>
        </p:txBody>
      </p:sp>
      <p:sp>
        <p:nvSpPr>
          <p:cNvPr id="12" name="Text 9"/>
          <p:cNvSpPr txBox="1"/>
          <p:nvPr/>
        </p:nvSpPr>
        <p:spPr>
          <a:xfrm>
            <a:off x="2286000" y="3282696"/>
            <a:ext cx="4983480" cy="603504"/>
          </a:xfrm>
          <a:prstGeom prst="rect">
            <a:avLst/>
          </a:prstGeom>
          <a:noFill/>
          <a:ln/>
        </p:spPr>
        <p:txBody>
          <a:bodyPr wrap="square" lIns="0" tIns="0" rIns="0" bIns="0" rtlCol="0" anchor="t"/>
          <a:lstStyle/>
          <a:p>
            <a:pPr marL="0" indent="0">
              <a:buNone/>
            </a:pPr>
            <a:r>
              <a:rPr lang="en-US" sz="1500" dirty="0">
                <a:solidFill>
                  <a:srgbClr val="1F2933"/>
                </a:solidFill>
              </a:rPr>
              <a:t>Organised lot records, visible activity, recorded wastage</a:t>
            </a:r>
            <a:endParaRPr lang="en-US" sz="1500" dirty="0"/>
          </a:p>
        </p:txBody>
      </p:sp>
      <p:sp>
        <p:nvSpPr>
          <p:cNvPr id="13" name="Text 10"/>
          <p:cNvSpPr txBox="1"/>
          <p:nvPr/>
        </p:nvSpPr>
        <p:spPr>
          <a:xfrm>
            <a:off x="548640" y="3968496"/>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PAINS</a:t>
            </a:r>
            <a:endParaRPr lang="en-US" sz="1100" dirty="0"/>
          </a:p>
        </p:txBody>
      </p:sp>
      <p:sp>
        <p:nvSpPr>
          <p:cNvPr id="14" name="Text 11"/>
          <p:cNvSpPr txBox="1"/>
          <p:nvPr/>
        </p:nvSpPr>
        <p:spPr>
          <a:xfrm>
            <a:off x="2286000" y="3941064"/>
            <a:ext cx="4983480" cy="603504"/>
          </a:xfrm>
          <a:prstGeom prst="rect">
            <a:avLst/>
          </a:prstGeom>
          <a:noFill/>
          <a:ln/>
        </p:spPr>
        <p:txBody>
          <a:bodyPr wrap="square" lIns="0" tIns="0" rIns="0" bIns="0" rtlCol="0" anchor="t"/>
          <a:lstStyle/>
          <a:p>
            <a:pPr marL="0" indent="0">
              <a:buNone/>
            </a:pPr>
            <a:r>
              <a:rPr lang="en-US" sz="1500" dirty="0">
                <a:solidFill>
                  <a:srgbClr val="1F2933"/>
                </a:solidFill>
              </a:rPr>
              <a:t>Handovers, wastage and congestion recorded inconsistently</a:t>
            </a:r>
            <a:endParaRPr lang="en-US" sz="1500" dirty="0"/>
          </a:p>
        </p:txBody>
      </p:sp>
      <p:sp>
        <p:nvSpPr>
          <p:cNvPr id="15" name="Text 12"/>
          <p:cNvSpPr txBox="1"/>
          <p:nvPr/>
        </p:nvSpPr>
        <p:spPr>
          <a:xfrm>
            <a:off x="548640" y="4626864"/>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WE OFFER</a:t>
            </a:r>
            <a:endParaRPr lang="en-US" sz="1100" dirty="0"/>
          </a:p>
        </p:txBody>
      </p:sp>
      <p:sp>
        <p:nvSpPr>
          <p:cNvPr id="16" name="Text 13"/>
          <p:cNvSpPr txBox="1"/>
          <p:nvPr/>
        </p:nvSpPr>
        <p:spPr>
          <a:xfrm>
            <a:off x="2286000" y="4599432"/>
            <a:ext cx="4983480" cy="603504"/>
          </a:xfrm>
          <a:prstGeom prst="rect">
            <a:avLst/>
          </a:prstGeom>
          <a:noFill/>
          <a:ln/>
        </p:spPr>
        <p:txBody>
          <a:bodyPr wrap="square" lIns="0" tIns="0" rIns="0" bIns="0" rtlCol="0" anchor="t"/>
          <a:lstStyle/>
          <a:p>
            <a:pPr marL="0" indent="0">
              <a:buNone/>
            </a:pPr>
            <a:r>
              <a:rPr lang="en-US" sz="1500" dirty="0">
                <a:solidFill>
                  <a:srgbClr val="1F2933"/>
                </a:solidFill>
              </a:rPr>
              <a:t>QR lots · two-party handovers · one-tap wastage logger · shelf-life lights · crowd meter · Route Advisor</a:t>
            </a:r>
            <a:endParaRPr lang="en-US" sz="1500" dirty="0"/>
          </a:p>
        </p:txBody>
      </p:sp>
      <p:sp>
        <p:nvSpPr>
          <p:cNvPr id="17" name="assumption box"/>
          <p:cNvSpPr/>
          <p:nvPr/>
        </p:nvSpPr>
        <p:spPr>
          <a:xfrm>
            <a:off x="548640" y="5349240"/>
            <a:ext cx="6720840" cy="868680"/>
          </a:xfrm>
          <a:prstGeom prst="roundRect">
            <a:avLst>
              <a:gd name="adj" fmla="val 12632"/>
            </a:avLst>
          </a:prstGeom>
          <a:solidFill>
            <a:srgbClr val="FBF1DD"/>
          </a:solidFill>
          <a:ln w="12700">
            <a:solidFill>
              <a:srgbClr val="FBF1DD"/>
            </a:solidFill>
            <a:prstDash val="solid"/>
          </a:ln>
          <a:effectLst>
            <a:outerShdw blurRad="76200" dist="25400" dir="5400000" algn="bl" rotWithShape="0">
              <a:srgbClr val="000000">
                <a:alpha val="12000"/>
              </a:srgbClr>
            </a:outerShdw>
          </a:effectLst>
        </p:spPr>
      </p:sp>
      <p:sp>
        <p:nvSpPr>
          <p:cNvPr id="18" name="Text 15"/>
          <p:cNvSpPr txBox="1"/>
          <p:nvPr/>
        </p:nvSpPr>
        <p:spPr>
          <a:xfrm>
            <a:off x="731520" y="5440680"/>
            <a:ext cx="2743200" cy="228600"/>
          </a:xfrm>
          <a:prstGeom prst="rect">
            <a:avLst/>
          </a:prstGeom>
          <a:noFill/>
          <a:ln/>
        </p:spPr>
        <p:txBody>
          <a:bodyPr wrap="square" lIns="0" tIns="0" rIns="0" bIns="0" rtlCol="0" anchor="t"/>
          <a:lstStyle/>
          <a:p>
            <a:pPr marL="0" indent="0">
              <a:buNone/>
            </a:pPr>
            <a:r>
              <a:rPr lang="en-US" sz="1000" b="1" kern="0" spc="100" dirty="0">
                <a:solidFill>
                  <a:srgbClr val="8A5A00"/>
                </a:solidFill>
              </a:rPr>
              <a:t>ASSUMPTION TO TEST</a:t>
            </a:r>
            <a:endParaRPr lang="en-US" sz="1000" dirty="0"/>
          </a:p>
        </p:txBody>
      </p:sp>
      <p:sp>
        <p:nvSpPr>
          <p:cNvPr id="19" name="chip HYPOTHESIS TO VALIDATE"/>
          <p:cNvSpPr/>
          <p:nvPr/>
        </p:nvSpPr>
        <p:spPr>
          <a:xfrm>
            <a:off x="5257800" y="5422392"/>
            <a:ext cx="1843430" cy="256032"/>
          </a:xfrm>
          <a:prstGeom prst="roundRect">
            <a:avLst>
              <a:gd name="adj" fmla="val 50000"/>
            </a:avLst>
          </a:prstGeom>
          <a:solidFill>
            <a:srgbClr val="8A5A00"/>
          </a:solidFill>
          <a:ln w="12700">
            <a:solidFill>
              <a:srgbClr val="8A5A00"/>
            </a:solidFill>
            <a:prstDash val="solid"/>
          </a:ln>
        </p:spPr>
      </p:sp>
      <p:sp>
        <p:nvSpPr>
          <p:cNvPr id="20" name="Text 17"/>
          <p:cNvSpPr txBox="1"/>
          <p:nvPr/>
        </p:nvSpPr>
        <p:spPr>
          <a:xfrm>
            <a:off x="5257800" y="5422392"/>
            <a:ext cx="1843430"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 TO VALIDATE</a:t>
            </a:r>
            <a:endParaRPr lang="en-US" sz="1000" dirty="0"/>
          </a:p>
        </p:txBody>
      </p:sp>
      <p:sp>
        <p:nvSpPr>
          <p:cNvPr id="21" name="Text 18"/>
          <p:cNvSpPr txBox="1"/>
          <p:nvPr/>
        </p:nvSpPr>
        <p:spPr>
          <a:xfrm>
            <a:off x="731520" y="5715000"/>
            <a:ext cx="6400800" cy="457200"/>
          </a:xfrm>
          <a:prstGeom prst="rect">
            <a:avLst/>
          </a:prstGeom>
          <a:noFill/>
          <a:ln/>
        </p:spPr>
        <p:txBody>
          <a:bodyPr wrap="square" lIns="0" tIns="0" rIns="0" bIns="0" rtlCol="0" anchor="t"/>
          <a:lstStyle/>
          <a:p>
            <a:pPr marL="0" indent="0">
              <a:buNone/>
            </a:pPr>
            <a:r>
              <a:rPr lang="en-US" sz="1500" dirty="0">
                <a:solidFill>
                  <a:srgbClr val="1F2933"/>
                </a:solidFill>
              </a:rPr>
              <a:t>One consolidated interface makes daily collection-point management more useful</a:t>
            </a:r>
            <a:endParaRPr lang="en-US" sz="1500" dirty="0"/>
          </a:p>
        </p:txBody>
      </p:sp>
      <p:sp>
        <p:nvSpPr>
          <p:cNvPr id="22" name="flow step 1"/>
          <p:cNvSpPr/>
          <p:nvPr/>
        </p:nvSpPr>
        <p:spPr>
          <a:xfrm>
            <a:off x="7543800" y="1325880"/>
            <a:ext cx="1600200" cy="868680"/>
          </a:xfrm>
          <a:prstGeom prst="roundRect">
            <a:avLst>
              <a:gd name="adj" fmla="val 10526"/>
            </a:avLst>
          </a:prstGeom>
          <a:solidFill>
            <a:srgbClr val="E3F1EF"/>
          </a:solidFill>
          <a:ln w="12700">
            <a:solidFill>
              <a:srgbClr val="0F766E"/>
            </a:solidFill>
            <a:prstDash val="solid"/>
          </a:ln>
        </p:spPr>
      </p:sp>
      <p:sp>
        <p:nvSpPr>
          <p:cNvPr id="23" name="Text 20"/>
          <p:cNvSpPr txBox="1"/>
          <p:nvPr/>
        </p:nvSpPr>
        <p:spPr>
          <a:xfrm>
            <a:off x="7607808" y="1325880"/>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Incoming lot</a:t>
            </a:r>
            <a:endParaRPr lang="en-US" sz="1300" dirty="0"/>
          </a:p>
        </p:txBody>
      </p:sp>
      <p:pic>
        <p:nvPicPr>
          <p:cNvPr id="24" name="Image 1" descr="then"/>
          <p:cNvPicPr>
            <a:picLocks noChangeAspect="1"/>
          </p:cNvPicPr>
          <p:nvPr/>
        </p:nvPicPr>
        <p:blipFill>
          <a:blip r:embed="rId4"/>
          <a:stretch>
            <a:fillRect/>
          </a:stretch>
        </p:blipFill>
        <p:spPr>
          <a:xfrm>
            <a:off x="8229600" y="2240280"/>
            <a:ext cx="228600" cy="256032"/>
          </a:xfrm>
          <a:prstGeom prst="rect">
            <a:avLst/>
          </a:prstGeom>
        </p:spPr>
      </p:pic>
      <p:sp>
        <p:nvSpPr>
          <p:cNvPr id="25" name="flow step 2"/>
          <p:cNvSpPr/>
          <p:nvPr/>
        </p:nvSpPr>
        <p:spPr>
          <a:xfrm>
            <a:off x="7543800" y="2542032"/>
            <a:ext cx="1600200" cy="868680"/>
          </a:xfrm>
          <a:prstGeom prst="roundRect">
            <a:avLst>
              <a:gd name="adj" fmla="val 10526"/>
            </a:avLst>
          </a:prstGeom>
          <a:solidFill>
            <a:srgbClr val="E3F1EF"/>
          </a:solidFill>
          <a:ln w="12700">
            <a:solidFill>
              <a:srgbClr val="0F766E"/>
            </a:solidFill>
            <a:prstDash val="solid"/>
          </a:ln>
        </p:spPr>
      </p:sp>
      <p:sp>
        <p:nvSpPr>
          <p:cNvPr id="26" name="Text 22"/>
          <p:cNvSpPr txBox="1"/>
          <p:nvPr/>
        </p:nvSpPr>
        <p:spPr>
          <a:xfrm>
            <a:off x="7607808" y="2542032"/>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Scan &amp; confirm</a:t>
            </a:r>
            <a:endParaRPr lang="en-US" sz="1300" dirty="0"/>
          </a:p>
        </p:txBody>
      </p:sp>
      <p:pic>
        <p:nvPicPr>
          <p:cNvPr id="27" name="Image 2" descr="then"/>
          <p:cNvPicPr>
            <a:picLocks noChangeAspect="1"/>
          </p:cNvPicPr>
          <p:nvPr/>
        </p:nvPicPr>
        <p:blipFill>
          <a:blip r:embed="rId4"/>
          <a:stretch>
            <a:fillRect/>
          </a:stretch>
        </p:blipFill>
        <p:spPr>
          <a:xfrm>
            <a:off x="8229600" y="3456432"/>
            <a:ext cx="228600" cy="256032"/>
          </a:xfrm>
          <a:prstGeom prst="rect">
            <a:avLst/>
          </a:prstGeom>
        </p:spPr>
      </p:pic>
      <p:sp>
        <p:nvSpPr>
          <p:cNvPr id="28" name="flow step 3"/>
          <p:cNvSpPr/>
          <p:nvPr/>
        </p:nvSpPr>
        <p:spPr>
          <a:xfrm>
            <a:off x="7543800" y="3758184"/>
            <a:ext cx="1600200" cy="868680"/>
          </a:xfrm>
          <a:prstGeom prst="roundRect">
            <a:avLst>
              <a:gd name="adj" fmla="val 10526"/>
            </a:avLst>
          </a:prstGeom>
          <a:solidFill>
            <a:srgbClr val="E3F1EF"/>
          </a:solidFill>
          <a:ln w="12700">
            <a:solidFill>
              <a:srgbClr val="0F766E"/>
            </a:solidFill>
            <a:prstDash val="solid"/>
          </a:ln>
        </p:spPr>
      </p:sp>
      <p:sp>
        <p:nvSpPr>
          <p:cNvPr id="29" name="Text 24"/>
          <p:cNvSpPr txBox="1"/>
          <p:nvPr/>
        </p:nvSpPr>
        <p:spPr>
          <a:xfrm>
            <a:off x="7607808" y="3758184"/>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Shelf-life light</a:t>
            </a:r>
            <a:endParaRPr lang="en-US" sz="1300" dirty="0"/>
          </a:p>
        </p:txBody>
      </p:sp>
      <p:pic>
        <p:nvPicPr>
          <p:cNvPr id="30" name="Image 3" descr="then"/>
          <p:cNvPicPr>
            <a:picLocks noChangeAspect="1"/>
          </p:cNvPicPr>
          <p:nvPr/>
        </p:nvPicPr>
        <p:blipFill>
          <a:blip r:embed="rId4"/>
          <a:stretch>
            <a:fillRect/>
          </a:stretch>
        </p:blipFill>
        <p:spPr>
          <a:xfrm>
            <a:off x="8229600" y="4672584"/>
            <a:ext cx="228600" cy="256032"/>
          </a:xfrm>
          <a:prstGeom prst="rect">
            <a:avLst/>
          </a:prstGeom>
        </p:spPr>
      </p:pic>
      <p:sp>
        <p:nvSpPr>
          <p:cNvPr id="31" name="flow step 4"/>
          <p:cNvSpPr/>
          <p:nvPr/>
        </p:nvSpPr>
        <p:spPr>
          <a:xfrm>
            <a:off x="7543800" y="4974336"/>
            <a:ext cx="1600200" cy="868680"/>
          </a:xfrm>
          <a:prstGeom prst="roundRect">
            <a:avLst>
              <a:gd name="adj" fmla="val 10526"/>
            </a:avLst>
          </a:prstGeom>
          <a:solidFill>
            <a:srgbClr val="E3F1EF"/>
          </a:solidFill>
          <a:ln w="12700">
            <a:solidFill>
              <a:srgbClr val="0F766E"/>
            </a:solidFill>
            <a:prstDash val="solid"/>
          </a:ln>
        </p:spPr>
      </p:sp>
      <p:sp>
        <p:nvSpPr>
          <p:cNvPr id="32" name="Text 26"/>
          <p:cNvSpPr txBox="1"/>
          <p:nvPr/>
        </p:nvSpPr>
        <p:spPr>
          <a:xfrm>
            <a:off x="7607808" y="4974336"/>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Log wastage</a:t>
            </a:r>
            <a:endParaRPr lang="en-US" sz="1300" dirty="0"/>
          </a:p>
        </p:txBody>
      </p:sp>
      <p:pic>
        <p:nvPicPr>
          <p:cNvPr id="33" name="Image 4" descr="Prototype: wastage logger (demo data)"/>
          <p:cNvPicPr>
            <a:picLocks noChangeAspect="1"/>
          </p:cNvPicPr>
          <p:nvPr/>
        </p:nvPicPr>
        <p:blipFill>
          <a:blip r:embed="rId5"/>
          <a:stretch>
            <a:fillRect/>
          </a:stretch>
        </p:blipFill>
        <p:spPr>
          <a:xfrm>
            <a:off x="9464040" y="1261872"/>
            <a:ext cx="2103120" cy="4670764"/>
          </a:xfrm>
          <a:prstGeom prst="rect">
            <a:avLst/>
          </a:prstGeom>
        </p:spPr>
      </p:pic>
      <p:sp>
        <p:nvSpPr>
          <p:cNvPr id="34" name="screenshot border"/>
          <p:cNvSpPr/>
          <p:nvPr/>
        </p:nvSpPr>
        <p:spPr>
          <a:xfrm>
            <a:off x="9464040" y="1261872"/>
            <a:ext cx="2103120" cy="4670764"/>
          </a:xfrm>
          <a:prstGeom prst="rect">
            <a:avLst/>
          </a:prstGeom>
          <a:ln w="12700">
            <a:solidFill>
              <a:srgbClr val="C9D6D1"/>
            </a:solidFill>
            <a:prstDash val="solid"/>
          </a:ln>
        </p:spPr>
      </p:sp>
      <p:sp>
        <p:nvSpPr>
          <p:cNvPr id="35" name="Text 28"/>
          <p:cNvSpPr txBox="1"/>
          <p:nvPr/>
        </p:nvSpPr>
        <p:spPr>
          <a:xfrm>
            <a:off x="9098280" y="5989320"/>
            <a:ext cx="2834640" cy="274320"/>
          </a:xfrm>
          <a:prstGeom prst="rect">
            <a:avLst/>
          </a:prstGeom>
          <a:noFill/>
          <a:ln/>
        </p:spPr>
        <p:txBody>
          <a:bodyPr wrap="square" lIns="0" tIns="0" rIns="0" bIns="0" rtlCol="0" anchor="t"/>
          <a:lstStyle/>
          <a:p>
            <a:pPr marL="0" indent="0" algn="ctr">
              <a:buNone/>
            </a:pPr>
            <a:r>
              <a:rPr lang="en-US" sz="1000" i="1" dirty="0">
                <a:solidFill>
                  <a:srgbClr val="5B6B73"/>
                </a:solidFill>
              </a:rPr>
              <a:t>Prototype: wastage logger (demo data)</a:t>
            </a:r>
            <a:endParaRPr lang="en-US" sz="1000" dirty="0"/>
          </a:p>
        </p:txBody>
      </p:sp>
      <p:sp>
        <p:nvSpPr>
          <p:cNvPr id="36"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Persona 3 · Grocery store owner</a:t>
            </a:r>
            <a:endParaRPr lang="en-US" sz="3600" dirty="0"/>
          </a:p>
        </p:txBody>
      </p:sp>
      <p:sp>
        <p:nvSpPr>
          <p:cNvPr id="3" name="icon circle FaStore"/>
          <p:cNvSpPr/>
          <p:nvPr/>
        </p:nvSpPr>
        <p:spPr>
          <a:xfrm>
            <a:off x="548640" y="1280160"/>
            <a:ext cx="566928" cy="566928"/>
          </a:xfrm>
          <a:prstGeom prst="ellipse">
            <a:avLst/>
          </a:prstGeom>
          <a:solidFill>
            <a:srgbClr val="8A5A00"/>
          </a:solidFill>
          <a:ln w="12700">
            <a:solidFill>
              <a:srgbClr val="8A5A00"/>
            </a:solidFill>
            <a:prstDash val="solid"/>
          </a:ln>
        </p:spPr>
      </p:sp>
      <p:pic>
        <p:nvPicPr>
          <p:cNvPr id="4" name="Image 0" descr="Store icon"/>
          <p:cNvPicPr>
            <a:picLocks noChangeAspect="1"/>
          </p:cNvPicPr>
          <p:nvPr/>
        </p:nvPicPr>
        <p:blipFill>
          <a:blip r:embed="rId3"/>
          <a:stretch>
            <a:fillRect/>
          </a:stretch>
        </p:blipFill>
        <p:spPr>
          <a:xfrm>
            <a:off x="701711" y="1433231"/>
            <a:ext cx="260787" cy="260787"/>
          </a:xfrm>
          <a:prstGeom prst="rect">
            <a:avLst/>
          </a:prstGeom>
        </p:spPr>
      </p:pic>
      <p:sp>
        <p:nvSpPr>
          <p:cNvPr id="5" name="chip ROADMAP SEGMENT"/>
          <p:cNvSpPr/>
          <p:nvPr/>
        </p:nvSpPr>
        <p:spPr>
          <a:xfrm>
            <a:off x="1280160" y="1435608"/>
            <a:ext cx="1344168" cy="256032"/>
          </a:xfrm>
          <a:prstGeom prst="roundRect">
            <a:avLst>
              <a:gd name="adj" fmla="val 50000"/>
            </a:avLst>
          </a:prstGeom>
          <a:solidFill>
            <a:srgbClr val="8A5A00"/>
          </a:solidFill>
          <a:ln w="12700">
            <a:solidFill>
              <a:srgbClr val="8A5A00"/>
            </a:solidFill>
            <a:prstDash val="solid"/>
          </a:ln>
        </p:spPr>
      </p:sp>
      <p:sp>
        <p:nvSpPr>
          <p:cNvPr id="6" name="Text 3"/>
          <p:cNvSpPr txBox="1"/>
          <p:nvPr/>
        </p:nvSpPr>
        <p:spPr>
          <a:xfrm>
            <a:off x="1280160" y="1435608"/>
            <a:ext cx="1344168"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ROADMAP SEGMENT</a:t>
            </a:r>
            <a:endParaRPr lang="en-US" sz="1000" dirty="0"/>
          </a:p>
        </p:txBody>
      </p:sp>
      <p:sp>
        <p:nvSpPr>
          <p:cNvPr id="7" name="Text 4"/>
          <p:cNvSpPr txBox="1"/>
          <p:nvPr/>
        </p:nvSpPr>
        <p:spPr>
          <a:xfrm>
            <a:off x="2761488" y="1426464"/>
            <a:ext cx="3840480" cy="274320"/>
          </a:xfrm>
          <a:prstGeom prst="rect">
            <a:avLst/>
          </a:prstGeom>
          <a:noFill/>
          <a:ln/>
        </p:spPr>
        <p:txBody>
          <a:bodyPr wrap="square" lIns="0" tIns="0" rIns="0" bIns="0" rtlCol="0" anchor="ctr"/>
          <a:lstStyle/>
          <a:p>
            <a:pPr marL="0" indent="0">
              <a:buNone/>
            </a:pPr>
            <a:r>
              <a:rPr lang="en-US" sz="1200" i="1" dirty="0">
                <a:solidFill>
                  <a:srgbClr val="5B6B73"/>
                </a:solidFill>
              </a:rPr>
              <a:t>Retailer functionality is a roadmap item</a:t>
            </a:r>
            <a:endParaRPr lang="en-US" sz="1200" dirty="0"/>
          </a:p>
        </p:txBody>
      </p:sp>
      <p:sp>
        <p:nvSpPr>
          <p:cNvPr id="8" name="Text 5"/>
          <p:cNvSpPr txBox="1"/>
          <p:nvPr/>
        </p:nvSpPr>
        <p:spPr>
          <a:xfrm>
            <a:off x="548640" y="1965960"/>
            <a:ext cx="6675120" cy="548640"/>
          </a:xfrm>
          <a:prstGeom prst="rect">
            <a:avLst/>
          </a:prstGeom>
          <a:noFill/>
          <a:ln/>
        </p:spPr>
        <p:txBody>
          <a:bodyPr wrap="square" lIns="0" tIns="0" rIns="0" bIns="0" rtlCol="0" anchor="ctr"/>
          <a:lstStyle/>
          <a:p>
            <a:pPr marL="0" indent="0">
              <a:buNone/>
            </a:pPr>
            <a:r>
              <a:rPr lang="en-US" sz="1600" b="1" dirty="0">
                <a:solidFill>
                  <a:srgbClr val="8A5A00"/>
                </a:solidFill>
              </a:rPr>
              <a:t>The prototype has NO retailer screens yet. This is a buyer-side segment for the roadmap.</a:t>
            </a:r>
            <a:endParaRPr lang="en-US" sz="1600" dirty="0"/>
          </a:p>
        </p:txBody>
      </p:sp>
      <p:sp>
        <p:nvSpPr>
          <p:cNvPr id="9" name="Text 6"/>
          <p:cNvSpPr txBox="1"/>
          <p:nvPr/>
        </p:nvSpPr>
        <p:spPr>
          <a:xfrm>
            <a:off x="548640" y="2651760"/>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CONTEXT</a:t>
            </a:r>
            <a:endParaRPr lang="en-US" sz="1100" dirty="0"/>
          </a:p>
        </p:txBody>
      </p:sp>
      <p:sp>
        <p:nvSpPr>
          <p:cNvPr id="10" name="Text 7"/>
          <p:cNvSpPr txBox="1"/>
          <p:nvPr/>
        </p:nvSpPr>
        <p:spPr>
          <a:xfrm>
            <a:off x="2286000" y="2624328"/>
            <a:ext cx="4983480" cy="603504"/>
          </a:xfrm>
          <a:prstGeom prst="rect">
            <a:avLst/>
          </a:prstGeom>
          <a:noFill/>
          <a:ln/>
        </p:spPr>
        <p:txBody>
          <a:bodyPr wrap="square" lIns="0" tIns="0" rIns="0" bIns="0" rtlCol="0" anchor="t"/>
          <a:lstStyle/>
          <a:p>
            <a:pPr marL="0" indent="0">
              <a:buNone/>
            </a:pPr>
            <a:r>
              <a:rPr lang="en-US" sz="1500" dirty="0">
                <a:solidFill>
                  <a:srgbClr val="1F2933"/>
                </a:solidFill>
              </a:rPr>
              <a:t>Buys produce from wholesalers or distribution points</a:t>
            </a:r>
            <a:endParaRPr lang="en-US" sz="1500" dirty="0"/>
          </a:p>
        </p:txBody>
      </p:sp>
      <p:sp>
        <p:nvSpPr>
          <p:cNvPr id="11" name="Text 8"/>
          <p:cNvSpPr txBox="1"/>
          <p:nvPr/>
        </p:nvSpPr>
        <p:spPr>
          <a:xfrm>
            <a:off x="548640" y="3310128"/>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GOALS</a:t>
            </a:r>
            <a:endParaRPr lang="en-US" sz="1100" dirty="0"/>
          </a:p>
        </p:txBody>
      </p:sp>
      <p:sp>
        <p:nvSpPr>
          <p:cNvPr id="12" name="Text 9"/>
          <p:cNvSpPr txBox="1"/>
          <p:nvPr/>
        </p:nvSpPr>
        <p:spPr>
          <a:xfrm>
            <a:off x="2286000" y="3282696"/>
            <a:ext cx="4983480" cy="603504"/>
          </a:xfrm>
          <a:prstGeom prst="rect">
            <a:avLst/>
          </a:prstGeom>
          <a:noFill/>
          <a:ln/>
        </p:spPr>
        <p:txBody>
          <a:bodyPr wrap="square" lIns="0" tIns="0" rIns="0" bIns="0" rtlCol="0" anchor="t"/>
          <a:lstStyle/>
          <a:p>
            <a:pPr marL="0" indent="0">
              <a:buNone/>
            </a:pPr>
            <a:r>
              <a:rPr lang="en-US" sz="1500" dirty="0">
                <a:solidFill>
                  <a:srgbClr val="1F2933"/>
                </a:solidFill>
              </a:rPr>
              <a:t>The right quantities, with enough usable life left</a:t>
            </a:r>
            <a:endParaRPr lang="en-US" sz="1500" dirty="0"/>
          </a:p>
        </p:txBody>
      </p:sp>
      <p:sp>
        <p:nvSpPr>
          <p:cNvPr id="13" name="Text 10"/>
          <p:cNvSpPr txBox="1"/>
          <p:nvPr/>
        </p:nvSpPr>
        <p:spPr>
          <a:xfrm>
            <a:off x="548640" y="3968496"/>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PAINS</a:t>
            </a:r>
            <a:endParaRPr lang="en-US" sz="1100" dirty="0"/>
          </a:p>
        </p:txBody>
      </p:sp>
      <p:sp>
        <p:nvSpPr>
          <p:cNvPr id="14" name="Text 11"/>
          <p:cNvSpPr txBox="1"/>
          <p:nvPr/>
        </p:nvSpPr>
        <p:spPr>
          <a:xfrm>
            <a:off x="2286000" y="3941064"/>
            <a:ext cx="4983480" cy="603504"/>
          </a:xfrm>
          <a:prstGeom prst="rect">
            <a:avLst/>
          </a:prstGeom>
          <a:noFill/>
          <a:ln/>
        </p:spPr>
        <p:txBody>
          <a:bodyPr wrap="square" lIns="0" tIns="0" rIns="0" bIns="0" rtlCol="0" anchor="t"/>
          <a:lstStyle/>
          <a:p>
            <a:pPr marL="0" indent="0">
              <a:buNone/>
            </a:pPr>
            <a:r>
              <a:rPr lang="en-US" sz="1500" dirty="0">
                <a:solidFill>
                  <a:srgbClr val="1F2933"/>
                </a:solidFill>
              </a:rPr>
              <a:t>Incoming supply and condition don't match expected demand</a:t>
            </a:r>
            <a:endParaRPr lang="en-US" sz="1500" dirty="0"/>
          </a:p>
        </p:txBody>
      </p:sp>
      <p:sp>
        <p:nvSpPr>
          <p:cNvPr id="15" name="Text 12"/>
          <p:cNvSpPr txBox="1"/>
          <p:nvPr/>
        </p:nvSpPr>
        <p:spPr>
          <a:xfrm>
            <a:off x="548640" y="4626864"/>
            <a:ext cx="1828800" cy="274320"/>
          </a:xfrm>
          <a:prstGeom prst="rect">
            <a:avLst/>
          </a:prstGeom>
          <a:noFill/>
          <a:ln/>
        </p:spPr>
        <p:txBody>
          <a:bodyPr wrap="square" lIns="0" tIns="0" rIns="0" bIns="0" rtlCol="0" anchor="t"/>
          <a:lstStyle/>
          <a:p>
            <a:pPr marL="0" indent="0">
              <a:buNone/>
            </a:pPr>
            <a:r>
              <a:rPr lang="en-US" sz="1100" b="1" kern="0" spc="100" dirty="0">
                <a:solidFill>
                  <a:srgbClr val="8A5A00"/>
                </a:solidFill>
              </a:rPr>
              <a:t>WE'D OFFER (FUTURE)</a:t>
            </a:r>
            <a:endParaRPr lang="en-US" sz="1100" dirty="0"/>
          </a:p>
        </p:txBody>
      </p:sp>
      <p:sp>
        <p:nvSpPr>
          <p:cNvPr id="16" name="Text 13"/>
          <p:cNvSpPr txBox="1"/>
          <p:nvPr/>
        </p:nvSpPr>
        <p:spPr>
          <a:xfrm>
            <a:off x="2286000" y="4599432"/>
            <a:ext cx="4983480" cy="603504"/>
          </a:xfrm>
          <a:prstGeom prst="rect">
            <a:avLst/>
          </a:prstGeom>
          <a:noFill/>
          <a:ln/>
        </p:spPr>
        <p:txBody>
          <a:bodyPr wrap="square" lIns="0" tIns="0" rIns="0" bIns="0" rtlCol="0" anchor="t"/>
          <a:lstStyle/>
          <a:p>
            <a:pPr marL="0" indent="0">
              <a:buNone/>
            </a:pPr>
            <a:r>
              <a:rPr lang="en-US" sz="1500" dirty="0">
                <a:solidFill>
                  <a:srgbClr val="1F2933"/>
                </a:solidFill>
              </a:rPr>
              <a:t>A retailer view of incoming supply and estimated shelf life</a:t>
            </a:r>
            <a:endParaRPr lang="en-US" sz="1500" dirty="0"/>
          </a:p>
        </p:txBody>
      </p:sp>
      <p:sp>
        <p:nvSpPr>
          <p:cNvPr id="17" name="assumption box"/>
          <p:cNvSpPr/>
          <p:nvPr/>
        </p:nvSpPr>
        <p:spPr>
          <a:xfrm>
            <a:off x="548640" y="5349240"/>
            <a:ext cx="6720840" cy="868680"/>
          </a:xfrm>
          <a:prstGeom prst="roundRect">
            <a:avLst>
              <a:gd name="adj" fmla="val 12632"/>
            </a:avLst>
          </a:prstGeom>
          <a:solidFill>
            <a:srgbClr val="FBF1DD"/>
          </a:solidFill>
          <a:ln w="12700">
            <a:solidFill>
              <a:srgbClr val="FBF1DD"/>
            </a:solidFill>
            <a:prstDash val="solid"/>
          </a:ln>
          <a:effectLst>
            <a:outerShdw blurRad="76200" dist="25400" dir="5400000" algn="bl" rotWithShape="0">
              <a:srgbClr val="000000">
                <a:alpha val="12000"/>
              </a:srgbClr>
            </a:outerShdw>
          </a:effectLst>
        </p:spPr>
      </p:sp>
      <p:sp>
        <p:nvSpPr>
          <p:cNvPr id="18" name="Text 15"/>
          <p:cNvSpPr txBox="1"/>
          <p:nvPr/>
        </p:nvSpPr>
        <p:spPr>
          <a:xfrm>
            <a:off x="731520" y="5440680"/>
            <a:ext cx="2743200" cy="228600"/>
          </a:xfrm>
          <a:prstGeom prst="rect">
            <a:avLst/>
          </a:prstGeom>
          <a:noFill/>
          <a:ln/>
        </p:spPr>
        <p:txBody>
          <a:bodyPr wrap="square" lIns="0" tIns="0" rIns="0" bIns="0" rtlCol="0" anchor="t"/>
          <a:lstStyle/>
          <a:p>
            <a:pPr marL="0" indent="0">
              <a:buNone/>
            </a:pPr>
            <a:r>
              <a:rPr lang="en-US" sz="1000" b="1" kern="0" spc="100" dirty="0">
                <a:solidFill>
                  <a:srgbClr val="8A5A00"/>
                </a:solidFill>
              </a:rPr>
              <a:t>ASSUMPTION TO TEST</a:t>
            </a:r>
            <a:endParaRPr lang="en-US" sz="1000" dirty="0"/>
          </a:p>
        </p:txBody>
      </p:sp>
      <p:sp>
        <p:nvSpPr>
          <p:cNvPr id="19" name="chip HYPOTHESIS TO VALIDATE"/>
          <p:cNvSpPr/>
          <p:nvPr/>
        </p:nvSpPr>
        <p:spPr>
          <a:xfrm>
            <a:off x="5257800" y="5422392"/>
            <a:ext cx="1843430" cy="256032"/>
          </a:xfrm>
          <a:prstGeom prst="roundRect">
            <a:avLst>
              <a:gd name="adj" fmla="val 50000"/>
            </a:avLst>
          </a:prstGeom>
          <a:solidFill>
            <a:srgbClr val="8A5A00"/>
          </a:solidFill>
          <a:ln w="12700">
            <a:solidFill>
              <a:srgbClr val="8A5A00"/>
            </a:solidFill>
            <a:prstDash val="solid"/>
          </a:ln>
        </p:spPr>
      </p:sp>
      <p:sp>
        <p:nvSpPr>
          <p:cNvPr id="20" name="Text 17"/>
          <p:cNvSpPr txBox="1"/>
          <p:nvPr/>
        </p:nvSpPr>
        <p:spPr>
          <a:xfrm>
            <a:off x="5257800" y="5422392"/>
            <a:ext cx="1843430"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 TO VALIDATE</a:t>
            </a:r>
            <a:endParaRPr lang="en-US" sz="1000" dirty="0"/>
          </a:p>
        </p:txBody>
      </p:sp>
      <p:sp>
        <p:nvSpPr>
          <p:cNvPr id="21" name="Text 18"/>
          <p:cNvSpPr txBox="1"/>
          <p:nvPr/>
        </p:nvSpPr>
        <p:spPr>
          <a:xfrm>
            <a:off x="731520" y="5715000"/>
            <a:ext cx="6400800" cy="457200"/>
          </a:xfrm>
          <a:prstGeom prst="rect">
            <a:avLst/>
          </a:prstGeom>
          <a:noFill/>
          <a:ln/>
        </p:spPr>
        <p:txBody>
          <a:bodyPr wrap="square" lIns="0" tIns="0" rIns="0" bIns="0" rtlCol="0" anchor="t"/>
          <a:lstStyle/>
          <a:p>
            <a:pPr marL="0" indent="0">
              <a:buNone/>
            </a:pPr>
            <a:r>
              <a:rPr lang="en-US" sz="1500" dirty="0">
                <a:solidFill>
                  <a:srgbClr val="1F2933"/>
                </a:solidFill>
              </a:rPr>
              <a:t>Retailers value better visibility of produce condition and incoming supply</a:t>
            </a:r>
            <a:endParaRPr lang="en-US" sz="1500" dirty="0"/>
          </a:p>
        </p:txBody>
      </p:sp>
      <p:sp>
        <p:nvSpPr>
          <p:cNvPr id="22" name="flow step 1"/>
          <p:cNvSpPr/>
          <p:nvPr/>
        </p:nvSpPr>
        <p:spPr>
          <a:xfrm>
            <a:off x="7543800" y="1325880"/>
            <a:ext cx="1600200" cy="868680"/>
          </a:xfrm>
          <a:prstGeom prst="roundRect">
            <a:avLst>
              <a:gd name="adj" fmla="val 10526"/>
            </a:avLst>
          </a:prstGeom>
          <a:solidFill>
            <a:srgbClr val="E3F1EF"/>
          </a:solidFill>
          <a:ln w="12700">
            <a:solidFill>
              <a:srgbClr val="0F766E"/>
            </a:solidFill>
            <a:prstDash val="solid"/>
          </a:ln>
        </p:spPr>
      </p:sp>
      <p:sp>
        <p:nvSpPr>
          <p:cNvPr id="23" name="Text 20"/>
          <p:cNvSpPr txBox="1"/>
          <p:nvPr/>
        </p:nvSpPr>
        <p:spPr>
          <a:xfrm>
            <a:off x="7607808" y="1325880"/>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Order</a:t>
            </a:r>
            <a:endParaRPr lang="en-US" sz="1300" dirty="0"/>
          </a:p>
        </p:txBody>
      </p:sp>
      <p:pic>
        <p:nvPicPr>
          <p:cNvPr id="24" name="Image 1" descr="then"/>
          <p:cNvPicPr>
            <a:picLocks noChangeAspect="1"/>
          </p:cNvPicPr>
          <p:nvPr/>
        </p:nvPicPr>
        <p:blipFill>
          <a:blip r:embed="rId4"/>
          <a:stretch>
            <a:fillRect/>
          </a:stretch>
        </p:blipFill>
        <p:spPr>
          <a:xfrm>
            <a:off x="8229600" y="2240280"/>
            <a:ext cx="228600" cy="256032"/>
          </a:xfrm>
          <a:prstGeom prst="rect">
            <a:avLst/>
          </a:prstGeom>
        </p:spPr>
      </p:pic>
      <p:sp>
        <p:nvSpPr>
          <p:cNvPr id="25" name="flow step 2"/>
          <p:cNvSpPr/>
          <p:nvPr/>
        </p:nvSpPr>
        <p:spPr>
          <a:xfrm>
            <a:off x="7543800" y="2542032"/>
            <a:ext cx="1600200" cy="868680"/>
          </a:xfrm>
          <a:prstGeom prst="roundRect">
            <a:avLst>
              <a:gd name="adj" fmla="val 10526"/>
            </a:avLst>
          </a:prstGeom>
          <a:solidFill>
            <a:srgbClr val="FBF1DD"/>
          </a:solidFill>
          <a:ln w="12700">
            <a:solidFill>
              <a:srgbClr val="8A5A00"/>
            </a:solidFill>
            <a:prstDash val="dash"/>
          </a:ln>
        </p:spPr>
      </p:sp>
      <p:sp>
        <p:nvSpPr>
          <p:cNvPr id="26" name="Text 22"/>
          <p:cNvSpPr txBox="1"/>
          <p:nvPr/>
        </p:nvSpPr>
        <p:spPr>
          <a:xfrm>
            <a:off x="7607808" y="2542032"/>
            <a:ext cx="1472184" cy="868680"/>
          </a:xfrm>
          <a:prstGeom prst="rect">
            <a:avLst/>
          </a:prstGeom>
          <a:noFill/>
          <a:ln/>
        </p:spPr>
        <p:txBody>
          <a:bodyPr wrap="square" lIns="0" tIns="0" rIns="0" bIns="0" rtlCol="0" anchor="ctr"/>
          <a:lstStyle/>
          <a:p>
            <a:pPr marL="0" indent="0" algn="ctr">
              <a:buNone/>
            </a:pPr>
            <a:r>
              <a:rPr lang="en-US" sz="1300" b="1" dirty="0">
                <a:solidFill>
                  <a:srgbClr val="8A5A00"/>
                </a:solidFill>
              </a:rPr>
              <a:t>Incoming supply view (future)</a:t>
            </a:r>
            <a:endParaRPr lang="en-US" sz="1300" dirty="0"/>
          </a:p>
        </p:txBody>
      </p:sp>
      <p:pic>
        <p:nvPicPr>
          <p:cNvPr id="27" name="Image 2" descr="then"/>
          <p:cNvPicPr>
            <a:picLocks noChangeAspect="1"/>
          </p:cNvPicPr>
          <p:nvPr/>
        </p:nvPicPr>
        <p:blipFill>
          <a:blip r:embed="rId4"/>
          <a:stretch>
            <a:fillRect/>
          </a:stretch>
        </p:blipFill>
        <p:spPr>
          <a:xfrm>
            <a:off x="8229600" y="3456432"/>
            <a:ext cx="228600" cy="256032"/>
          </a:xfrm>
          <a:prstGeom prst="rect">
            <a:avLst/>
          </a:prstGeom>
        </p:spPr>
      </p:pic>
      <p:sp>
        <p:nvSpPr>
          <p:cNvPr id="28" name="flow step 3"/>
          <p:cNvSpPr/>
          <p:nvPr/>
        </p:nvSpPr>
        <p:spPr>
          <a:xfrm>
            <a:off x="7543800" y="3758184"/>
            <a:ext cx="1600200" cy="868680"/>
          </a:xfrm>
          <a:prstGeom prst="roundRect">
            <a:avLst>
              <a:gd name="adj" fmla="val 10526"/>
            </a:avLst>
          </a:prstGeom>
          <a:solidFill>
            <a:srgbClr val="FBF1DD"/>
          </a:solidFill>
          <a:ln w="12700">
            <a:solidFill>
              <a:srgbClr val="8A5A00"/>
            </a:solidFill>
            <a:prstDash val="dash"/>
          </a:ln>
        </p:spPr>
      </p:sp>
      <p:sp>
        <p:nvSpPr>
          <p:cNvPr id="29" name="Text 24"/>
          <p:cNvSpPr txBox="1"/>
          <p:nvPr/>
        </p:nvSpPr>
        <p:spPr>
          <a:xfrm>
            <a:off x="7607808" y="3758184"/>
            <a:ext cx="1472184" cy="868680"/>
          </a:xfrm>
          <a:prstGeom prst="rect">
            <a:avLst/>
          </a:prstGeom>
          <a:noFill/>
          <a:ln/>
        </p:spPr>
        <p:txBody>
          <a:bodyPr wrap="square" lIns="0" tIns="0" rIns="0" bIns="0" rtlCol="0" anchor="ctr"/>
          <a:lstStyle/>
          <a:p>
            <a:pPr marL="0" indent="0" algn="ctr">
              <a:buNone/>
            </a:pPr>
            <a:r>
              <a:rPr lang="en-US" sz="1300" b="1" dirty="0">
                <a:solidFill>
                  <a:srgbClr val="8A5A00"/>
                </a:solidFill>
              </a:rPr>
              <a:t>Shelf-life check (future)</a:t>
            </a:r>
            <a:endParaRPr lang="en-US" sz="1300" dirty="0"/>
          </a:p>
        </p:txBody>
      </p:sp>
      <p:pic>
        <p:nvPicPr>
          <p:cNvPr id="30" name="Image 3" descr="then"/>
          <p:cNvPicPr>
            <a:picLocks noChangeAspect="1"/>
          </p:cNvPicPr>
          <p:nvPr/>
        </p:nvPicPr>
        <p:blipFill>
          <a:blip r:embed="rId4"/>
          <a:stretch>
            <a:fillRect/>
          </a:stretch>
        </p:blipFill>
        <p:spPr>
          <a:xfrm>
            <a:off x="8229600" y="4672584"/>
            <a:ext cx="228600" cy="256032"/>
          </a:xfrm>
          <a:prstGeom prst="rect">
            <a:avLst/>
          </a:prstGeom>
        </p:spPr>
      </p:pic>
      <p:sp>
        <p:nvSpPr>
          <p:cNvPr id="31" name="flow step 4"/>
          <p:cNvSpPr/>
          <p:nvPr/>
        </p:nvSpPr>
        <p:spPr>
          <a:xfrm>
            <a:off x="7543800" y="4974336"/>
            <a:ext cx="1600200" cy="868680"/>
          </a:xfrm>
          <a:prstGeom prst="roundRect">
            <a:avLst>
              <a:gd name="adj" fmla="val 10526"/>
            </a:avLst>
          </a:prstGeom>
          <a:solidFill>
            <a:srgbClr val="E3F1EF"/>
          </a:solidFill>
          <a:ln w="12700">
            <a:solidFill>
              <a:srgbClr val="0F766E"/>
            </a:solidFill>
            <a:prstDash val="solid"/>
          </a:ln>
        </p:spPr>
      </p:sp>
      <p:sp>
        <p:nvSpPr>
          <p:cNvPr id="32" name="Text 26"/>
          <p:cNvSpPr txBox="1"/>
          <p:nvPr/>
        </p:nvSpPr>
        <p:spPr>
          <a:xfrm>
            <a:off x="7607808" y="4974336"/>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Receive</a:t>
            </a:r>
            <a:endParaRPr lang="en-US" sz="1300" dirty="0"/>
          </a:p>
        </p:txBody>
      </p:sp>
      <p:sp>
        <p:nvSpPr>
          <p:cNvPr id="33" name="future concept frame"/>
          <p:cNvSpPr/>
          <p:nvPr/>
        </p:nvSpPr>
        <p:spPr>
          <a:xfrm>
            <a:off x="9464040" y="1325880"/>
            <a:ext cx="2103120" cy="4480560"/>
          </a:xfrm>
          <a:prstGeom prst="roundRect">
            <a:avLst>
              <a:gd name="adj" fmla="val 10870"/>
            </a:avLst>
          </a:prstGeom>
          <a:solidFill>
            <a:srgbClr val="FFFFFF"/>
          </a:solidFill>
          <a:ln w="19050">
            <a:solidFill>
              <a:srgbClr val="8A5A00"/>
            </a:solidFill>
            <a:prstDash val="dash"/>
          </a:ln>
        </p:spPr>
      </p:sp>
      <p:sp>
        <p:nvSpPr>
          <p:cNvPr id="34" name="icon circle FaStore"/>
          <p:cNvSpPr/>
          <p:nvPr/>
        </p:nvSpPr>
        <p:spPr>
          <a:xfrm>
            <a:off x="10104120" y="2468880"/>
            <a:ext cx="822960" cy="822960"/>
          </a:xfrm>
          <a:prstGeom prst="ellipse">
            <a:avLst/>
          </a:prstGeom>
          <a:solidFill>
            <a:srgbClr val="8A5A00"/>
          </a:solidFill>
          <a:ln w="12700">
            <a:solidFill>
              <a:srgbClr val="8A5A00"/>
            </a:solidFill>
            <a:prstDash val="solid"/>
          </a:ln>
        </p:spPr>
      </p:sp>
      <p:pic>
        <p:nvPicPr>
          <p:cNvPr id="35" name="Image 4" descr="Store icon"/>
          <p:cNvPicPr>
            <a:picLocks noChangeAspect="1"/>
          </p:cNvPicPr>
          <p:nvPr/>
        </p:nvPicPr>
        <p:blipFill>
          <a:blip r:embed="rId3"/>
          <a:stretch>
            <a:fillRect/>
          </a:stretch>
        </p:blipFill>
        <p:spPr>
          <a:xfrm>
            <a:off x="10326319" y="2691079"/>
            <a:ext cx="378562" cy="378562"/>
          </a:xfrm>
          <a:prstGeom prst="rect">
            <a:avLst/>
          </a:prstGeom>
        </p:spPr>
      </p:pic>
      <p:sp>
        <p:nvSpPr>
          <p:cNvPr id="36" name="Text 29"/>
          <p:cNvSpPr txBox="1"/>
          <p:nvPr/>
        </p:nvSpPr>
        <p:spPr>
          <a:xfrm>
            <a:off x="9555480" y="3520440"/>
            <a:ext cx="1920240" cy="320040"/>
          </a:xfrm>
          <a:prstGeom prst="rect">
            <a:avLst/>
          </a:prstGeom>
          <a:noFill/>
          <a:ln/>
        </p:spPr>
        <p:txBody>
          <a:bodyPr wrap="square" lIns="0" tIns="0" rIns="0" bIns="0" rtlCol="0" anchor="t"/>
          <a:lstStyle/>
          <a:p>
            <a:pPr marL="0" indent="0" algn="ctr">
              <a:buNone/>
            </a:pPr>
            <a:r>
              <a:rPr lang="en-US" sz="1400" b="1" dirty="0">
                <a:solidFill>
                  <a:srgbClr val="8A5A00"/>
                </a:solidFill>
              </a:rPr>
              <a:t>FUTURE · NOT BUILT</a:t>
            </a:r>
            <a:endParaRPr lang="en-US" sz="1400" dirty="0"/>
          </a:p>
        </p:txBody>
      </p:sp>
      <p:sp>
        <p:nvSpPr>
          <p:cNvPr id="37" name="Text 30"/>
          <p:cNvSpPr txBox="1"/>
          <p:nvPr/>
        </p:nvSpPr>
        <p:spPr>
          <a:xfrm>
            <a:off x="9646920" y="3931920"/>
            <a:ext cx="1737360" cy="1097280"/>
          </a:xfrm>
          <a:prstGeom prst="rect">
            <a:avLst/>
          </a:prstGeom>
          <a:noFill/>
          <a:ln/>
        </p:spPr>
        <p:txBody>
          <a:bodyPr wrap="square" lIns="0" tIns="0" rIns="0" bIns="0" rtlCol="0" anchor="t"/>
          <a:lstStyle/>
          <a:p>
            <a:pPr marL="0" indent="0" algn="ctr">
              <a:buNone/>
            </a:pPr>
            <a:r>
              <a:rPr lang="en-US" sz="1300" dirty="0">
                <a:solidFill>
                  <a:srgbClr val="1F2933"/>
                </a:solidFill>
              </a:rPr>
              <a:t>Retailer view: incoming supply and estimated shelf life</a:t>
            </a:r>
            <a:endParaRPr lang="en-US" sz="1300" dirty="0"/>
          </a:p>
        </p:txBody>
      </p:sp>
      <p:sp>
        <p:nvSpPr>
          <p:cNvPr id="38" name="Text 31"/>
          <p:cNvSpPr txBox="1"/>
          <p:nvPr/>
        </p:nvSpPr>
        <p:spPr>
          <a:xfrm>
            <a:off x="9098280" y="5989320"/>
            <a:ext cx="2834640" cy="274320"/>
          </a:xfrm>
          <a:prstGeom prst="rect">
            <a:avLst/>
          </a:prstGeom>
          <a:noFill/>
          <a:ln/>
        </p:spPr>
        <p:txBody>
          <a:bodyPr wrap="square" lIns="0" tIns="0" rIns="0" bIns="0" rtlCol="0" anchor="t"/>
          <a:lstStyle/>
          <a:p>
            <a:pPr marL="0" indent="0" algn="ctr">
              <a:buNone/>
            </a:pPr>
            <a:r>
              <a:rPr lang="en-US" sz="1000" i="1" dirty="0">
                <a:solidFill>
                  <a:srgbClr val="5B6B73"/>
                </a:solidFill>
              </a:rPr>
              <a:t>Concept only: no retailer screen</a:t>
            </a:r>
            <a:endParaRPr lang="en-US" sz="1000" dirty="0"/>
          </a:p>
        </p:txBody>
      </p:sp>
      <p:sp>
        <p:nvSpPr>
          <p:cNvPr id="39"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Persona 4 · Truck driver</a:t>
            </a:r>
            <a:endParaRPr lang="en-US" sz="3600" dirty="0"/>
          </a:p>
        </p:txBody>
      </p:sp>
      <p:sp>
        <p:nvSpPr>
          <p:cNvPr id="3" name="icon circle FaTruck"/>
          <p:cNvSpPr/>
          <p:nvPr/>
        </p:nvSpPr>
        <p:spPr>
          <a:xfrm>
            <a:off x="548640" y="1280160"/>
            <a:ext cx="566928" cy="566928"/>
          </a:xfrm>
          <a:prstGeom prst="ellipse">
            <a:avLst/>
          </a:prstGeom>
          <a:solidFill>
            <a:srgbClr val="0F766E"/>
          </a:solidFill>
          <a:ln w="12700">
            <a:solidFill>
              <a:srgbClr val="0F766E"/>
            </a:solidFill>
            <a:prstDash val="solid"/>
          </a:ln>
        </p:spPr>
      </p:sp>
      <p:pic>
        <p:nvPicPr>
          <p:cNvPr id="4" name="Image 0" descr="Truck icon"/>
          <p:cNvPicPr>
            <a:picLocks noChangeAspect="1"/>
          </p:cNvPicPr>
          <p:nvPr/>
        </p:nvPicPr>
        <p:blipFill>
          <a:blip r:embed="rId3"/>
          <a:stretch>
            <a:fillRect/>
          </a:stretch>
        </p:blipFill>
        <p:spPr>
          <a:xfrm>
            <a:off x="701711" y="1433231"/>
            <a:ext cx="260787" cy="260787"/>
          </a:xfrm>
          <a:prstGeom prst="rect">
            <a:avLst/>
          </a:prstGeom>
        </p:spPr>
      </p:pic>
      <p:sp>
        <p:nvSpPr>
          <p:cNvPr id="5" name="chip HYPOTHESISED PERSONA"/>
          <p:cNvSpPr/>
          <p:nvPr/>
        </p:nvSpPr>
        <p:spPr>
          <a:xfrm>
            <a:off x="1280160" y="1435608"/>
            <a:ext cx="1700784" cy="256032"/>
          </a:xfrm>
          <a:prstGeom prst="roundRect">
            <a:avLst>
              <a:gd name="adj" fmla="val 50000"/>
            </a:avLst>
          </a:prstGeom>
          <a:solidFill>
            <a:srgbClr val="5B6B73"/>
          </a:solidFill>
          <a:ln w="12700">
            <a:solidFill>
              <a:srgbClr val="5B6B73"/>
            </a:solidFill>
            <a:prstDash val="solid"/>
          </a:ln>
        </p:spPr>
      </p:sp>
      <p:sp>
        <p:nvSpPr>
          <p:cNvPr id="6" name="Text 3"/>
          <p:cNvSpPr txBox="1"/>
          <p:nvPr/>
        </p:nvSpPr>
        <p:spPr>
          <a:xfrm>
            <a:off x="1280160" y="1435608"/>
            <a:ext cx="1700784"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HYPOTHESISED PERSONA</a:t>
            </a:r>
            <a:endParaRPr lang="en-US" sz="1000" dirty="0"/>
          </a:p>
        </p:txBody>
      </p:sp>
      <p:sp>
        <p:nvSpPr>
          <p:cNvPr id="7" name="Text 4"/>
          <p:cNvSpPr txBox="1"/>
          <p:nvPr/>
        </p:nvSpPr>
        <p:spPr>
          <a:xfrm>
            <a:off x="3118104" y="1426464"/>
            <a:ext cx="3840480" cy="274320"/>
          </a:xfrm>
          <a:prstGeom prst="rect">
            <a:avLst/>
          </a:prstGeom>
          <a:noFill/>
          <a:ln/>
        </p:spPr>
        <p:txBody>
          <a:bodyPr wrap="square" lIns="0" tIns="0" rIns="0" bIns="0" rtlCol="0" anchor="ctr"/>
          <a:lstStyle/>
          <a:p>
            <a:pPr marL="0" indent="0">
              <a:buNone/>
            </a:pPr>
            <a:r>
              <a:rPr lang="en-US" sz="1200" i="1" dirty="0">
                <a:solidFill>
                  <a:srgbClr val="5B6B73"/>
                </a:solidFill>
              </a:rPr>
              <a:t>Simulation-based; not field-validated</a:t>
            </a:r>
            <a:endParaRPr lang="en-US" sz="1200" dirty="0"/>
          </a:p>
        </p:txBody>
      </p:sp>
      <p:sp>
        <p:nvSpPr>
          <p:cNvPr id="8" name="Text 5"/>
          <p:cNvSpPr txBox="1"/>
          <p:nvPr/>
        </p:nvSpPr>
        <p:spPr>
          <a:xfrm>
            <a:off x="548640" y="1965960"/>
            <a:ext cx="6675120" cy="548640"/>
          </a:xfrm>
          <a:prstGeom prst="rect">
            <a:avLst/>
          </a:prstGeom>
          <a:noFill/>
          <a:ln/>
        </p:spPr>
        <p:txBody>
          <a:bodyPr wrap="square" lIns="0" tIns="0" rIns="0" bIns="0" rtlCol="0" anchor="ctr"/>
          <a:lstStyle/>
          <a:p>
            <a:pPr marL="0" indent="0">
              <a:buNone/>
            </a:pPr>
            <a:r>
              <a:rPr lang="en-US" sz="1700" i="1" dirty="0">
                <a:solidFill>
                  <a:srgbClr val="0F766E"/>
                </a:solidFill>
              </a:rPr>
              <a:t>“The Route Advisor recommends. It does not automatically reroute trucks.”</a:t>
            </a:r>
            <a:endParaRPr lang="en-US" sz="1700" dirty="0"/>
          </a:p>
        </p:txBody>
      </p:sp>
      <p:sp>
        <p:nvSpPr>
          <p:cNvPr id="9" name="Text 6"/>
          <p:cNvSpPr txBox="1"/>
          <p:nvPr/>
        </p:nvSpPr>
        <p:spPr>
          <a:xfrm>
            <a:off x="548640" y="2651760"/>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CONTEXT</a:t>
            </a:r>
            <a:endParaRPr lang="en-US" sz="1100" dirty="0"/>
          </a:p>
        </p:txBody>
      </p:sp>
      <p:sp>
        <p:nvSpPr>
          <p:cNvPr id="10" name="Text 7"/>
          <p:cNvSpPr txBox="1"/>
          <p:nvPr/>
        </p:nvSpPr>
        <p:spPr>
          <a:xfrm>
            <a:off x="2286000" y="2624328"/>
            <a:ext cx="4983480" cy="603504"/>
          </a:xfrm>
          <a:prstGeom prst="rect">
            <a:avLst/>
          </a:prstGeom>
          <a:noFill/>
          <a:ln/>
        </p:spPr>
        <p:txBody>
          <a:bodyPr wrap="square" lIns="0" tIns="0" rIns="0" bIns="0" rtlCol="0" anchor="t"/>
          <a:lstStyle/>
          <a:p>
            <a:pPr marL="0" indent="0">
              <a:buNone/>
            </a:pPr>
            <a:r>
              <a:rPr lang="en-US" sz="1500" dirty="0">
                <a:solidFill>
                  <a:srgbClr val="1F2933"/>
                </a:solidFill>
              </a:rPr>
              <a:t>Moves produce between collection points, mandis and markets</a:t>
            </a:r>
            <a:endParaRPr lang="en-US" sz="1500" dirty="0"/>
          </a:p>
        </p:txBody>
      </p:sp>
      <p:sp>
        <p:nvSpPr>
          <p:cNvPr id="11" name="Text 8"/>
          <p:cNvSpPr txBox="1"/>
          <p:nvPr/>
        </p:nvSpPr>
        <p:spPr>
          <a:xfrm>
            <a:off x="548640" y="3310128"/>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GOALS</a:t>
            </a:r>
            <a:endParaRPr lang="en-US" sz="1100" dirty="0"/>
          </a:p>
        </p:txBody>
      </p:sp>
      <p:sp>
        <p:nvSpPr>
          <p:cNvPr id="12" name="Text 9"/>
          <p:cNvSpPr txBox="1"/>
          <p:nvPr/>
        </p:nvSpPr>
        <p:spPr>
          <a:xfrm>
            <a:off x="2286000" y="3282696"/>
            <a:ext cx="4983480" cy="603504"/>
          </a:xfrm>
          <a:prstGeom prst="rect">
            <a:avLst/>
          </a:prstGeom>
          <a:noFill/>
          <a:ln/>
        </p:spPr>
        <p:txBody>
          <a:bodyPr wrap="square" lIns="0" tIns="0" rIns="0" bIns="0" rtlCol="0" anchor="t"/>
          <a:lstStyle/>
          <a:p>
            <a:pPr marL="0" indent="0">
              <a:buNone/>
            </a:pPr>
            <a:r>
              <a:rPr lang="en-US" sz="1500" dirty="0">
                <a:solidFill>
                  <a:srgbClr val="1F2933"/>
                </a:solidFill>
              </a:rPr>
              <a:t>Deliver on time with quality intact, without unfair blame</a:t>
            </a:r>
            <a:endParaRPr lang="en-US" sz="1500" dirty="0"/>
          </a:p>
        </p:txBody>
      </p:sp>
      <p:sp>
        <p:nvSpPr>
          <p:cNvPr id="13" name="Text 10"/>
          <p:cNvSpPr txBox="1"/>
          <p:nvPr/>
        </p:nvSpPr>
        <p:spPr>
          <a:xfrm>
            <a:off x="548640" y="3968496"/>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PAINS</a:t>
            </a:r>
            <a:endParaRPr lang="en-US" sz="1100" dirty="0"/>
          </a:p>
        </p:txBody>
      </p:sp>
      <p:sp>
        <p:nvSpPr>
          <p:cNvPr id="14" name="Text 11"/>
          <p:cNvSpPr txBox="1"/>
          <p:nvPr/>
        </p:nvSpPr>
        <p:spPr>
          <a:xfrm>
            <a:off x="2286000" y="3941064"/>
            <a:ext cx="4983480" cy="603504"/>
          </a:xfrm>
          <a:prstGeom prst="rect">
            <a:avLst/>
          </a:prstGeom>
          <a:noFill/>
          <a:ln/>
        </p:spPr>
        <p:txBody>
          <a:bodyPr wrap="square" lIns="0" tIns="0" rIns="0" bIns="0" rtlCol="0" anchor="t"/>
          <a:lstStyle/>
          <a:p>
            <a:pPr marL="0" indent="0">
              <a:buNone/>
            </a:pPr>
            <a:r>
              <a:rPr lang="en-US" sz="1500" dirty="0">
                <a:solidFill>
                  <a:srgbClr val="1F2933"/>
                </a:solidFill>
              </a:rPr>
              <a:t>Delays and disruption; blame for spoilage that happened elsewhere</a:t>
            </a:r>
            <a:endParaRPr lang="en-US" sz="1500" dirty="0"/>
          </a:p>
        </p:txBody>
      </p:sp>
      <p:sp>
        <p:nvSpPr>
          <p:cNvPr id="15" name="Text 12"/>
          <p:cNvSpPr txBox="1"/>
          <p:nvPr/>
        </p:nvSpPr>
        <p:spPr>
          <a:xfrm>
            <a:off x="548640" y="4626864"/>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WE OFFER</a:t>
            </a:r>
            <a:endParaRPr lang="en-US" sz="1100" dirty="0"/>
          </a:p>
        </p:txBody>
      </p:sp>
      <p:sp>
        <p:nvSpPr>
          <p:cNvPr id="16" name="Text 13"/>
          <p:cNvSpPr txBox="1"/>
          <p:nvPr/>
        </p:nvSpPr>
        <p:spPr>
          <a:xfrm>
            <a:off x="2286000" y="4599432"/>
            <a:ext cx="4983480" cy="603504"/>
          </a:xfrm>
          <a:prstGeom prst="rect">
            <a:avLst/>
          </a:prstGeom>
          <a:noFill/>
          <a:ln/>
        </p:spPr>
        <p:txBody>
          <a:bodyPr wrap="square" lIns="0" tIns="0" rIns="0" bIns="0" rtlCol="0" anchor="t"/>
          <a:lstStyle/>
          <a:p>
            <a:pPr marL="0" indent="0">
              <a:buNone/>
            </a:pPr>
            <a:r>
              <a:rPr lang="en-US" sz="1500" dirty="0">
                <a:solidFill>
                  <a:srgbClr val="1F2933"/>
                </a:solidFill>
              </a:rPr>
              <a:t>Two-party handover record at pickup and drop-off; a dispatcher-confirmed route</a:t>
            </a:r>
            <a:endParaRPr lang="en-US" sz="1500" dirty="0"/>
          </a:p>
        </p:txBody>
      </p:sp>
      <p:sp>
        <p:nvSpPr>
          <p:cNvPr id="17" name="assumption box"/>
          <p:cNvSpPr/>
          <p:nvPr/>
        </p:nvSpPr>
        <p:spPr>
          <a:xfrm>
            <a:off x="548640" y="5349240"/>
            <a:ext cx="6720840" cy="868680"/>
          </a:xfrm>
          <a:prstGeom prst="roundRect">
            <a:avLst>
              <a:gd name="adj" fmla="val 12632"/>
            </a:avLst>
          </a:prstGeom>
          <a:solidFill>
            <a:srgbClr val="FBF1DD"/>
          </a:solidFill>
          <a:ln w="12700">
            <a:solidFill>
              <a:srgbClr val="FBF1DD"/>
            </a:solidFill>
            <a:prstDash val="solid"/>
          </a:ln>
          <a:effectLst>
            <a:outerShdw blurRad="76200" dist="25400" dir="5400000" algn="bl" rotWithShape="0">
              <a:srgbClr val="000000">
                <a:alpha val="12000"/>
              </a:srgbClr>
            </a:outerShdw>
          </a:effectLst>
        </p:spPr>
      </p:sp>
      <p:sp>
        <p:nvSpPr>
          <p:cNvPr id="18" name="Text 15"/>
          <p:cNvSpPr txBox="1"/>
          <p:nvPr/>
        </p:nvSpPr>
        <p:spPr>
          <a:xfrm>
            <a:off x="731520" y="5440680"/>
            <a:ext cx="2743200" cy="228600"/>
          </a:xfrm>
          <a:prstGeom prst="rect">
            <a:avLst/>
          </a:prstGeom>
          <a:noFill/>
          <a:ln/>
        </p:spPr>
        <p:txBody>
          <a:bodyPr wrap="square" lIns="0" tIns="0" rIns="0" bIns="0" rtlCol="0" anchor="t"/>
          <a:lstStyle/>
          <a:p>
            <a:pPr marL="0" indent="0">
              <a:buNone/>
            </a:pPr>
            <a:r>
              <a:rPr lang="en-US" sz="1000" b="1" kern="0" spc="100" dirty="0">
                <a:solidFill>
                  <a:srgbClr val="8A5A00"/>
                </a:solidFill>
              </a:rPr>
              <a:t>ASSUMPTION TO TEST</a:t>
            </a:r>
            <a:endParaRPr lang="en-US" sz="1000" dirty="0"/>
          </a:p>
        </p:txBody>
      </p:sp>
      <p:sp>
        <p:nvSpPr>
          <p:cNvPr id="19" name="chip HYPOTHESIS TO VALIDATE"/>
          <p:cNvSpPr/>
          <p:nvPr/>
        </p:nvSpPr>
        <p:spPr>
          <a:xfrm>
            <a:off x="5257800" y="5422392"/>
            <a:ext cx="1843430" cy="256032"/>
          </a:xfrm>
          <a:prstGeom prst="roundRect">
            <a:avLst>
              <a:gd name="adj" fmla="val 50000"/>
            </a:avLst>
          </a:prstGeom>
          <a:solidFill>
            <a:srgbClr val="8A5A00"/>
          </a:solidFill>
          <a:ln w="12700">
            <a:solidFill>
              <a:srgbClr val="8A5A00"/>
            </a:solidFill>
            <a:prstDash val="solid"/>
          </a:ln>
        </p:spPr>
      </p:sp>
      <p:sp>
        <p:nvSpPr>
          <p:cNvPr id="20" name="Text 17"/>
          <p:cNvSpPr txBox="1"/>
          <p:nvPr/>
        </p:nvSpPr>
        <p:spPr>
          <a:xfrm>
            <a:off x="5257800" y="5422392"/>
            <a:ext cx="1843430"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 TO VALIDATE</a:t>
            </a:r>
            <a:endParaRPr lang="en-US" sz="1000" dirty="0"/>
          </a:p>
        </p:txBody>
      </p:sp>
      <p:sp>
        <p:nvSpPr>
          <p:cNvPr id="21" name="Text 18"/>
          <p:cNvSpPr txBox="1"/>
          <p:nvPr/>
        </p:nvSpPr>
        <p:spPr>
          <a:xfrm>
            <a:off x="731520" y="5715000"/>
            <a:ext cx="6400800" cy="457200"/>
          </a:xfrm>
          <a:prstGeom prst="rect">
            <a:avLst/>
          </a:prstGeom>
          <a:noFill/>
          <a:ln/>
        </p:spPr>
        <p:txBody>
          <a:bodyPr wrap="square" lIns="0" tIns="0" rIns="0" bIns="0" rtlCol="0" anchor="t"/>
          <a:lstStyle/>
          <a:p>
            <a:pPr marL="0" indent="0">
              <a:buNone/>
            </a:pPr>
            <a:r>
              <a:rPr lang="en-US" sz="1500" dirty="0">
                <a:solidFill>
                  <a:srgbClr val="1F2933"/>
                </a:solidFill>
              </a:rPr>
              <a:t>Drivers and dispatchers find the handover record and route recommendations clear and useful</a:t>
            </a:r>
            <a:endParaRPr lang="en-US" sz="1500" dirty="0"/>
          </a:p>
        </p:txBody>
      </p:sp>
      <p:sp>
        <p:nvSpPr>
          <p:cNvPr id="22" name="flow step 1"/>
          <p:cNvSpPr/>
          <p:nvPr/>
        </p:nvSpPr>
        <p:spPr>
          <a:xfrm>
            <a:off x="7543800" y="1325880"/>
            <a:ext cx="1600200" cy="868680"/>
          </a:xfrm>
          <a:prstGeom prst="roundRect">
            <a:avLst>
              <a:gd name="adj" fmla="val 10526"/>
            </a:avLst>
          </a:prstGeom>
          <a:solidFill>
            <a:srgbClr val="E3F1EF"/>
          </a:solidFill>
          <a:ln w="12700">
            <a:solidFill>
              <a:srgbClr val="0F766E"/>
            </a:solidFill>
            <a:prstDash val="solid"/>
          </a:ln>
        </p:spPr>
      </p:sp>
      <p:sp>
        <p:nvSpPr>
          <p:cNvPr id="23" name="Text 20"/>
          <p:cNvSpPr txBox="1"/>
          <p:nvPr/>
        </p:nvSpPr>
        <p:spPr>
          <a:xfrm>
            <a:off x="7607808" y="1325880"/>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Pickup handover</a:t>
            </a:r>
            <a:endParaRPr lang="en-US" sz="1300" dirty="0"/>
          </a:p>
        </p:txBody>
      </p:sp>
      <p:pic>
        <p:nvPicPr>
          <p:cNvPr id="24" name="Image 1" descr="then"/>
          <p:cNvPicPr>
            <a:picLocks noChangeAspect="1"/>
          </p:cNvPicPr>
          <p:nvPr/>
        </p:nvPicPr>
        <p:blipFill>
          <a:blip r:embed="rId4"/>
          <a:stretch>
            <a:fillRect/>
          </a:stretch>
        </p:blipFill>
        <p:spPr>
          <a:xfrm>
            <a:off x="8229600" y="2240280"/>
            <a:ext cx="228600" cy="256032"/>
          </a:xfrm>
          <a:prstGeom prst="rect">
            <a:avLst/>
          </a:prstGeom>
        </p:spPr>
      </p:pic>
      <p:sp>
        <p:nvSpPr>
          <p:cNvPr id="25" name="flow step 2"/>
          <p:cNvSpPr/>
          <p:nvPr/>
        </p:nvSpPr>
        <p:spPr>
          <a:xfrm>
            <a:off x="7543800" y="2542032"/>
            <a:ext cx="1600200" cy="868680"/>
          </a:xfrm>
          <a:prstGeom prst="roundRect">
            <a:avLst>
              <a:gd name="adj" fmla="val 10526"/>
            </a:avLst>
          </a:prstGeom>
          <a:solidFill>
            <a:srgbClr val="E3F1EF"/>
          </a:solidFill>
          <a:ln w="12700">
            <a:solidFill>
              <a:srgbClr val="0F766E"/>
            </a:solidFill>
            <a:prstDash val="solid"/>
          </a:ln>
        </p:spPr>
      </p:sp>
      <p:sp>
        <p:nvSpPr>
          <p:cNvPr id="26" name="Text 22"/>
          <p:cNvSpPr txBox="1"/>
          <p:nvPr/>
        </p:nvSpPr>
        <p:spPr>
          <a:xfrm>
            <a:off x="7607808" y="2542032"/>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Dispatcher confirms route</a:t>
            </a:r>
            <a:endParaRPr lang="en-US" sz="1300" dirty="0"/>
          </a:p>
        </p:txBody>
      </p:sp>
      <p:pic>
        <p:nvPicPr>
          <p:cNvPr id="27" name="Image 2" descr="then"/>
          <p:cNvPicPr>
            <a:picLocks noChangeAspect="1"/>
          </p:cNvPicPr>
          <p:nvPr/>
        </p:nvPicPr>
        <p:blipFill>
          <a:blip r:embed="rId4"/>
          <a:stretch>
            <a:fillRect/>
          </a:stretch>
        </p:blipFill>
        <p:spPr>
          <a:xfrm>
            <a:off x="8229600" y="3456432"/>
            <a:ext cx="228600" cy="256032"/>
          </a:xfrm>
          <a:prstGeom prst="rect">
            <a:avLst/>
          </a:prstGeom>
        </p:spPr>
      </p:pic>
      <p:sp>
        <p:nvSpPr>
          <p:cNvPr id="28" name="flow step 3"/>
          <p:cNvSpPr/>
          <p:nvPr/>
        </p:nvSpPr>
        <p:spPr>
          <a:xfrm>
            <a:off x="7543800" y="3758184"/>
            <a:ext cx="1600200" cy="868680"/>
          </a:xfrm>
          <a:prstGeom prst="roundRect">
            <a:avLst>
              <a:gd name="adj" fmla="val 10526"/>
            </a:avLst>
          </a:prstGeom>
          <a:solidFill>
            <a:srgbClr val="E3F1EF"/>
          </a:solidFill>
          <a:ln w="12700">
            <a:solidFill>
              <a:srgbClr val="0F766E"/>
            </a:solidFill>
            <a:prstDash val="solid"/>
          </a:ln>
        </p:spPr>
      </p:sp>
      <p:sp>
        <p:nvSpPr>
          <p:cNvPr id="29" name="Text 24"/>
          <p:cNvSpPr txBox="1"/>
          <p:nvPr/>
        </p:nvSpPr>
        <p:spPr>
          <a:xfrm>
            <a:off x="7607808" y="3758184"/>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Drop-off handover</a:t>
            </a:r>
            <a:endParaRPr lang="en-US" sz="1300" dirty="0"/>
          </a:p>
        </p:txBody>
      </p:sp>
      <p:pic>
        <p:nvPicPr>
          <p:cNvPr id="30" name="Image 3" descr="then"/>
          <p:cNvPicPr>
            <a:picLocks noChangeAspect="1"/>
          </p:cNvPicPr>
          <p:nvPr/>
        </p:nvPicPr>
        <p:blipFill>
          <a:blip r:embed="rId4"/>
          <a:stretch>
            <a:fillRect/>
          </a:stretch>
        </p:blipFill>
        <p:spPr>
          <a:xfrm>
            <a:off x="8229600" y="4672584"/>
            <a:ext cx="228600" cy="256032"/>
          </a:xfrm>
          <a:prstGeom prst="rect">
            <a:avLst/>
          </a:prstGeom>
        </p:spPr>
      </p:pic>
      <p:sp>
        <p:nvSpPr>
          <p:cNvPr id="31" name="flow step 4"/>
          <p:cNvSpPr/>
          <p:nvPr/>
        </p:nvSpPr>
        <p:spPr>
          <a:xfrm>
            <a:off x="7543800" y="4974336"/>
            <a:ext cx="1600200" cy="868680"/>
          </a:xfrm>
          <a:prstGeom prst="roundRect">
            <a:avLst>
              <a:gd name="adj" fmla="val 10526"/>
            </a:avLst>
          </a:prstGeom>
          <a:solidFill>
            <a:srgbClr val="E3F1EF"/>
          </a:solidFill>
          <a:ln w="12700">
            <a:solidFill>
              <a:srgbClr val="0F766E"/>
            </a:solidFill>
            <a:prstDash val="solid"/>
          </a:ln>
        </p:spPr>
      </p:sp>
      <p:sp>
        <p:nvSpPr>
          <p:cNvPr id="32" name="Text 26"/>
          <p:cNvSpPr txBox="1"/>
          <p:nvPr/>
        </p:nvSpPr>
        <p:spPr>
          <a:xfrm>
            <a:off x="7607808" y="4974336"/>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Both sides on record</a:t>
            </a:r>
            <a:endParaRPr lang="en-US" sz="1300" dirty="0"/>
          </a:p>
        </p:txBody>
      </p:sp>
      <p:pic>
        <p:nvPicPr>
          <p:cNvPr id="33" name="Image 4" descr="Prototype: handover + log check (demo)"/>
          <p:cNvPicPr>
            <a:picLocks noChangeAspect="1"/>
          </p:cNvPicPr>
          <p:nvPr/>
        </p:nvPicPr>
        <p:blipFill>
          <a:blip r:embed="rId5"/>
          <a:stretch>
            <a:fillRect/>
          </a:stretch>
        </p:blipFill>
        <p:spPr>
          <a:xfrm>
            <a:off x="9464040" y="2439939"/>
            <a:ext cx="2103120" cy="2307306"/>
          </a:xfrm>
          <a:prstGeom prst="rect">
            <a:avLst/>
          </a:prstGeom>
        </p:spPr>
      </p:pic>
      <p:sp>
        <p:nvSpPr>
          <p:cNvPr id="34" name="screenshot border"/>
          <p:cNvSpPr/>
          <p:nvPr/>
        </p:nvSpPr>
        <p:spPr>
          <a:xfrm>
            <a:off x="9464040" y="2439939"/>
            <a:ext cx="2103120" cy="2307306"/>
          </a:xfrm>
          <a:prstGeom prst="rect">
            <a:avLst/>
          </a:prstGeom>
          <a:ln w="12700">
            <a:solidFill>
              <a:srgbClr val="C9D6D1"/>
            </a:solidFill>
            <a:prstDash val="solid"/>
          </a:ln>
        </p:spPr>
      </p:sp>
      <p:sp>
        <p:nvSpPr>
          <p:cNvPr id="35" name="Text 28"/>
          <p:cNvSpPr txBox="1"/>
          <p:nvPr/>
        </p:nvSpPr>
        <p:spPr>
          <a:xfrm>
            <a:off x="9098280" y="5989320"/>
            <a:ext cx="2834640" cy="274320"/>
          </a:xfrm>
          <a:prstGeom prst="rect">
            <a:avLst/>
          </a:prstGeom>
          <a:noFill/>
          <a:ln/>
        </p:spPr>
        <p:txBody>
          <a:bodyPr wrap="square" lIns="0" tIns="0" rIns="0" bIns="0" rtlCol="0" anchor="t"/>
          <a:lstStyle/>
          <a:p>
            <a:pPr marL="0" indent="0" algn="ctr">
              <a:buNone/>
            </a:pPr>
            <a:r>
              <a:rPr lang="en-US" sz="1000" i="1" dirty="0">
                <a:solidFill>
                  <a:srgbClr val="5B6B73"/>
                </a:solidFill>
              </a:rPr>
              <a:t>Prototype: handover + log check (demo)</a:t>
            </a:r>
            <a:endParaRPr lang="en-US" sz="1000" dirty="0"/>
          </a:p>
        </p:txBody>
      </p:sp>
      <p:sp>
        <p:nvSpPr>
          <p:cNvPr id="36"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Persona 5 · NGO owner</a:t>
            </a:r>
            <a:endParaRPr lang="en-US" sz="3600" dirty="0"/>
          </a:p>
        </p:txBody>
      </p:sp>
      <p:sp>
        <p:nvSpPr>
          <p:cNvPr id="3" name="icon circle FaHandHoldingHeart"/>
          <p:cNvSpPr/>
          <p:nvPr/>
        </p:nvSpPr>
        <p:spPr>
          <a:xfrm>
            <a:off x="548640" y="1280160"/>
            <a:ext cx="566928" cy="566928"/>
          </a:xfrm>
          <a:prstGeom prst="ellipse">
            <a:avLst/>
          </a:prstGeom>
          <a:solidFill>
            <a:srgbClr val="0F766E"/>
          </a:solidFill>
          <a:ln w="12700">
            <a:solidFill>
              <a:srgbClr val="0F766E"/>
            </a:solidFill>
            <a:prstDash val="solid"/>
          </a:ln>
        </p:spPr>
      </p:sp>
      <p:pic>
        <p:nvPicPr>
          <p:cNvPr id="4" name="Image 0" descr="HandHoldingHeart icon"/>
          <p:cNvPicPr>
            <a:picLocks noChangeAspect="1"/>
          </p:cNvPicPr>
          <p:nvPr/>
        </p:nvPicPr>
        <p:blipFill>
          <a:blip r:embed="rId3"/>
          <a:stretch>
            <a:fillRect/>
          </a:stretch>
        </p:blipFill>
        <p:spPr>
          <a:xfrm>
            <a:off x="701711" y="1433231"/>
            <a:ext cx="260787" cy="260787"/>
          </a:xfrm>
          <a:prstGeom prst="rect">
            <a:avLst/>
          </a:prstGeom>
        </p:spPr>
      </p:pic>
      <p:sp>
        <p:nvSpPr>
          <p:cNvPr id="5" name="chip HYPOTHESISED PERSONA"/>
          <p:cNvSpPr/>
          <p:nvPr/>
        </p:nvSpPr>
        <p:spPr>
          <a:xfrm>
            <a:off x="1280160" y="1435608"/>
            <a:ext cx="1700784" cy="256032"/>
          </a:xfrm>
          <a:prstGeom prst="roundRect">
            <a:avLst>
              <a:gd name="adj" fmla="val 50000"/>
            </a:avLst>
          </a:prstGeom>
          <a:solidFill>
            <a:srgbClr val="5B6B73"/>
          </a:solidFill>
          <a:ln w="12700">
            <a:solidFill>
              <a:srgbClr val="5B6B73"/>
            </a:solidFill>
            <a:prstDash val="solid"/>
          </a:ln>
        </p:spPr>
      </p:sp>
      <p:sp>
        <p:nvSpPr>
          <p:cNvPr id="6" name="Text 3"/>
          <p:cNvSpPr txBox="1"/>
          <p:nvPr/>
        </p:nvSpPr>
        <p:spPr>
          <a:xfrm>
            <a:off x="1280160" y="1435608"/>
            <a:ext cx="1700784"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HYPOTHESISED PERSONA</a:t>
            </a:r>
            <a:endParaRPr lang="en-US" sz="1000" dirty="0"/>
          </a:p>
        </p:txBody>
      </p:sp>
      <p:sp>
        <p:nvSpPr>
          <p:cNvPr id="7" name="Text 4"/>
          <p:cNvSpPr txBox="1"/>
          <p:nvPr/>
        </p:nvSpPr>
        <p:spPr>
          <a:xfrm>
            <a:off x="3118104" y="1426464"/>
            <a:ext cx="3840480" cy="274320"/>
          </a:xfrm>
          <a:prstGeom prst="rect">
            <a:avLst/>
          </a:prstGeom>
          <a:noFill/>
          <a:ln/>
        </p:spPr>
        <p:txBody>
          <a:bodyPr wrap="square" lIns="0" tIns="0" rIns="0" bIns="0" rtlCol="0" anchor="ctr"/>
          <a:lstStyle/>
          <a:p>
            <a:pPr marL="0" indent="0">
              <a:buNone/>
            </a:pPr>
            <a:r>
              <a:rPr lang="en-US" sz="1200" i="1" dirty="0">
                <a:solidFill>
                  <a:srgbClr val="5B6B73"/>
                </a:solidFill>
              </a:rPr>
              <a:t>Adoption and rescue not field-validated</a:t>
            </a:r>
            <a:endParaRPr lang="en-US" sz="1200" dirty="0"/>
          </a:p>
        </p:txBody>
      </p:sp>
      <p:sp>
        <p:nvSpPr>
          <p:cNvPr id="8" name="Text 5"/>
          <p:cNvSpPr txBox="1"/>
          <p:nvPr/>
        </p:nvSpPr>
        <p:spPr>
          <a:xfrm>
            <a:off x="548640" y="1965960"/>
            <a:ext cx="6675120" cy="548640"/>
          </a:xfrm>
          <a:prstGeom prst="rect">
            <a:avLst/>
          </a:prstGeom>
          <a:noFill/>
          <a:ln/>
        </p:spPr>
        <p:txBody>
          <a:bodyPr wrap="square" lIns="0" tIns="0" rIns="0" bIns="0" rtlCol="0" anchor="ctr"/>
          <a:lstStyle/>
          <a:p>
            <a:pPr marL="0" indent="0">
              <a:buNone/>
            </a:pPr>
            <a:r>
              <a:rPr lang="en-US" sz="2000" i="1" dirty="0">
                <a:solidFill>
                  <a:srgbClr val="0F766E"/>
                </a:solidFill>
              </a:rPr>
              <a:t>“Offers for nearby surplus, with a 2-hour claim timer.”</a:t>
            </a:r>
            <a:endParaRPr lang="en-US" sz="2000" dirty="0"/>
          </a:p>
        </p:txBody>
      </p:sp>
      <p:sp>
        <p:nvSpPr>
          <p:cNvPr id="9" name="Text 6"/>
          <p:cNvSpPr txBox="1"/>
          <p:nvPr/>
        </p:nvSpPr>
        <p:spPr>
          <a:xfrm>
            <a:off x="548640" y="2651760"/>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CONTEXT</a:t>
            </a:r>
            <a:endParaRPr lang="en-US" sz="1100" dirty="0"/>
          </a:p>
        </p:txBody>
      </p:sp>
      <p:sp>
        <p:nvSpPr>
          <p:cNvPr id="10" name="Text 7"/>
          <p:cNvSpPr txBox="1"/>
          <p:nvPr/>
        </p:nvSpPr>
        <p:spPr>
          <a:xfrm>
            <a:off x="2286000" y="2624328"/>
            <a:ext cx="4983480" cy="603504"/>
          </a:xfrm>
          <a:prstGeom prst="rect">
            <a:avLst/>
          </a:prstGeom>
          <a:noFill/>
          <a:ln/>
        </p:spPr>
        <p:txBody>
          <a:bodyPr wrap="square" lIns="0" tIns="0" rIns="0" bIns="0" rtlCol="0" anchor="t"/>
          <a:lstStyle/>
          <a:p>
            <a:pPr marL="0" indent="0">
              <a:buNone/>
            </a:pPr>
            <a:r>
              <a:rPr lang="en-US" sz="1500" dirty="0">
                <a:solidFill>
                  <a:srgbClr val="1F2933"/>
                </a:solidFill>
              </a:rPr>
              <a:t>Can receive suitable surplus produce for redistribution</a:t>
            </a:r>
            <a:endParaRPr lang="en-US" sz="1500" dirty="0"/>
          </a:p>
        </p:txBody>
      </p:sp>
      <p:sp>
        <p:nvSpPr>
          <p:cNvPr id="11" name="Text 8"/>
          <p:cNvSpPr txBox="1"/>
          <p:nvPr/>
        </p:nvSpPr>
        <p:spPr>
          <a:xfrm>
            <a:off x="548640" y="3310128"/>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GOALS</a:t>
            </a:r>
            <a:endParaRPr lang="en-US" sz="1100" dirty="0"/>
          </a:p>
        </p:txBody>
      </p:sp>
      <p:sp>
        <p:nvSpPr>
          <p:cNvPr id="12" name="Text 9"/>
          <p:cNvSpPr txBox="1"/>
          <p:nvPr/>
        </p:nvSpPr>
        <p:spPr>
          <a:xfrm>
            <a:off x="2286000" y="3282696"/>
            <a:ext cx="4983480" cy="603504"/>
          </a:xfrm>
          <a:prstGeom prst="rect">
            <a:avLst/>
          </a:prstGeom>
          <a:noFill/>
          <a:ln/>
        </p:spPr>
        <p:txBody>
          <a:bodyPr wrap="square" lIns="0" tIns="0" rIns="0" bIns="0" rtlCol="0" anchor="t"/>
          <a:lstStyle/>
          <a:p>
            <a:pPr marL="0" indent="0">
              <a:buNone/>
            </a:pPr>
            <a:r>
              <a:rPr lang="en-US" sz="1500" dirty="0">
                <a:solidFill>
                  <a:srgbClr val="1F2933"/>
                </a:solidFill>
              </a:rPr>
              <a:t>Spot usable offers early and decide in time</a:t>
            </a:r>
            <a:endParaRPr lang="en-US" sz="1500" dirty="0"/>
          </a:p>
        </p:txBody>
      </p:sp>
      <p:sp>
        <p:nvSpPr>
          <p:cNvPr id="13" name="Text 10"/>
          <p:cNvSpPr txBox="1"/>
          <p:nvPr/>
        </p:nvSpPr>
        <p:spPr>
          <a:xfrm>
            <a:off x="548640" y="3968496"/>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PAINS</a:t>
            </a:r>
            <a:endParaRPr lang="en-US" sz="1100" dirty="0"/>
          </a:p>
        </p:txBody>
      </p:sp>
      <p:sp>
        <p:nvSpPr>
          <p:cNvPr id="14" name="Text 11"/>
          <p:cNvSpPr txBox="1"/>
          <p:nvPr/>
        </p:nvSpPr>
        <p:spPr>
          <a:xfrm>
            <a:off x="2286000" y="3941064"/>
            <a:ext cx="4983480" cy="603504"/>
          </a:xfrm>
          <a:prstGeom prst="rect">
            <a:avLst/>
          </a:prstGeom>
          <a:noFill/>
          <a:ln/>
        </p:spPr>
        <p:txBody>
          <a:bodyPr wrap="square" lIns="0" tIns="0" rIns="0" bIns="0" rtlCol="0" anchor="t"/>
          <a:lstStyle/>
          <a:p>
            <a:pPr marL="0" indent="0">
              <a:buNone/>
            </a:pPr>
            <a:r>
              <a:rPr lang="en-US" sz="1500" dirty="0">
                <a:solidFill>
                  <a:srgbClr val="1F2933"/>
                </a:solidFill>
              </a:rPr>
              <a:t>Short notice, uncertain availability, pickup coordination</a:t>
            </a:r>
            <a:endParaRPr lang="en-US" sz="1500" dirty="0"/>
          </a:p>
        </p:txBody>
      </p:sp>
      <p:sp>
        <p:nvSpPr>
          <p:cNvPr id="15" name="Text 12"/>
          <p:cNvSpPr txBox="1"/>
          <p:nvPr/>
        </p:nvSpPr>
        <p:spPr>
          <a:xfrm>
            <a:off x="548640" y="4626864"/>
            <a:ext cx="1828800" cy="274320"/>
          </a:xfrm>
          <a:prstGeom prst="rect">
            <a:avLst/>
          </a:prstGeom>
          <a:noFill/>
          <a:ln/>
        </p:spPr>
        <p:txBody>
          <a:bodyPr wrap="square" lIns="0" tIns="0" rIns="0" bIns="0" rtlCol="0" anchor="t"/>
          <a:lstStyle/>
          <a:p>
            <a:pPr marL="0" indent="0">
              <a:buNone/>
            </a:pPr>
            <a:r>
              <a:rPr lang="en-US" sz="1100" b="1" kern="0" spc="100" dirty="0">
                <a:solidFill>
                  <a:srgbClr val="0F766E"/>
                </a:solidFill>
              </a:rPr>
              <a:t>WE OFFER</a:t>
            </a:r>
            <a:endParaRPr lang="en-US" sz="1100" dirty="0"/>
          </a:p>
        </p:txBody>
      </p:sp>
      <p:sp>
        <p:nvSpPr>
          <p:cNvPr id="16" name="Text 13"/>
          <p:cNvSpPr txBox="1"/>
          <p:nvPr/>
        </p:nvSpPr>
        <p:spPr>
          <a:xfrm>
            <a:off x="2286000" y="4599432"/>
            <a:ext cx="4983480" cy="603504"/>
          </a:xfrm>
          <a:prstGeom prst="rect">
            <a:avLst/>
          </a:prstGeom>
          <a:noFill/>
          <a:ln/>
        </p:spPr>
        <p:txBody>
          <a:bodyPr wrap="square" lIns="0" tIns="0" rIns="0" bIns="0" rtlCol="0" anchor="t"/>
          <a:lstStyle/>
          <a:p>
            <a:pPr marL="0" indent="0">
              <a:buNone/>
            </a:pPr>
            <a:r>
              <a:rPr lang="en-US" sz="1500" dirty="0">
                <a:solidFill>
                  <a:srgbClr val="1F2933"/>
                </a:solidFill>
              </a:rPr>
              <a:t>NGO rescue offers with a 2-hour claim timer</a:t>
            </a:r>
            <a:endParaRPr lang="en-US" sz="1500" dirty="0"/>
          </a:p>
        </p:txBody>
      </p:sp>
      <p:sp>
        <p:nvSpPr>
          <p:cNvPr id="17" name="assumption box"/>
          <p:cNvSpPr/>
          <p:nvPr/>
        </p:nvSpPr>
        <p:spPr>
          <a:xfrm>
            <a:off x="548640" y="5349240"/>
            <a:ext cx="6720840" cy="868680"/>
          </a:xfrm>
          <a:prstGeom prst="roundRect">
            <a:avLst>
              <a:gd name="adj" fmla="val 12632"/>
            </a:avLst>
          </a:prstGeom>
          <a:solidFill>
            <a:srgbClr val="FBF1DD"/>
          </a:solidFill>
          <a:ln w="12700">
            <a:solidFill>
              <a:srgbClr val="FBF1DD"/>
            </a:solidFill>
            <a:prstDash val="solid"/>
          </a:ln>
          <a:effectLst>
            <a:outerShdw blurRad="76200" dist="25400" dir="5400000" algn="bl" rotWithShape="0">
              <a:srgbClr val="000000">
                <a:alpha val="12000"/>
              </a:srgbClr>
            </a:outerShdw>
          </a:effectLst>
        </p:spPr>
      </p:sp>
      <p:sp>
        <p:nvSpPr>
          <p:cNvPr id="18" name="Text 15"/>
          <p:cNvSpPr txBox="1"/>
          <p:nvPr/>
        </p:nvSpPr>
        <p:spPr>
          <a:xfrm>
            <a:off x="731520" y="5440680"/>
            <a:ext cx="2743200" cy="228600"/>
          </a:xfrm>
          <a:prstGeom prst="rect">
            <a:avLst/>
          </a:prstGeom>
          <a:noFill/>
          <a:ln/>
        </p:spPr>
        <p:txBody>
          <a:bodyPr wrap="square" lIns="0" tIns="0" rIns="0" bIns="0" rtlCol="0" anchor="t"/>
          <a:lstStyle/>
          <a:p>
            <a:pPr marL="0" indent="0">
              <a:buNone/>
            </a:pPr>
            <a:r>
              <a:rPr lang="en-US" sz="1000" b="1" kern="0" spc="100" dirty="0">
                <a:solidFill>
                  <a:srgbClr val="8A5A00"/>
                </a:solidFill>
              </a:rPr>
              <a:t>ASSUMPTION TO TEST</a:t>
            </a:r>
            <a:endParaRPr lang="en-US" sz="1000" dirty="0"/>
          </a:p>
        </p:txBody>
      </p:sp>
      <p:sp>
        <p:nvSpPr>
          <p:cNvPr id="19" name="chip HYPOTHESIS TO VALIDATE"/>
          <p:cNvSpPr/>
          <p:nvPr/>
        </p:nvSpPr>
        <p:spPr>
          <a:xfrm>
            <a:off x="5257800" y="5422392"/>
            <a:ext cx="1843430" cy="256032"/>
          </a:xfrm>
          <a:prstGeom prst="roundRect">
            <a:avLst>
              <a:gd name="adj" fmla="val 50000"/>
            </a:avLst>
          </a:prstGeom>
          <a:solidFill>
            <a:srgbClr val="8A5A00"/>
          </a:solidFill>
          <a:ln w="12700">
            <a:solidFill>
              <a:srgbClr val="8A5A00"/>
            </a:solidFill>
            <a:prstDash val="solid"/>
          </a:ln>
        </p:spPr>
      </p:sp>
      <p:sp>
        <p:nvSpPr>
          <p:cNvPr id="20" name="Text 17"/>
          <p:cNvSpPr txBox="1"/>
          <p:nvPr/>
        </p:nvSpPr>
        <p:spPr>
          <a:xfrm>
            <a:off x="5257800" y="5422392"/>
            <a:ext cx="1843430"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 TO VALIDATE</a:t>
            </a:r>
            <a:endParaRPr lang="en-US" sz="1000" dirty="0"/>
          </a:p>
        </p:txBody>
      </p:sp>
      <p:sp>
        <p:nvSpPr>
          <p:cNvPr id="21" name="Text 18"/>
          <p:cNvSpPr txBox="1"/>
          <p:nvPr/>
        </p:nvSpPr>
        <p:spPr>
          <a:xfrm>
            <a:off x="731520" y="5715000"/>
            <a:ext cx="6400800" cy="457200"/>
          </a:xfrm>
          <a:prstGeom prst="rect">
            <a:avLst/>
          </a:prstGeom>
          <a:noFill/>
          <a:ln/>
        </p:spPr>
        <p:txBody>
          <a:bodyPr wrap="square" lIns="0" tIns="0" rIns="0" bIns="0" rtlCol="0" anchor="t"/>
          <a:lstStyle/>
          <a:p>
            <a:pPr marL="0" indent="0">
              <a:buNone/>
            </a:pPr>
            <a:r>
              <a:rPr lang="en-US" sz="1500" dirty="0">
                <a:solidFill>
                  <a:srgbClr val="1F2933"/>
                </a:solidFill>
              </a:rPr>
              <a:t>NGOs would monitor, claim and coordinate eligible offers within the window</a:t>
            </a:r>
            <a:endParaRPr lang="en-US" sz="1500" dirty="0"/>
          </a:p>
        </p:txBody>
      </p:sp>
      <p:sp>
        <p:nvSpPr>
          <p:cNvPr id="22" name="flow step 1"/>
          <p:cNvSpPr/>
          <p:nvPr/>
        </p:nvSpPr>
        <p:spPr>
          <a:xfrm>
            <a:off x="7543800" y="1325880"/>
            <a:ext cx="1600200" cy="868680"/>
          </a:xfrm>
          <a:prstGeom prst="roundRect">
            <a:avLst>
              <a:gd name="adj" fmla="val 10526"/>
            </a:avLst>
          </a:prstGeom>
          <a:solidFill>
            <a:srgbClr val="E3F1EF"/>
          </a:solidFill>
          <a:ln w="12700">
            <a:solidFill>
              <a:srgbClr val="0F766E"/>
            </a:solidFill>
            <a:prstDash val="solid"/>
          </a:ln>
        </p:spPr>
      </p:sp>
      <p:sp>
        <p:nvSpPr>
          <p:cNvPr id="23" name="Text 20"/>
          <p:cNvSpPr txBox="1"/>
          <p:nvPr/>
        </p:nvSpPr>
        <p:spPr>
          <a:xfrm>
            <a:off x="7607808" y="1325880"/>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Surplus identified</a:t>
            </a:r>
            <a:endParaRPr lang="en-US" sz="1300" dirty="0"/>
          </a:p>
        </p:txBody>
      </p:sp>
      <p:pic>
        <p:nvPicPr>
          <p:cNvPr id="24" name="Image 1" descr="then"/>
          <p:cNvPicPr>
            <a:picLocks noChangeAspect="1"/>
          </p:cNvPicPr>
          <p:nvPr/>
        </p:nvPicPr>
        <p:blipFill>
          <a:blip r:embed="rId4"/>
          <a:stretch>
            <a:fillRect/>
          </a:stretch>
        </p:blipFill>
        <p:spPr>
          <a:xfrm>
            <a:off x="8229600" y="2240280"/>
            <a:ext cx="228600" cy="256032"/>
          </a:xfrm>
          <a:prstGeom prst="rect">
            <a:avLst/>
          </a:prstGeom>
        </p:spPr>
      </p:pic>
      <p:sp>
        <p:nvSpPr>
          <p:cNvPr id="25" name="flow step 2"/>
          <p:cNvSpPr/>
          <p:nvPr/>
        </p:nvSpPr>
        <p:spPr>
          <a:xfrm>
            <a:off x="7543800" y="2542032"/>
            <a:ext cx="1600200" cy="868680"/>
          </a:xfrm>
          <a:prstGeom prst="roundRect">
            <a:avLst>
              <a:gd name="adj" fmla="val 10526"/>
            </a:avLst>
          </a:prstGeom>
          <a:solidFill>
            <a:srgbClr val="E3F1EF"/>
          </a:solidFill>
          <a:ln w="12700">
            <a:solidFill>
              <a:srgbClr val="0F766E"/>
            </a:solidFill>
            <a:prstDash val="solid"/>
          </a:ln>
        </p:spPr>
      </p:sp>
      <p:sp>
        <p:nvSpPr>
          <p:cNvPr id="26" name="Text 22"/>
          <p:cNvSpPr txBox="1"/>
          <p:nvPr/>
        </p:nvSpPr>
        <p:spPr>
          <a:xfrm>
            <a:off x="7607808" y="2542032"/>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NGO offer</a:t>
            </a:r>
            <a:endParaRPr lang="en-US" sz="1300" dirty="0"/>
          </a:p>
        </p:txBody>
      </p:sp>
      <p:pic>
        <p:nvPicPr>
          <p:cNvPr id="27" name="Image 2" descr="then"/>
          <p:cNvPicPr>
            <a:picLocks noChangeAspect="1"/>
          </p:cNvPicPr>
          <p:nvPr/>
        </p:nvPicPr>
        <p:blipFill>
          <a:blip r:embed="rId4"/>
          <a:stretch>
            <a:fillRect/>
          </a:stretch>
        </p:blipFill>
        <p:spPr>
          <a:xfrm>
            <a:off x="8229600" y="3456432"/>
            <a:ext cx="228600" cy="256032"/>
          </a:xfrm>
          <a:prstGeom prst="rect">
            <a:avLst/>
          </a:prstGeom>
        </p:spPr>
      </p:pic>
      <p:sp>
        <p:nvSpPr>
          <p:cNvPr id="28" name="flow step 3"/>
          <p:cNvSpPr/>
          <p:nvPr/>
        </p:nvSpPr>
        <p:spPr>
          <a:xfrm>
            <a:off x="7543800" y="3758184"/>
            <a:ext cx="1600200" cy="868680"/>
          </a:xfrm>
          <a:prstGeom prst="roundRect">
            <a:avLst>
              <a:gd name="adj" fmla="val 10526"/>
            </a:avLst>
          </a:prstGeom>
          <a:solidFill>
            <a:srgbClr val="E3F1EF"/>
          </a:solidFill>
          <a:ln w="12700">
            <a:solidFill>
              <a:srgbClr val="0F766E"/>
            </a:solidFill>
            <a:prstDash val="solid"/>
          </a:ln>
        </p:spPr>
      </p:sp>
      <p:sp>
        <p:nvSpPr>
          <p:cNvPr id="29" name="Text 24"/>
          <p:cNvSpPr txBox="1"/>
          <p:nvPr/>
        </p:nvSpPr>
        <p:spPr>
          <a:xfrm>
            <a:off x="7607808" y="3758184"/>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2-hour claim window</a:t>
            </a:r>
            <a:endParaRPr lang="en-US" sz="1300" dirty="0"/>
          </a:p>
        </p:txBody>
      </p:sp>
      <p:pic>
        <p:nvPicPr>
          <p:cNvPr id="30" name="Image 3" descr="then"/>
          <p:cNvPicPr>
            <a:picLocks noChangeAspect="1"/>
          </p:cNvPicPr>
          <p:nvPr/>
        </p:nvPicPr>
        <p:blipFill>
          <a:blip r:embed="rId4"/>
          <a:stretch>
            <a:fillRect/>
          </a:stretch>
        </p:blipFill>
        <p:spPr>
          <a:xfrm>
            <a:off x="8229600" y="4672584"/>
            <a:ext cx="228600" cy="256032"/>
          </a:xfrm>
          <a:prstGeom prst="rect">
            <a:avLst/>
          </a:prstGeom>
        </p:spPr>
      </p:pic>
      <p:sp>
        <p:nvSpPr>
          <p:cNvPr id="31" name="flow step 4"/>
          <p:cNvSpPr/>
          <p:nvPr/>
        </p:nvSpPr>
        <p:spPr>
          <a:xfrm>
            <a:off x="7543800" y="4974336"/>
            <a:ext cx="1600200" cy="868680"/>
          </a:xfrm>
          <a:prstGeom prst="roundRect">
            <a:avLst>
              <a:gd name="adj" fmla="val 10526"/>
            </a:avLst>
          </a:prstGeom>
          <a:solidFill>
            <a:srgbClr val="E3F1EF"/>
          </a:solidFill>
          <a:ln w="12700">
            <a:solidFill>
              <a:srgbClr val="0F766E"/>
            </a:solidFill>
            <a:prstDash val="solid"/>
          </a:ln>
        </p:spPr>
      </p:sp>
      <p:sp>
        <p:nvSpPr>
          <p:cNvPr id="32" name="Text 26"/>
          <p:cNvSpPr txBox="1"/>
          <p:nvPr/>
        </p:nvSpPr>
        <p:spPr>
          <a:xfrm>
            <a:off x="7607808" y="4974336"/>
            <a:ext cx="1472184" cy="868680"/>
          </a:xfrm>
          <a:prstGeom prst="rect">
            <a:avLst/>
          </a:prstGeom>
          <a:noFill/>
          <a:ln/>
        </p:spPr>
        <p:txBody>
          <a:bodyPr wrap="square" lIns="0" tIns="0" rIns="0" bIns="0" rtlCol="0" anchor="ctr"/>
          <a:lstStyle/>
          <a:p>
            <a:pPr marL="0" indent="0" algn="ctr">
              <a:buNone/>
            </a:pPr>
            <a:r>
              <a:rPr lang="en-US" sz="1300" b="1" dirty="0">
                <a:solidFill>
                  <a:srgbClr val="0B3D2E"/>
                </a:solidFill>
              </a:rPr>
              <a:t>Claim &amp; pickup</a:t>
            </a:r>
            <a:endParaRPr lang="en-US" sz="1300" dirty="0"/>
          </a:p>
        </p:txBody>
      </p:sp>
      <p:pic>
        <p:nvPicPr>
          <p:cNvPr id="33" name="Image 4" descr="Prototype: NGO claim timer (demo data)"/>
          <p:cNvPicPr>
            <a:picLocks noChangeAspect="1"/>
          </p:cNvPicPr>
          <p:nvPr/>
        </p:nvPicPr>
        <p:blipFill>
          <a:blip r:embed="rId5"/>
          <a:stretch>
            <a:fillRect/>
          </a:stretch>
        </p:blipFill>
        <p:spPr>
          <a:xfrm>
            <a:off x="9464040" y="1261872"/>
            <a:ext cx="2103120" cy="4670764"/>
          </a:xfrm>
          <a:prstGeom prst="rect">
            <a:avLst/>
          </a:prstGeom>
        </p:spPr>
      </p:pic>
      <p:sp>
        <p:nvSpPr>
          <p:cNvPr id="34" name="screenshot border"/>
          <p:cNvSpPr/>
          <p:nvPr/>
        </p:nvSpPr>
        <p:spPr>
          <a:xfrm>
            <a:off x="9464040" y="1261872"/>
            <a:ext cx="2103120" cy="4670764"/>
          </a:xfrm>
          <a:prstGeom prst="rect">
            <a:avLst/>
          </a:prstGeom>
          <a:ln w="12700">
            <a:solidFill>
              <a:srgbClr val="C9D6D1"/>
            </a:solidFill>
            <a:prstDash val="solid"/>
          </a:ln>
        </p:spPr>
      </p:sp>
      <p:sp>
        <p:nvSpPr>
          <p:cNvPr id="35" name="Text 28"/>
          <p:cNvSpPr txBox="1"/>
          <p:nvPr/>
        </p:nvSpPr>
        <p:spPr>
          <a:xfrm>
            <a:off x="9098280" y="5989320"/>
            <a:ext cx="2834640" cy="274320"/>
          </a:xfrm>
          <a:prstGeom prst="rect">
            <a:avLst/>
          </a:prstGeom>
          <a:noFill/>
          <a:ln/>
        </p:spPr>
        <p:txBody>
          <a:bodyPr wrap="square" lIns="0" tIns="0" rIns="0" bIns="0" rtlCol="0" anchor="t"/>
          <a:lstStyle/>
          <a:p>
            <a:pPr marL="0" indent="0" algn="ctr">
              <a:buNone/>
            </a:pPr>
            <a:r>
              <a:rPr lang="en-US" sz="1000" i="1" dirty="0">
                <a:solidFill>
                  <a:srgbClr val="5B6B73"/>
                </a:solidFill>
              </a:rPr>
              <a:t>Prototype: NGO claim timer (demo data)</a:t>
            </a:r>
            <a:endParaRPr lang="en-US" sz="1000" dirty="0"/>
          </a:p>
        </p:txBody>
      </p:sp>
      <p:sp>
        <p:nvSpPr>
          <p:cNvPr id="36"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What we tested, and what we haven't</a:t>
            </a:r>
            <a:endParaRPr lang="en-US" sz="3600" dirty="0"/>
          </a:p>
        </p:txBody>
      </p:sp>
      <p:sp>
        <p:nvSpPr>
          <p:cNvPr id="3" name="validation disclosure"/>
          <p:cNvSpPr/>
          <p:nvPr/>
        </p:nvSpPr>
        <p:spPr>
          <a:xfrm>
            <a:off x="548640" y="1280160"/>
            <a:ext cx="11064240" cy="1143000"/>
          </a:xfrm>
          <a:prstGeom prst="roundRect">
            <a:avLst>
              <a:gd name="adj" fmla="val 9600"/>
            </a:avLst>
          </a:prstGeom>
          <a:solidFill>
            <a:srgbClr val="EAEEF0"/>
          </a:solidFill>
          <a:ln w="12700">
            <a:solidFill>
              <a:srgbClr val="EAEEF0"/>
            </a:solidFill>
            <a:prstDash val="solid"/>
          </a:ln>
          <a:effectLst>
            <a:outerShdw blurRad="76200" dist="25400" dir="5400000" algn="bl" rotWithShape="0">
              <a:srgbClr val="000000">
                <a:alpha val="12000"/>
              </a:srgbClr>
            </a:outerShdw>
          </a:effectLst>
        </p:spPr>
      </p:sp>
      <p:sp>
        <p:nvSpPr>
          <p:cNvPr id="4" name="Text 2"/>
          <p:cNvSpPr txBox="1"/>
          <p:nvPr/>
        </p:nvSpPr>
        <p:spPr>
          <a:xfrm>
            <a:off x="777240" y="1371600"/>
            <a:ext cx="2743200" cy="228600"/>
          </a:xfrm>
          <a:prstGeom prst="rect">
            <a:avLst/>
          </a:prstGeom>
          <a:noFill/>
          <a:ln/>
        </p:spPr>
        <p:txBody>
          <a:bodyPr wrap="square" lIns="0" tIns="0" rIns="0" bIns="0" rtlCol="0" anchor="t"/>
          <a:lstStyle/>
          <a:p>
            <a:pPr marL="0" indent="0">
              <a:buNone/>
            </a:pPr>
            <a:r>
              <a:rPr lang="en-US" sz="1000" b="1" kern="0" spc="100" dirty="0">
                <a:solidFill>
                  <a:srgbClr val="5B6B73"/>
                </a:solidFill>
              </a:rPr>
              <a:t>VALIDATION STATUS</a:t>
            </a:r>
            <a:endParaRPr lang="en-US" sz="1000" dirty="0"/>
          </a:p>
        </p:txBody>
      </p:sp>
      <p:sp>
        <p:nvSpPr>
          <p:cNvPr id="5" name="Text 3"/>
          <p:cNvSpPr txBox="1"/>
          <p:nvPr/>
        </p:nvSpPr>
        <p:spPr>
          <a:xfrm>
            <a:off x="777240" y="1600200"/>
            <a:ext cx="10652760" cy="777240"/>
          </a:xfrm>
          <a:prstGeom prst="rect">
            <a:avLst/>
          </a:prstGeom>
          <a:noFill/>
          <a:ln/>
        </p:spPr>
        <p:txBody>
          <a:bodyPr wrap="square" lIns="0" tIns="0" rIns="0" bIns="0" rtlCol="0" anchor="t"/>
          <a:lstStyle/>
          <a:p>
            <a:pPr marL="0" indent="0">
              <a:buNone/>
            </a:pPr>
            <a:r>
              <a:rPr lang="en-US" sz="1300" i="1" dirty="0">
                <a:solidFill>
                  <a:srgbClr val="1F2933"/>
                </a:solidFill>
              </a:rPr>
              <a:t>In the short window available we could not get time with working farmers or dispatchers. Farmers were unavailable at short notice, and dispatchers and commission agents were difficult to reach quickly. So this round's evidence is mainly published research and expert/second-hand input, plus [PLACEHOLDER: number and type of any calls or surveys we did complete]. Our next step is direct interviews, listed on the roadmap slide.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560320"/>
          <a:ext cx="11064240" cy="3044952"/>
        </p:xfrm>
        <a:graphic>
          <a:graphicData uri="http://schemas.openxmlformats.org/drawingml/2006/table">
            <a:tbl>
              <a:tblPr/>
              <a:tblGrid>
                <a:gridCol w="45720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38328">
                <a:tc>
                  <a:txBody>
                    <a:bodyPr/>
                    <a:lstStyle/>
                    <a:p>
                      <a:pPr marL="0" indent="0">
                        <a:buNone/>
                      </a:pPr>
                      <a:r>
                        <a:rPr lang="en-US" sz="1300" b="1" dirty="0">
                          <a:solidFill>
                            <a:srgbClr val="FFFFFF"/>
                          </a:solidFill>
                        </a:rPr>
                        <a:t>Assumption</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0B3D2E"/>
                    </a:solidFill>
                  </a:tcPr>
                </a:tc>
                <a:tc>
                  <a:txBody>
                    <a:bodyPr/>
                    <a:lstStyle/>
                    <a:p>
                      <a:pPr marL="0" indent="0">
                        <a:buNone/>
                      </a:pPr>
                      <a:r>
                        <a:rPr lang="en-US" sz="1300" b="1" dirty="0">
                          <a:solidFill>
                            <a:srgbClr val="FFFFFF"/>
                          </a:solidFill>
                        </a:rPr>
                        <a:t>How 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0B3D2E"/>
                    </a:solidFill>
                  </a:tcPr>
                </a:tc>
                <a:tc>
                  <a:txBody>
                    <a:bodyPr/>
                    <a:lstStyle/>
                    <a:p>
                      <a:pPr marL="0" indent="0">
                        <a:buNone/>
                      </a:pPr>
                      <a:r>
                        <a:rPr lang="en-US" sz="1300" b="1" dirty="0">
                          <a:solidFill>
                            <a:srgbClr val="FFFFFF"/>
                          </a:solidFill>
                        </a:rPr>
                        <a:t>Evidence</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0B3D2E"/>
                    </a:solidFill>
                  </a:tcPr>
                </a:tc>
                <a:tc>
                  <a:txBody>
                    <a:bodyPr/>
                    <a:lstStyle/>
                    <a:p>
                      <a:pPr marL="0" indent="0">
                        <a:buNone/>
                      </a:pPr>
                      <a:r>
                        <a:rPr lang="en-US" sz="1300" b="1" dirty="0">
                          <a:solidFill>
                            <a:srgbClr val="FFFFFF"/>
                          </a:solidFill>
                        </a:rPr>
                        <a:t>Status</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338328">
                <a:tc>
                  <a:txBody>
                    <a:bodyPr/>
                    <a:lstStyle/>
                    <a:p>
                      <a:pPr marL="0" indent="0">
                        <a:buNone/>
                      </a:pPr>
                      <a:r>
                        <a:rPr lang="en-US" sz="1300" dirty="0">
                          <a:solidFill>
                            <a:srgbClr val="1F2933"/>
                          </a:solidFill>
                        </a:rPr>
                        <a:t>QR lots and two-party handovers are a usable workflow</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Automated end-to-end tests</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Software works; no user trials yet</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b="1" dirty="0">
                          <a:solidFill>
                            <a:srgbClr val="8A5A00"/>
                          </a:solidFill>
                        </a:rPr>
                        <a:t>Untested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300" dirty="0">
                          <a:solidFill>
                            <a:srgbClr val="1F2933"/>
                          </a:solidFill>
                        </a:rPr>
                        <a:t>One-tap wastage logging fits daily work</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Automated tests</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Software works; no user trials yet</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b="1" dirty="0">
                          <a:solidFill>
                            <a:srgbClr val="8A5A00"/>
                          </a:solidFill>
                        </a:rPr>
                        <a:t>Untested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300" dirty="0">
                          <a:solidFill>
                            <a:srgbClr val="1F2933"/>
                          </a:solidFill>
                        </a:rPr>
                        <a:t>Shelf-life lights and crowd meter are useful signals</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Not yet tested with users</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[PLACEHOLDER]</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b="1" dirty="0">
                          <a:solidFill>
                            <a:srgbClr val="8A5A00"/>
                          </a:solidFill>
                        </a:rPr>
                        <a:t>Untested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1300" dirty="0">
                          <a:solidFill>
                            <a:srgbClr val="1F2933"/>
                          </a:solidFill>
                        </a:rPr>
                        <a:t>NGOs can act within a 2-hour claim window</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Not yet tested with NGOs</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[PLACEHOLDER]</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b="1" dirty="0">
                          <a:solidFill>
                            <a:srgbClr val="8A5A00"/>
                          </a:solidFill>
                        </a:rPr>
                        <a:t>Untested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1300" dirty="0">
                          <a:solidFill>
                            <a:srgbClr val="1F2933"/>
                          </a:solidFill>
                        </a:rPr>
                        <a:t>Quality-aware routing improves outcomes overall</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Pre-registered simulation, 3 seasons</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No overall winner (next slide)</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b="1" dirty="0">
                          <a:solidFill>
                            <a:srgbClr val="B42318"/>
                          </a:solidFill>
                        </a:rPr>
                        <a:t>Unsupported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buNone/>
                      </a:pPr>
                      <a:r>
                        <a:rPr lang="en-US" sz="1300" dirty="0">
                          <a:solidFill>
                            <a:srgbClr val="1F2933"/>
                          </a:solidFill>
                        </a:rPr>
                        <a:t>Dispatchers and traders would adopt it</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Not yet 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[PLACEHOLDER]</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b="1" dirty="0">
                          <a:solidFill>
                            <a:srgbClr val="8A5A00"/>
                          </a:solidFill>
                        </a:rPr>
                        <a:t>Untested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buNone/>
                      </a:pPr>
                      <a:r>
                        <a:rPr lang="en-US" sz="1300" dirty="0">
                          <a:solidFill>
                            <a:srgbClr val="1F2933"/>
                          </a:solidFill>
                        </a:rPr>
                        <a:t>Route recommendations are commercially useful</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Not yet 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[PLACEHOLDER]</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b="1" dirty="0">
                          <a:solidFill>
                            <a:srgbClr val="8A5A00"/>
                          </a:solidFill>
                        </a:rPr>
                        <a:t>Untested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buNone/>
                      </a:pPr>
                      <a:r>
                        <a:rPr lang="en-US" sz="1300" dirty="0">
                          <a:solidFill>
                            <a:srgbClr val="1F2933"/>
                          </a:solidFill>
                        </a:rPr>
                        <a:t>Stakeholders would pay</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Not yet 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[PLACEHOLDER]</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300" b="1" dirty="0">
                          <a:solidFill>
                            <a:srgbClr val="8A5A00"/>
                          </a:solidFill>
                        </a:rPr>
                        <a:t>Untested</a:t>
                      </a:r>
                      <a:endParaRPr lang="en-US" sz="1300" dirty="0"/>
                    </a:p>
                  </a:txBody>
                  <a:tcPr marL="73152" marR="73152"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chip INTERPRETATION"/>
          <p:cNvSpPr/>
          <p:nvPr/>
        </p:nvSpPr>
        <p:spPr>
          <a:xfrm>
            <a:off x="548640" y="5779008"/>
            <a:ext cx="1272845" cy="256032"/>
          </a:xfrm>
          <a:prstGeom prst="roundRect">
            <a:avLst>
              <a:gd name="adj" fmla="val 50000"/>
            </a:avLst>
          </a:prstGeom>
          <a:solidFill>
            <a:srgbClr val="5B6B73"/>
          </a:solidFill>
          <a:ln w="12700">
            <a:solidFill>
              <a:srgbClr val="5B6B73"/>
            </a:solidFill>
            <a:prstDash val="solid"/>
          </a:ln>
        </p:spPr>
      </p:sp>
      <p:sp>
        <p:nvSpPr>
          <p:cNvPr id="8" name="Text 5"/>
          <p:cNvSpPr txBox="1"/>
          <p:nvPr/>
        </p:nvSpPr>
        <p:spPr>
          <a:xfrm>
            <a:off x="548640" y="5779008"/>
            <a:ext cx="1272845"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INTERPRETATION</a:t>
            </a:r>
            <a:endParaRPr lang="en-US" sz="1000" dirty="0"/>
          </a:p>
        </p:txBody>
      </p:sp>
      <p:sp>
        <p:nvSpPr>
          <p:cNvPr id="9" name="Text 6"/>
          <p:cNvSpPr txBox="1"/>
          <p:nvPr/>
        </p:nvSpPr>
        <p:spPr>
          <a:xfrm>
            <a:off x="1920240" y="5742432"/>
            <a:ext cx="9692640" cy="457200"/>
          </a:xfrm>
          <a:prstGeom prst="rect">
            <a:avLst/>
          </a:prstGeom>
          <a:noFill/>
          <a:ln/>
        </p:spPr>
        <p:txBody>
          <a:bodyPr wrap="square" lIns="0" tIns="0" rIns="0" bIns="0" rtlCol="0" anchor="t"/>
          <a:lstStyle/>
          <a:p>
            <a:pPr marL="0" indent="0">
              <a:buNone/>
            </a:pPr>
            <a:r>
              <a:rPr lang="en-US" sz="1300" dirty="0">
                <a:solidFill>
                  <a:srgbClr val="5B6B73"/>
                </a:solidFill>
              </a:rPr>
              <a:t>Published modelling (Manouchehri et al., 2020) supports treating quality as time- and temperature-dependent. It is not evidence that our system works.</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What the simulation taught us, and what changed</a:t>
            </a:r>
            <a:endParaRPr lang="en-US" sz="3600" dirty="0"/>
          </a:p>
        </p:txBody>
      </p:sp>
      <p:sp>
        <p:nvSpPr>
          <p:cNvPr id="3" name="simulation evidence card"/>
          <p:cNvSpPr/>
          <p:nvPr/>
        </p:nvSpPr>
        <p:spPr>
          <a:xfrm>
            <a:off x="548640" y="1325880"/>
            <a:ext cx="5120640" cy="4800600"/>
          </a:xfrm>
          <a:prstGeom prst="roundRect">
            <a:avLst>
              <a:gd name="adj" fmla="val 2286"/>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4" name="Text 2"/>
          <p:cNvSpPr txBox="1"/>
          <p:nvPr/>
        </p:nvSpPr>
        <p:spPr>
          <a:xfrm>
            <a:off x="777240" y="1463040"/>
            <a:ext cx="4663440" cy="365760"/>
          </a:xfrm>
          <a:prstGeom prst="rect">
            <a:avLst/>
          </a:prstGeom>
          <a:noFill/>
          <a:ln/>
        </p:spPr>
        <p:txBody>
          <a:bodyPr wrap="square" lIns="0" tIns="0" rIns="0" bIns="0" rtlCol="0" anchor="t"/>
          <a:lstStyle/>
          <a:p>
            <a:pPr marL="0" indent="0">
              <a:buNone/>
            </a:pPr>
            <a:r>
              <a:rPr lang="en-US" sz="1800" b="1" dirty="0">
                <a:solidFill>
                  <a:srgbClr val="0B3D2E"/>
                </a:solidFill>
              </a:rPr>
              <a:t>Pre-registered simulation result</a:t>
            </a:r>
            <a:endParaRPr lang="en-US" sz="1800" dirty="0"/>
          </a:p>
        </p:txBody>
      </p:sp>
      <p:sp>
        <p:nvSpPr>
          <p:cNvPr id="5" name="chip DOCUMENTED"/>
          <p:cNvSpPr/>
          <p:nvPr/>
        </p:nvSpPr>
        <p:spPr>
          <a:xfrm>
            <a:off x="777240" y="1874520"/>
            <a:ext cx="987552" cy="256032"/>
          </a:xfrm>
          <a:prstGeom prst="roundRect">
            <a:avLst>
              <a:gd name="adj" fmla="val 50000"/>
            </a:avLst>
          </a:prstGeom>
          <a:solidFill>
            <a:srgbClr val="0F766E"/>
          </a:solidFill>
          <a:ln w="12700">
            <a:solidFill>
              <a:srgbClr val="0F766E"/>
            </a:solidFill>
            <a:prstDash val="solid"/>
          </a:ln>
        </p:spPr>
      </p:sp>
      <p:sp>
        <p:nvSpPr>
          <p:cNvPr id="6" name="Text 4"/>
          <p:cNvSpPr txBox="1"/>
          <p:nvPr/>
        </p:nvSpPr>
        <p:spPr>
          <a:xfrm>
            <a:off x="777240" y="1874520"/>
            <a:ext cx="987552"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DOCUMENTED</a:t>
            </a:r>
            <a:endParaRPr lang="en-US" sz="1000" dirty="0"/>
          </a:p>
        </p:txBody>
      </p:sp>
      <p:sp>
        <p:nvSpPr>
          <p:cNvPr id="7" name="icon circle FaEquals"/>
          <p:cNvSpPr/>
          <p:nvPr/>
        </p:nvSpPr>
        <p:spPr>
          <a:xfrm>
            <a:off x="777240" y="2331720"/>
            <a:ext cx="548640" cy="548640"/>
          </a:xfrm>
          <a:prstGeom prst="ellipse">
            <a:avLst/>
          </a:prstGeom>
          <a:solidFill>
            <a:srgbClr val="5B6B73"/>
          </a:solidFill>
          <a:ln w="12700">
            <a:solidFill>
              <a:srgbClr val="5B6B73"/>
            </a:solidFill>
            <a:prstDash val="solid"/>
          </a:ln>
        </p:spPr>
      </p:sp>
      <p:pic>
        <p:nvPicPr>
          <p:cNvPr id="8" name="Image 0" descr="Equals icon"/>
          <p:cNvPicPr>
            <a:picLocks noChangeAspect="1"/>
          </p:cNvPicPr>
          <p:nvPr/>
        </p:nvPicPr>
        <p:blipFill>
          <a:blip r:embed="rId3"/>
          <a:stretch>
            <a:fillRect/>
          </a:stretch>
        </p:blipFill>
        <p:spPr>
          <a:xfrm>
            <a:off x="925373" y="2479853"/>
            <a:ext cx="252374" cy="252374"/>
          </a:xfrm>
          <a:prstGeom prst="rect">
            <a:avLst/>
          </a:prstGeom>
        </p:spPr>
      </p:pic>
      <p:sp>
        <p:nvSpPr>
          <p:cNvPr id="9" name="Text 6"/>
          <p:cNvSpPr txBox="1"/>
          <p:nvPr/>
        </p:nvSpPr>
        <p:spPr>
          <a:xfrm>
            <a:off x="1463040" y="2313432"/>
            <a:ext cx="3931920" cy="256032"/>
          </a:xfrm>
          <a:prstGeom prst="rect">
            <a:avLst/>
          </a:prstGeom>
          <a:noFill/>
          <a:ln/>
        </p:spPr>
        <p:txBody>
          <a:bodyPr wrap="square" lIns="0" tIns="0" rIns="0" bIns="0" rtlCol="0" anchor="t"/>
          <a:lstStyle/>
          <a:p>
            <a:pPr marL="0" indent="0">
              <a:buNone/>
            </a:pPr>
            <a:r>
              <a:rPr lang="en-US" sz="1200" b="1" dirty="0">
                <a:solidFill>
                  <a:srgbClr val="5B6B73"/>
                </a:solidFill>
              </a:rPr>
              <a:t>Overall</a:t>
            </a:r>
            <a:endParaRPr lang="en-US" sz="1200" dirty="0"/>
          </a:p>
        </p:txBody>
      </p:sp>
      <p:sp>
        <p:nvSpPr>
          <p:cNvPr id="10" name="Text 7"/>
          <p:cNvSpPr txBox="1"/>
          <p:nvPr/>
        </p:nvSpPr>
        <p:spPr>
          <a:xfrm>
            <a:off x="1463040" y="2551176"/>
            <a:ext cx="4023360" cy="365760"/>
          </a:xfrm>
          <a:prstGeom prst="rect">
            <a:avLst/>
          </a:prstGeom>
          <a:noFill/>
          <a:ln/>
        </p:spPr>
        <p:txBody>
          <a:bodyPr wrap="square" lIns="0" tIns="0" rIns="0" bIns="0" rtlCol="0" anchor="t"/>
          <a:lstStyle/>
          <a:p>
            <a:pPr marL="0" indent="0">
              <a:buNone/>
            </a:pPr>
            <a:r>
              <a:rPr lang="en-US" sz="1800" b="1" dirty="0">
                <a:solidFill>
                  <a:srgbClr val="1F2933"/>
                </a:solidFill>
              </a:rPr>
              <a:t>No overall winner</a:t>
            </a:r>
            <a:endParaRPr lang="en-US" sz="1800" dirty="0"/>
          </a:p>
        </p:txBody>
      </p:sp>
      <p:sp>
        <p:nvSpPr>
          <p:cNvPr id="11" name="icon circle FaArrowDown"/>
          <p:cNvSpPr/>
          <p:nvPr/>
        </p:nvSpPr>
        <p:spPr>
          <a:xfrm>
            <a:off x="777240" y="3108960"/>
            <a:ext cx="548640" cy="548640"/>
          </a:xfrm>
          <a:prstGeom prst="ellipse">
            <a:avLst/>
          </a:prstGeom>
          <a:solidFill>
            <a:srgbClr val="0F766E"/>
          </a:solidFill>
          <a:ln w="12700">
            <a:solidFill>
              <a:srgbClr val="0F766E"/>
            </a:solidFill>
            <a:prstDash val="solid"/>
          </a:ln>
        </p:spPr>
      </p:sp>
      <p:pic>
        <p:nvPicPr>
          <p:cNvPr id="12" name="Image 1" descr="ArrowDown icon"/>
          <p:cNvPicPr>
            <a:picLocks noChangeAspect="1"/>
          </p:cNvPicPr>
          <p:nvPr/>
        </p:nvPicPr>
        <p:blipFill>
          <a:blip r:embed="rId4"/>
          <a:stretch>
            <a:fillRect/>
          </a:stretch>
        </p:blipFill>
        <p:spPr>
          <a:xfrm>
            <a:off x="925373" y="3257093"/>
            <a:ext cx="252374" cy="252374"/>
          </a:xfrm>
          <a:prstGeom prst="rect">
            <a:avLst/>
          </a:prstGeom>
        </p:spPr>
      </p:pic>
      <p:sp>
        <p:nvSpPr>
          <p:cNvPr id="13" name="Text 9"/>
          <p:cNvSpPr txBox="1"/>
          <p:nvPr/>
        </p:nvSpPr>
        <p:spPr>
          <a:xfrm>
            <a:off x="1463040" y="3090672"/>
            <a:ext cx="3931920" cy="256032"/>
          </a:xfrm>
          <a:prstGeom prst="rect">
            <a:avLst/>
          </a:prstGeom>
          <a:noFill/>
          <a:ln/>
        </p:spPr>
        <p:txBody>
          <a:bodyPr wrap="square" lIns="0" tIns="0" rIns="0" bIns="0" rtlCol="0" anchor="t"/>
          <a:lstStyle/>
          <a:p>
            <a:pPr marL="0" indent="0">
              <a:buNone/>
            </a:pPr>
            <a:r>
              <a:rPr lang="en-US" sz="1200" b="1" dirty="0">
                <a:solidFill>
                  <a:srgbClr val="5B6B73"/>
                </a:solidFill>
              </a:rPr>
              <a:t>Summer wastage</a:t>
            </a:r>
            <a:endParaRPr lang="en-US" sz="1200" dirty="0"/>
          </a:p>
        </p:txBody>
      </p:sp>
      <p:sp>
        <p:nvSpPr>
          <p:cNvPr id="14" name="Text 10"/>
          <p:cNvSpPr txBox="1"/>
          <p:nvPr/>
        </p:nvSpPr>
        <p:spPr>
          <a:xfrm>
            <a:off x="1463040" y="3328416"/>
            <a:ext cx="4023360" cy="365760"/>
          </a:xfrm>
          <a:prstGeom prst="rect">
            <a:avLst/>
          </a:prstGeom>
          <a:noFill/>
          <a:ln/>
        </p:spPr>
        <p:txBody>
          <a:bodyPr wrap="square" lIns="0" tIns="0" rIns="0" bIns="0" rtlCol="0" anchor="t"/>
          <a:lstStyle/>
          <a:p>
            <a:pPr marL="0" indent="0">
              <a:buNone/>
            </a:pPr>
            <a:r>
              <a:rPr lang="en-US" sz="1800" b="1" dirty="0">
                <a:solidFill>
                  <a:srgbClr val="1F2933"/>
                </a:solidFill>
              </a:rPr>
              <a:t>Lower</a:t>
            </a:r>
            <a:endParaRPr lang="en-US" sz="1800" dirty="0"/>
          </a:p>
        </p:txBody>
      </p:sp>
      <p:sp>
        <p:nvSpPr>
          <p:cNvPr id="15" name="icon circle FaArrowDown"/>
          <p:cNvSpPr/>
          <p:nvPr/>
        </p:nvSpPr>
        <p:spPr>
          <a:xfrm>
            <a:off x="777240" y="3886200"/>
            <a:ext cx="548640" cy="548640"/>
          </a:xfrm>
          <a:prstGeom prst="ellipse">
            <a:avLst/>
          </a:prstGeom>
          <a:solidFill>
            <a:srgbClr val="0F766E"/>
          </a:solidFill>
          <a:ln w="12700">
            <a:solidFill>
              <a:srgbClr val="0F766E"/>
            </a:solidFill>
            <a:prstDash val="solid"/>
          </a:ln>
        </p:spPr>
      </p:sp>
      <p:pic>
        <p:nvPicPr>
          <p:cNvPr id="16" name="Image 2" descr="ArrowDown icon"/>
          <p:cNvPicPr>
            <a:picLocks noChangeAspect="1"/>
          </p:cNvPicPr>
          <p:nvPr/>
        </p:nvPicPr>
        <p:blipFill>
          <a:blip r:embed="rId4"/>
          <a:stretch>
            <a:fillRect/>
          </a:stretch>
        </p:blipFill>
        <p:spPr>
          <a:xfrm>
            <a:off x="925373" y="4034333"/>
            <a:ext cx="252374" cy="252374"/>
          </a:xfrm>
          <a:prstGeom prst="rect">
            <a:avLst/>
          </a:prstGeom>
        </p:spPr>
      </p:pic>
      <p:sp>
        <p:nvSpPr>
          <p:cNvPr id="17" name="Text 12"/>
          <p:cNvSpPr txBox="1"/>
          <p:nvPr/>
        </p:nvSpPr>
        <p:spPr>
          <a:xfrm>
            <a:off x="1463040" y="3867912"/>
            <a:ext cx="3931920" cy="256032"/>
          </a:xfrm>
          <a:prstGeom prst="rect">
            <a:avLst/>
          </a:prstGeom>
          <a:noFill/>
          <a:ln/>
        </p:spPr>
        <p:txBody>
          <a:bodyPr wrap="square" lIns="0" tIns="0" rIns="0" bIns="0" rtlCol="0" anchor="t"/>
          <a:lstStyle/>
          <a:p>
            <a:pPr marL="0" indent="0">
              <a:buNone/>
            </a:pPr>
            <a:r>
              <a:rPr lang="en-US" sz="1200" b="1" dirty="0">
                <a:solidFill>
                  <a:srgbClr val="5B6B73"/>
                </a:solidFill>
              </a:rPr>
              <a:t>Monsoon wastage</a:t>
            </a:r>
            <a:endParaRPr lang="en-US" sz="1200" dirty="0"/>
          </a:p>
        </p:txBody>
      </p:sp>
      <p:sp>
        <p:nvSpPr>
          <p:cNvPr id="18" name="Text 13"/>
          <p:cNvSpPr txBox="1"/>
          <p:nvPr/>
        </p:nvSpPr>
        <p:spPr>
          <a:xfrm>
            <a:off x="1463040" y="4105656"/>
            <a:ext cx="4023360" cy="365760"/>
          </a:xfrm>
          <a:prstGeom prst="rect">
            <a:avLst/>
          </a:prstGeom>
          <a:noFill/>
          <a:ln/>
        </p:spPr>
        <p:txBody>
          <a:bodyPr wrap="square" lIns="0" tIns="0" rIns="0" bIns="0" rtlCol="0" anchor="t"/>
          <a:lstStyle/>
          <a:p>
            <a:pPr marL="0" indent="0">
              <a:buNone/>
            </a:pPr>
            <a:r>
              <a:rPr lang="en-US" sz="1800" b="1" dirty="0">
                <a:solidFill>
                  <a:srgbClr val="1F2933"/>
                </a:solidFill>
              </a:rPr>
              <a:t>Lower</a:t>
            </a:r>
            <a:endParaRPr lang="en-US" sz="1800" dirty="0"/>
          </a:p>
        </p:txBody>
      </p:sp>
      <p:sp>
        <p:nvSpPr>
          <p:cNvPr id="19" name="icon circle FaArrowUp"/>
          <p:cNvSpPr/>
          <p:nvPr/>
        </p:nvSpPr>
        <p:spPr>
          <a:xfrm>
            <a:off x="777240" y="4663440"/>
            <a:ext cx="548640" cy="548640"/>
          </a:xfrm>
          <a:prstGeom prst="ellipse">
            <a:avLst/>
          </a:prstGeom>
          <a:solidFill>
            <a:srgbClr val="B42318"/>
          </a:solidFill>
          <a:ln w="12700">
            <a:solidFill>
              <a:srgbClr val="B42318"/>
            </a:solidFill>
            <a:prstDash val="solid"/>
          </a:ln>
        </p:spPr>
      </p:sp>
      <p:pic>
        <p:nvPicPr>
          <p:cNvPr id="20" name="Image 3" descr="ArrowUp icon"/>
          <p:cNvPicPr>
            <a:picLocks noChangeAspect="1"/>
          </p:cNvPicPr>
          <p:nvPr/>
        </p:nvPicPr>
        <p:blipFill>
          <a:blip r:embed="rId5"/>
          <a:stretch>
            <a:fillRect/>
          </a:stretch>
        </p:blipFill>
        <p:spPr>
          <a:xfrm>
            <a:off x="925373" y="4811573"/>
            <a:ext cx="252374" cy="252374"/>
          </a:xfrm>
          <a:prstGeom prst="rect">
            <a:avLst/>
          </a:prstGeom>
        </p:spPr>
      </p:pic>
      <p:sp>
        <p:nvSpPr>
          <p:cNvPr id="21" name="Text 15"/>
          <p:cNvSpPr txBox="1"/>
          <p:nvPr/>
        </p:nvSpPr>
        <p:spPr>
          <a:xfrm>
            <a:off x="1463040" y="4645152"/>
            <a:ext cx="3931920" cy="256032"/>
          </a:xfrm>
          <a:prstGeom prst="rect">
            <a:avLst/>
          </a:prstGeom>
          <a:noFill/>
          <a:ln/>
        </p:spPr>
        <p:txBody>
          <a:bodyPr wrap="square" lIns="0" tIns="0" rIns="0" bIns="0" rtlCol="0" anchor="t"/>
          <a:lstStyle/>
          <a:p>
            <a:pPr marL="0" indent="0">
              <a:buNone/>
            </a:pPr>
            <a:r>
              <a:rPr lang="en-US" sz="1200" b="1" dirty="0">
                <a:solidFill>
                  <a:srgbClr val="5B6B73"/>
                </a:solidFill>
              </a:rPr>
              <a:t>Unmet demand</a:t>
            </a:r>
            <a:endParaRPr lang="en-US" sz="1200" dirty="0"/>
          </a:p>
        </p:txBody>
      </p:sp>
      <p:sp>
        <p:nvSpPr>
          <p:cNvPr id="22" name="Text 16"/>
          <p:cNvSpPr txBox="1"/>
          <p:nvPr/>
        </p:nvSpPr>
        <p:spPr>
          <a:xfrm>
            <a:off x="1463040" y="4882896"/>
            <a:ext cx="4023360" cy="365760"/>
          </a:xfrm>
          <a:prstGeom prst="rect">
            <a:avLst/>
          </a:prstGeom>
          <a:noFill/>
          <a:ln/>
        </p:spPr>
        <p:txBody>
          <a:bodyPr wrap="square" lIns="0" tIns="0" rIns="0" bIns="0" rtlCol="0" anchor="t"/>
          <a:lstStyle/>
          <a:p>
            <a:pPr marL="0" indent="0">
              <a:buNone/>
            </a:pPr>
            <a:r>
              <a:rPr lang="en-US" sz="1800" b="1" dirty="0">
                <a:solidFill>
                  <a:srgbClr val="B42318"/>
                </a:solidFill>
              </a:rPr>
              <a:t>Higher in every season</a:t>
            </a:r>
            <a:endParaRPr lang="en-US" sz="1800" dirty="0"/>
          </a:p>
        </p:txBody>
      </p:sp>
      <p:sp>
        <p:nvSpPr>
          <p:cNvPr id="23" name="Text 17"/>
          <p:cNvSpPr txBox="1"/>
          <p:nvPr/>
        </p:nvSpPr>
        <p:spPr>
          <a:xfrm>
            <a:off x="777240" y="5440680"/>
            <a:ext cx="4663440" cy="594360"/>
          </a:xfrm>
          <a:prstGeom prst="rect">
            <a:avLst/>
          </a:prstGeom>
          <a:noFill/>
          <a:ln/>
        </p:spPr>
        <p:txBody>
          <a:bodyPr wrap="square" lIns="0" tIns="0" rIns="0" bIns="0" rtlCol="0" anchor="t"/>
          <a:lstStyle/>
          <a:p>
            <a:pPr marL="0" indent="0">
              <a:buNone/>
            </a:pPr>
            <a:r>
              <a:rPr lang="en-US" sz="1200" dirty="0">
                <a:solidFill>
                  <a:srgbClr val="5B6B73"/>
                </a:solidFill>
              </a:rPr>
              <a:t>Same lots, weather and roads; only the routing policy differs. 20 seeds per season. Simulation output, not field-validated.</a:t>
            </a:r>
            <a:endParaRPr lang="en-US" sz="1200" dirty="0"/>
          </a:p>
        </p:txBody>
      </p:sp>
      <p:sp>
        <p:nvSpPr>
          <p:cNvPr id="24" name="Text 18"/>
          <p:cNvSpPr txBox="1"/>
          <p:nvPr/>
        </p:nvSpPr>
        <p:spPr>
          <a:xfrm>
            <a:off x="5989320" y="1325880"/>
            <a:ext cx="5486400" cy="365760"/>
          </a:xfrm>
          <a:prstGeom prst="rect">
            <a:avLst/>
          </a:prstGeom>
          <a:noFill/>
          <a:ln/>
        </p:spPr>
        <p:txBody>
          <a:bodyPr wrap="square" lIns="0" tIns="0" rIns="0" bIns="0" rtlCol="0" anchor="t"/>
          <a:lstStyle/>
          <a:p>
            <a:pPr marL="0" indent="0">
              <a:buNone/>
            </a:pPr>
            <a:r>
              <a:rPr lang="en-US" sz="2000" b="1" dirty="0">
                <a:solidFill>
                  <a:srgbClr val="0B3D2E"/>
                </a:solidFill>
              </a:rPr>
              <a:t>Changes already made</a:t>
            </a:r>
            <a:endParaRPr lang="en-US" sz="2000" dirty="0"/>
          </a:p>
        </p:txBody>
      </p:sp>
      <p:sp>
        <p:nvSpPr>
          <p:cNvPr id="25" name="change 1"/>
          <p:cNvSpPr/>
          <p:nvPr/>
        </p:nvSpPr>
        <p:spPr>
          <a:xfrm>
            <a:off x="5989320" y="1783080"/>
            <a:ext cx="5623560" cy="1371600"/>
          </a:xfrm>
          <a:prstGeom prst="roundRect">
            <a:avLst>
              <a:gd name="adj" fmla="val 8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6" name="icon circle FaRoute"/>
          <p:cNvSpPr/>
          <p:nvPr/>
        </p:nvSpPr>
        <p:spPr>
          <a:xfrm>
            <a:off x="6172200" y="1938528"/>
            <a:ext cx="502920" cy="502920"/>
          </a:xfrm>
          <a:prstGeom prst="ellipse">
            <a:avLst/>
          </a:prstGeom>
          <a:solidFill>
            <a:srgbClr val="0F766E"/>
          </a:solidFill>
          <a:ln w="12700">
            <a:solidFill>
              <a:srgbClr val="0F766E"/>
            </a:solidFill>
            <a:prstDash val="solid"/>
          </a:ln>
        </p:spPr>
      </p:sp>
      <p:pic>
        <p:nvPicPr>
          <p:cNvPr id="27" name="Image 4" descr="Route icon"/>
          <p:cNvPicPr>
            <a:picLocks noChangeAspect="1"/>
          </p:cNvPicPr>
          <p:nvPr/>
        </p:nvPicPr>
        <p:blipFill>
          <a:blip r:embed="rId6"/>
          <a:stretch>
            <a:fillRect/>
          </a:stretch>
        </p:blipFill>
        <p:spPr>
          <a:xfrm>
            <a:off x="6307988" y="2074316"/>
            <a:ext cx="231343" cy="231343"/>
          </a:xfrm>
          <a:prstGeom prst="rect">
            <a:avLst/>
          </a:prstGeom>
        </p:spPr>
      </p:pic>
      <p:sp>
        <p:nvSpPr>
          <p:cNvPr id="28" name="Text 21"/>
          <p:cNvSpPr txBox="1"/>
          <p:nvPr/>
        </p:nvSpPr>
        <p:spPr>
          <a:xfrm>
            <a:off x="6812280" y="1901952"/>
            <a:ext cx="4663440" cy="320040"/>
          </a:xfrm>
          <a:prstGeom prst="rect">
            <a:avLst/>
          </a:prstGeom>
          <a:noFill/>
          <a:ln/>
        </p:spPr>
        <p:txBody>
          <a:bodyPr wrap="square" lIns="0" tIns="0" rIns="0" bIns="0" rtlCol="0" anchor="t"/>
          <a:lstStyle/>
          <a:p>
            <a:pPr marL="0" indent="0">
              <a:buNone/>
            </a:pPr>
            <a:r>
              <a:rPr lang="en-US" sz="1500" b="1" dirty="0">
                <a:solidFill>
                  <a:srgbClr val="1F2933"/>
                </a:solidFill>
              </a:rPr>
              <a:t>Route Advisor: “The app recommends; you decide.”</a:t>
            </a:r>
            <a:endParaRPr lang="en-US" sz="1500" dirty="0"/>
          </a:p>
        </p:txBody>
      </p:sp>
      <p:sp>
        <p:nvSpPr>
          <p:cNvPr id="29" name="Text 22"/>
          <p:cNvSpPr txBox="1"/>
          <p:nvPr/>
        </p:nvSpPr>
        <p:spPr>
          <a:xfrm>
            <a:off x="6812280" y="2240280"/>
            <a:ext cx="4663440" cy="685800"/>
          </a:xfrm>
          <a:prstGeom prst="rect">
            <a:avLst/>
          </a:prstGeom>
          <a:noFill/>
          <a:ln/>
        </p:spPr>
        <p:txBody>
          <a:bodyPr wrap="square" lIns="0" tIns="0" rIns="0" bIns="0" rtlCol="0" anchor="t"/>
          <a:lstStyle/>
          <a:p>
            <a:pPr marL="0" indent="0">
              <a:buNone/>
            </a:pPr>
            <a:r>
              <a:rPr lang="en-US" sz="1300" dirty="0">
                <a:solidFill>
                  <a:srgbClr val="1F2933"/>
                </a:solidFill>
              </a:rPr>
              <a:t>Each result carries a caution: in simulation this policy cut waste in hot seasons but raised unmet demand. Both metrics are side by side in the Simulation Lab.</a:t>
            </a:r>
            <a:endParaRPr lang="en-US" sz="1300" dirty="0"/>
          </a:p>
        </p:txBody>
      </p:sp>
      <p:sp>
        <p:nvSpPr>
          <p:cNvPr id="30" name="chip DOCUMENTED"/>
          <p:cNvSpPr/>
          <p:nvPr/>
        </p:nvSpPr>
        <p:spPr>
          <a:xfrm>
            <a:off x="10378440" y="2852928"/>
            <a:ext cx="987552" cy="256032"/>
          </a:xfrm>
          <a:prstGeom prst="roundRect">
            <a:avLst>
              <a:gd name="adj" fmla="val 50000"/>
            </a:avLst>
          </a:prstGeom>
          <a:solidFill>
            <a:srgbClr val="0F766E"/>
          </a:solidFill>
          <a:ln w="12700">
            <a:solidFill>
              <a:srgbClr val="0F766E"/>
            </a:solidFill>
            <a:prstDash val="solid"/>
          </a:ln>
        </p:spPr>
      </p:sp>
      <p:sp>
        <p:nvSpPr>
          <p:cNvPr id="31" name="Text 24"/>
          <p:cNvSpPr txBox="1"/>
          <p:nvPr/>
        </p:nvSpPr>
        <p:spPr>
          <a:xfrm>
            <a:off x="10378440" y="2852928"/>
            <a:ext cx="987552"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DOCUMENTED</a:t>
            </a:r>
            <a:endParaRPr lang="en-US" sz="1000" dirty="0"/>
          </a:p>
        </p:txBody>
      </p:sp>
      <p:sp>
        <p:nvSpPr>
          <p:cNvPr id="32" name="change 2"/>
          <p:cNvSpPr/>
          <p:nvPr/>
        </p:nvSpPr>
        <p:spPr>
          <a:xfrm>
            <a:off x="5989320" y="3291840"/>
            <a:ext cx="5623560" cy="960120"/>
          </a:xfrm>
          <a:prstGeom prst="roundRect">
            <a:avLst>
              <a:gd name="adj" fmla="val 1142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33" name="icon circle FaUsers"/>
          <p:cNvSpPr/>
          <p:nvPr/>
        </p:nvSpPr>
        <p:spPr>
          <a:xfrm>
            <a:off x="6172200" y="3520440"/>
            <a:ext cx="502920" cy="502920"/>
          </a:xfrm>
          <a:prstGeom prst="ellipse">
            <a:avLst/>
          </a:prstGeom>
          <a:solidFill>
            <a:srgbClr val="0F766E"/>
          </a:solidFill>
          <a:ln w="12700">
            <a:solidFill>
              <a:srgbClr val="0F766E"/>
            </a:solidFill>
            <a:prstDash val="solid"/>
          </a:ln>
        </p:spPr>
      </p:sp>
      <p:pic>
        <p:nvPicPr>
          <p:cNvPr id="34" name="Image 5" descr="Users icon"/>
          <p:cNvPicPr>
            <a:picLocks noChangeAspect="1"/>
          </p:cNvPicPr>
          <p:nvPr/>
        </p:nvPicPr>
        <p:blipFill>
          <a:blip r:embed="rId7"/>
          <a:stretch>
            <a:fillRect/>
          </a:stretch>
        </p:blipFill>
        <p:spPr>
          <a:xfrm>
            <a:off x="6307988" y="3656228"/>
            <a:ext cx="231343" cy="231343"/>
          </a:xfrm>
          <a:prstGeom prst="rect">
            <a:avLst/>
          </a:prstGeom>
        </p:spPr>
      </p:pic>
      <p:sp>
        <p:nvSpPr>
          <p:cNvPr id="35" name="Text 27"/>
          <p:cNvSpPr txBox="1"/>
          <p:nvPr/>
        </p:nvSpPr>
        <p:spPr>
          <a:xfrm>
            <a:off x="6812280" y="3401568"/>
            <a:ext cx="4663440" cy="320040"/>
          </a:xfrm>
          <a:prstGeom prst="rect">
            <a:avLst/>
          </a:prstGeom>
          <a:noFill/>
          <a:ln/>
        </p:spPr>
        <p:txBody>
          <a:bodyPr wrap="square" lIns="0" tIns="0" rIns="0" bIns="0" rtlCol="0" anchor="t"/>
          <a:lstStyle/>
          <a:p>
            <a:pPr marL="0" indent="0">
              <a:buNone/>
            </a:pPr>
            <a:r>
              <a:rPr lang="en-US" sz="1500" b="1" dirty="0">
                <a:solidFill>
                  <a:srgbClr val="1F2933"/>
                </a:solidFill>
              </a:rPr>
              <a:t>First users join a staffed demo and pilot waitlist</a:t>
            </a:r>
            <a:endParaRPr lang="en-US" sz="1500" dirty="0"/>
          </a:p>
        </p:txBody>
      </p:sp>
      <p:sp>
        <p:nvSpPr>
          <p:cNvPr id="36" name="Text 28"/>
          <p:cNvSpPr txBox="1"/>
          <p:nvPr/>
        </p:nvSpPr>
        <p:spPr>
          <a:xfrm>
            <a:off x="6812280" y="3730752"/>
            <a:ext cx="3474720" cy="320040"/>
          </a:xfrm>
          <a:prstGeom prst="rect">
            <a:avLst/>
          </a:prstGeom>
          <a:noFill/>
          <a:ln/>
        </p:spPr>
        <p:txBody>
          <a:bodyPr wrap="square" lIns="0" tIns="0" rIns="0" bIns="0" rtlCol="0" anchor="t"/>
          <a:lstStyle/>
          <a:p>
            <a:pPr marL="0" indent="0">
              <a:buNone/>
            </a:pPr>
            <a:r>
              <a:rPr lang="en-US" sz="1300" dirty="0">
                <a:solidFill>
                  <a:srgbClr val="1F2933"/>
                </a:solidFill>
              </a:rPr>
              <a:t>Because sign-in is still a development stub.</a:t>
            </a:r>
            <a:endParaRPr lang="en-US" sz="1300" dirty="0"/>
          </a:p>
        </p:txBody>
      </p:sp>
      <p:sp>
        <p:nvSpPr>
          <p:cNvPr id="37" name="chip DOCUMENTED"/>
          <p:cNvSpPr/>
          <p:nvPr/>
        </p:nvSpPr>
        <p:spPr>
          <a:xfrm>
            <a:off x="10378440" y="3886200"/>
            <a:ext cx="987552" cy="256032"/>
          </a:xfrm>
          <a:prstGeom prst="roundRect">
            <a:avLst>
              <a:gd name="adj" fmla="val 50000"/>
            </a:avLst>
          </a:prstGeom>
          <a:solidFill>
            <a:srgbClr val="0F766E"/>
          </a:solidFill>
          <a:ln w="12700">
            <a:solidFill>
              <a:srgbClr val="0F766E"/>
            </a:solidFill>
            <a:prstDash val="solid"/>
          </a:ln>
        </p:spPr>
      </p:sp>
      <p:sp>
        <p:nvSpPr>
          <p:cNvPr id="38" name="Text 30"/>
          <p:cNvSpPr txBox="1"/>
          <p:nvPr/>
        </p:nvSpPr>
        <p:spPr>
          <a:xfrm>
            <a:off x="10378440" y="3886200"/>
            <a:ext cx="987552"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DOCUMENTED</a:t>
            </a:r>
            <a:endParaRPr lang="en-US" sz="1000" dirty="0"/>
          </a:p>
        </p:txBody>
      </p:sp>
      <p:sp>
        <p:nvSpPr>
          <p:cNvPr id="39" name="Text 31"/>
          <p:cNvSpPr txBox="1"/>
          <p:nvPr/>
        </p:nvSpPr>
        <p:spPr>
          <a:xfrm>
            <a:off x="5989320" y="4434840"/>
            <a:ext cx="3200400" cy="320040"/>
          </a:xfrm>
          <a:prstGeom prst="rect">
            <a:avLst/>
          </a:prstGeom>
          <a:noFill/>
          <a:ln/>
        </p:spPr>
        <p:txBody>
          <a:bodyPr wrap="square" lIns="0" tIns="0" rIns="0" bIns="0" rtlCol="0" anchor="t"/>
          <a:lstStyle/>
          <a:p>
            <a:pPr marL="0" indent="0">
              <a:buNone/>
            </a:pPr>
            <a:r>
              <a:rPr lang="en-US" sz="1600" b="1" dirty="0">
                <a:solidFill>
                  <a:srgbClr val="0B3D2E"/>
                </a:solidFill>
              </a:rPr>
              <a:t>To investigate next</a:t>
            </a:r>
            <a:endParaRPr lang="en-US" sz="1600" dirty="0"/>
          </a:p>
        </p:txBody>
      </p:sp>
      <p:sp>
        <p:nvSpPr>
          <p:cNvPr id="40" name="chip HYPOTHESIS TO VALIDATE"/>
          <p:cNvSpPr/>
          <p:nvPr/>
        </p:nvSpPr>
        <p:spPr>
          <a:xfrm>
            <a:off x="9601200" y="4462272"/>
            <a:ext cx="1843430" cy="256032"/>
          </a:xfrm>
          <a:prstGeom prst="roundRect">
            <a:avLst>
              <a:gd name="adj" fmla="val 50000"/>
            </a:avLst>
          </a:prstGeom>
          <a:solidFill>
            <a:srgbClr val="8A5A00"/>
          </a:solidFill>
          <a:ln w="12700">
            <a:solidFill>
              <a:srgbClr val="8A5A00"/>
            </a:solidFill>
            <a:prstDash val="solid"/>
          </a:ln>
        </p:spPr>
      </p:sp>
      <p:sp>
        <p:nvSpPr>
          <p:cNvPr id="41" name="Text 33"/>
          <p:cNvSpPr txBox="1"/>
          <p:nvPr/>
        </p:nvSpPr>
        <p:spPr>
          <a:xfrm>
            <a:off x="9601200" y="4462272"/>
            <a:ext cx="1843430"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 TO VALIDATE</a:t>
            </a:r>
            <a:endParaRPr lang="en-US" sz="1000" dirty="0"/>
          </a:p>
        </p:txBody>
      </p:sp>
      <p:sp>
        <p:nvSpPr>
          <p:cNvPr id="42" name="Text 34"/>
          <p:cNvSpPr txBox="1"/>
          <p:nvPr/>
        </p:nvSpPr>
        <p:spPr>
          <a:xfrm>
            <a:off x="6035040" y="4800600"/>
            <a:ext cx="5577840" cy="86868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rgbClr val="1F2933"/>
                </a:solidFill>
              </a:rPr>
              <a:t>Show the trade-off inside the advisor itself</a:t>
            </a:r>
            <a:endParaRPr lang="en-US" sz="1300" dirty="0"/>
          </a:p>
          <a:p>
            <a:pPr marL="342900" indent="-342900">
              <a:spcAft>
                <a:spcPts val="200"/>
              </a:spcAft>
              <a:buSzPct val="100000"/>
              <a:buChar char="•"/>
            </a:pPr>
            <a:r>
              <a:rPr lang="en-US" sz="1300" dirty="0">
                <a:solidFill>
                  <a:srgbClr val="1F2933"/>
                </a:solidFill>
              </a:rPr>
              <a:t>Clearer shelf-life view · simpler records for early users</a:t>
            </a:r>
            <a:endParaRPr lang="en-US" sz="1300" dirty="0"/>
          </a:p>
          <a:p>
            <a:pPr marL="342900" indent="-342900">
              <a:spcAft>
                <a:spcPts val="200"/>
              </a:spcAft>
              <a:buSzPct val="100000"/>
              <a:buChar char="•"/>
            </a:pPr>
            <a:r>
              <a:rPr lang="en-US" sz="1300" dirty="0">
                <a:solidFill>
                  <a:srgbClr val="1F2933"/>
                </a:solidFill>
              </a:rPr>
              <a:t>Human approval before any routing decision</a:t>
            </a:r>
            <a:endParaRPr lang="en-US" sz="1300" dirty="0"/>
          </a:p>
        </p:txBody>
      </p:sp>
      <p:sp>
        <p:nvSpPr>
          <p:cNvPr id="44"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Where we sit among existing tools</a:t>
            </a:r>
            <a:endParaRPr lang="en-US" sz="3600" dirty="0"/>
          </a:p>
        </p:txBody>
      </p:sp>
      <p:sp>
        <p:nvSpPr>
          <p:cNvPr id="3" name="quadrant TL"/>
          <p:cNvSpPr/>
          <p:nvPr/>
        </p:nvSpPr>
        <p:spPr>
          <a:xfrm>
            <a:off x="1051560" y="1371600"/>
            <a:ext cx="2194560" cy="2011680"/>
          </a:xfrm>
          <a:prstGeom prst="rect">
            <a:avLst/>
          </a:prstGeom>
          <a:solidFill>
            <a:srgbClr val="FFFFFF"/>
          </a:solidFill>
          <a:ln w="12700">
            <a:solidFill>
              <a:srgbClr val="D5DEDA"/>
            </a:solidFill>
            <a:prstDash val="solid"/>
          </a:ln>
        </p:spPr>
      </p:sp>
      <p:sp>
        <p:nvSpPr>
          <p:cNvPr id="4" name="quadrant TR"/>
          <p:cNvSpPr/>
          <p:nvPr/>
        </p:nvSpPr>
        <p:spPr>
          <a:xfrm>
            <a:off x="3246120" y="1371600"/>
            <a:ext cx="2194560" cy="2011680"/>
          </a:xfrm>
          <a:prstGeom prst="rect">
            <a:avLst/>
          </a:prstGeom>
          <a:solidFill>
            <a:srgbClr val="E3F1EF"/>
          </a:solidFill>
          <a:ln w="12700">
            <a:solidFill>
              <a:srgbClr val="D5DEDA"/>
            </a:solidFill>
            <a:prstDash val="solid"/>
          </a:ln>
        </p:spPr>
      </p:sp>
      <p:sp>
        <p:nvSpPr>
          <p:cNvPr id="5" name="quadrant BL"/>
          <p:cNvSpPr/>
          <p:nvPr/>
        </p:nvSpPr>
        <p:spPr>
          <a:xfrm>
            <a:off x="1051560" y="3383280"/>
            <a:ext cx="2194560" cy="2011680"/>
          </a:xfrm>
          <a:prstGeom prst="rect">
            <a:avLst/>
          </a:prstGeom>
          <a:solidFill>
            <a:srgbClr val="EEF4EF"/>
          </a:solidFill>
          <a:ln w="12700">
            <a:solidFill>
              <a:srgbClr val="D5DEDA"/>
            </a:solidFill>
            <a:prstDash val="solid"/>
          </a:ln>
        </p:spPr>
      </p:sp>
      <p:sp>
        <p:nvSpPr>
          <p:cNvPr id="6" name="quadrant BR"/>
          <p:cNvSpPr/>
          <p:nvPr/>
        </p:nvSpPr>
        <p:spPr>
          <a:xfrm>
            <a:off x="3246120" y="3383280"/>
            <a:ext cx="2194560" cy="2011680"/>
          </a:xfrm>
          <a:prstGeom prst="rect">
            <a:avLst/>
          </a:prstGeom>
          <a:solidFill>
            <a:srgbClr val="FFFFFF"/>
          </a:solidFill>
          <a:ln w="12700">
            <a:solidFill>
              <a:srgbClr val="D5DEDA"/>
            </a:solidFill>
            <a:prstDash val="solid"/>
          </a:ln>
        </p:spPr>
      </p:sp>
      <p:sp>
        <p:nvSpPr>
          <p:cNvPr id="7" name="Text 5"/>
          <p:cNvSpPr txBox="1"/>
          <p:nvPr/>
        </p:nvSpPr>
        <p:spPr>
          <a:xfrm>
            <a:off x="1051560" y="5468112"/>
            <a:ext cx="4389120" cy="274320"/>
          </a:xfrm>
          <a:prstGeom prst="rect">
            <a:avLst/>
          </a:prstGeom>
          <a:noFill/>
          <a:ln/>
        </p:spPr>
        <p:txBody>
          <a:bodyPr wrap="square" lIns="0" tIns="0" rIns="0" bIns="0" rtlCol="0" anchor="t"/>
          <a:lstStyle/>
          <a:p>
            <a:pPr marL="0" indent="0" algn="ctr">
              <a:buNone/>
            </a:pPr>
            <a:r>
              <a:rPr lang="en-US" sz="1200" b="1" dirty="0">
                <a:solidFill>
                  <a:srgbClr val="5B6B73"/>
                </a:solidFill>
              </a:rPr>
              <a:t>Traceability &amp; handover operations →</a:t>
            </a:r>
            <a:endParaRPr lang="en-US" sz="1200" dirty="0"/>
          </a:p>
        </p:txBody>
      </p:sp>
      <p:sp>
        <p:nvSpPr>
          <p:cNvPr id="8" name="Text 6"/>
          <p:cNvSpPr txBox="1"/>
          <p:nvPr/>
        </p:nvSpPr>
        <p:spPr>
          <a:xfrm rot="16200000">
            <a:off x="-1188720" y="3246120"/>
            <a:ext cx="4023360" cy="274320"/>
          </a:xfrm>
          <a:prstGeom prst="rect">
            <a:avLst/>
          </a:prstGeom>
          <a:noFill/>
          <a:ln/>
        </p:spPr>
        <p:txBody>
          <a:bodyPr wrap="square" lIns="0" tIns="0" rIns="0" bIns="0" rtlCol="0" anchor="t"/>
          <a:lstStyle/>
          <a:p>
            <a:pPr marL="0" indent="0" algn="ctr">
              <a:buNone/>
            </a:pPr>
            <a:r>
              <a:rPr lang="en-US" sz="1200" b="1" dirty="0">
                <a:solidFill>
                  <a:srgbClr val="5B6B73"/>
                </a:solidFill>
              </a:rPr>
              <a:t>Routing intelligence →</a:t>
            </a:r>
            <a:endParaRPr lang="en-US" sz="1200" dirty="0"/>
          </a:p>
        </p:txBody>
      </p:sp>
      <p:sp>
        <p:nvSpPr>
          <p:cNvPr id="9" name="dot Locus"/>
          <p:cNvSpPr/>
          <p:nvPr/>
        </p:nvSpPr>
        <p:spPr>
          <a:xfrm>
            <a:off x="1783080" y="2011680"/>
            <a:ext cx="201168" cy="201168"/>
          </a:xfrm>
          <a:prstGeom prst="ellipse">
            <a:avLst/>
          </a:prstGeom>
          <a:solidFill>
            <a:srgbClr val="5B6B73"/>
          </a:solidFill>
          <a:ln w="12700">
            <a:solidFill>
              <a:srgbClr val="5B6B73"/>
            </a:solidFill>
            <a:prstDash val="solid"/>
          </a:ln>
        </p:spPr>
      </p:sp>
      <p:sp>
        <p:nvSpPr>
          <p:cNvPr id="10" name="Text 8"/>
          <p:cNvSpPr txBox="1"/>
          <p:nvPr/>
        </p:nvSpPr>
        <p:spPr>
          <a:xfrm>
            <a:off x="2039112" y="1975104"/>
            <a:ext cx="1280160" cy="274320"/>
          </a:xfrm>
          <a:prstGeom prst="rect">
            <a:avLst/>
          </a:prstGeom>
          <a:noFill/>
          <a:ln/>
        </p:spPr>
        <p:txBody>
          <a:bodyPr wrap="square" lIns="0" tIns="0" rIns="0" bIns="0" rtlCol="0" anchor="t"/>
          <a:lstStyle/>
          <a:p>
            <a:pPr marL="0" indent="0">
              <a:buNone/>
            </a:pPr>
            <a:r>
              <a:rPr lang="en-US" sz="1200" b="1" dirty="0">
                <a:solidFill>
                  <a:srgbClr val="1F2933"/>
                </a:solidFill>
              </a:rPr>
              <a:t>Locus</a:t>
            </a:r>
            <a:endParaRPr lang="en-US" sz="1200" dirty="0"/>
          </a:p>
        </p:txBody>
      </p:sp>
      <p:sp>
        <p:nvSpPr>
          <p:cNvPr id="11" name="dot SourceTrace"/>
          <p:cNvSpPr/>
          <p:nvPr/>
        </p:nvSpPr>
        <p:spPr>
          <a:xfrm>
            <a:off x="4069080" y="4343400"/>
            <a:ext cx="201168" cy="201168"/>
          </a:xfrm>
          <a:prstGeom prst="ellipse">
            <a:avLst/>
          </a:prstGeom>
          <a:solidFill>
            <a:srgbClr val="5B6B73"/>
          </a:solidFill>
          <a:ln w="12700">
            <a:solidFill>
              <a:srgbClr val="5B6B73"/>
            </a:solidFill>
            <a:prstDash val="solid"/>
          </a:ln>
        </p:spPr>
      </p:sp>
      <p:sp>
        <p:nvSpPr>
          <p:cNvPr id="12" name="Text 10"/>
          <p:cNvSpPr txBox="1"/>
          <p:nvPr/>
        </p:nvSpPr>
        <p:spPr>
          <a:xfrm>
            <a:off x="4325112" y="4306824"/>
            <a:ext cx="1280160" cy="274320"/>
          </a:xfrm>
          <a:prstGeom prst="rect">
            <a:avLst/>
          </a:prstGeom>
          <a:noFill/>
          <a:ln/>
        </p:spPr>
        <p:txBody>
          <a:bodyPr wrap="square" lIns="0" tIns="0" rIns="0" bIns="0" rtlCol="0" anchor="t"/>
          <a:lstStyle/>
          <a:p>
            <a:pPr marL="0" indent="0">
              <a:buNone/>
            </a:pPr>
            <a:r>
              <a:rPr lang="en-US" sz="1200" b="1" dirty="0">
                <a:solidFill>
                  <a:srgbClr val="1F2933"/>
                </a:solidFill>
              </a:rPr>
              <a:t>SourceTrace</a:t>
            </a:r>
            <a:endParaRPr lang="en-US" sz="1200" dirty="0"/>
          </a:p>
        </p:txBody>
      </p:sp>
      <p:sp>
        <p:nvSpPr>
          <p:cNvPr id="13" name="dot TraceX"/>
          <p:cNvSpPr/>
          <p:nvPr/>
        </p:nvSpPr>
        <p:spPr>
          <a:xfrm>
            <a:off x="4297680" y="4892040"/>
            <a:ext cx="201168" cy="201168"/>
          </a:xfrm>
          <a:prstGeom prst="ellipse">
            <a:avLst/>
          </a:prstGeom>
          <a:solidFill>
            <a:srgbClr val="5B6B73"/>
          </a:solidFill>
          <a:ln w="12700">
            <a:solidFill>
              <a:srgbClr val="5B6B73"/>
            </a:solidFill>
            <a:prstDash val="solid"/>
          </a:ln>
        </p:spPr>
      </p:sp>
      <p:sp>
        <p:nvSpPr>
          <p:cNvPr id="14" name="Text 12"/>
          <p:cNvSpPr txBox="1"/>
          <p:nvPr/>
        </p:nvSpPr>
        <p:spPr>
          <a:xfrm>
            <a:off x="4553712" y="4855464"/>
            <a:ext cx="1280160" cy="274320"/>
          </a:xfrm>
          <a:prstGeom prst="rect">
            <a:avLst/>
          </a:prstGeom>
          <a:noFill/>
          <a:ln/>
        </p:spPr>
        <p:txBody>
          <a:bodyPr wrap="square" lIns="0" tIns="0" rIns="0" bIns="0" rtlCol="0" anchor="t"/>
          <a:lstStyle/>
          <a:p>
            <a:pPr marL="0" indent="0">
              <a:buNone/>
            </a:pPr>
            <a:r>
              <a:rPr lang="en-US" sz="1200" b="1" dirty="0">
                <a:solidFill>
                  <a:srgbClr val="1F2933"/>
                </a:solidFill>
              </a:rPr>
              <a:t>TraceX</a:t>
            </a:r>
            <a:endParaRPr lang="en-US" sz="1200" dirty="0"/>
          </a:p>
        </p:txBody>
      </p:sp>
      <p:sp>
        <p:nvSpPr>
          <p:cNvPr id="15" name="dot Agmarknet"/>
          <p:cNvSpPr/>
          <p:nvPr/>
        </p:nvSpPr>
        <p:spPr>
          <a:xfrm>
            <a:off x="1463040" y="4663440"/>
            <a:ext cx="201168" cy="201168"/>
          </a:xfrm>
          <a:prstGeom prst="ellipse">
            <a:avLst/>
          </a:prstGeom>
          <a:solidFill>
            <a:srgbClr val="5B6B73"/>
          </a:solidFill>
          <a:ln w="12700">
            <a:solidFill>
              <a:srgbClr val="5B6B73"/>
            </a:solidFill>
            <a:prstDash val="solid"/>
          </a:ln>
        </p:spPr>
      </p:sp>
      <p:sp>
        <p:nvSpPr>
          <p:cNvPr id="16" name="Text 14"/>
          <p:cNvSpPr txBox="1"/>
          <p:nvPr/>
        </p:nvSpPr>
        <p:spPr>
          <a:xfrm>
            <a:off x="1719072" y="4626864"/>
            <a:ext cx="1280160" cy="274320"/>
          </a:xfrm>
          <a:prstGeom prst="rect">
            <a:avLst/>
          </a:prstGeom>
          <a:noFill/>
          <a:ln/>
        </p:spPr>
        <p:txBody>
          <a:bodyPr wrap="square" lIns="0" tIns="0" rIns="0" bIns="0" rtlCol="0" anchor="t"/>
          <a:lstStyle/>
          <a:p>
            <a:pPr marL="0" indent="0">
              <a:buNone/>
            </a:pPr>
            <a:r>
              <a:rPr lang="en-US" sz="1200" b="1" dirty="0">
                <a:solidFill>
                  <a:srgbClr val="1F2933"/>
                </a:solidFill>
              </a:rPr>
              <a:t>Agmarknet</a:t>
            </a:r>
            <a:endParaRPr lang="en-US" sz="1200" dirty="0"/>
          </a:p>
        </p:txBody>
      </p:sp>
      <p:sp>
        <p:nvSpPr>
          <p:cNvPr id="17" name="dot e-NAM"/>
          <p:cNvSpPr/>
          <p:nvPr/>
        </p:nvSpPr>
        <p:spPr>
          <a:xfrm>
            <a:off x="2148840" y="4983480"/>
            <a:ext cx="201168" cy="201168"/>
          </a:xfrm>
          <a:prstGeom prst="ellipse">
            <a:avLst/>
          </a:prstGeom>
          <a:solidFill>
            <a:srgbClr val="5B6B73"/>
          </a:solidFill>
          <a:ln w="12700">
            <a:solidFill>
              <a:srgbClr val="5B6B73"/>
            </a:solidFill>
            <a:prstDash val="solid"/>
          </a:ln>
        </p:spPr>
      </p:sp>
      <p:sp>
        <p:nvSpPr>
          <p:cNvPr id="18" name="Text 16"/>
          <p:cNvSpPr txBox="1"/>
          <p:nvPr/>
        </p:nvSpPr>
        <p:spPr>
          <a:xfrm>
            <a:off x="2404872" y="4946904"/>
            <a:ext cx="1280160" cy="274320"/>
          </a:xfrm>
          <a:prstGeom prst="rect">
            <a:avLst/>
          </a:prstGeom>
          <a:noFill/>
          <a:ln/>
        </p:spPr>
        <p:txBody>
          <a:bodyPr wrap="square" lIns="0" tIns="0" rIns="0" bIns="0" rtlCol="0" anchor="t"/>
          <a:lstStyle/>
          <a:p>
            <a:pPr marL="0" indent="0">
              <a:buNone/>
            </a:pPr>
            <a:r>
              <a:rPr lang="en-US" sz="1200" b="1" dirty="0">
                <a:solidFill>
                  <a:srgbClr val="1F2933"/>
                </a:solidFill>
              </a:rPr>
              <a:t>e-NAM</a:t>
            </a:r>
            <a:endParaRPr lang="en-US" sz="1200" dirty="0"/>
          </a:p>
        </p:txBody>
      </p:sp>
      <p:sp>
        <p:nvSpPr>
          <p:cNvPr id="19" name="our prototype"/>
          <p:cNvSpPr/>
          <p:nvPr/>
        </p:nvSpPr>
        <p:spPr>
          <a:xfrm>
            <a:off x="3794760" y="2331720"/>
            <a:ext cx="548640" cy="548640"/>
          </a:xfrm>
          <a:prstGeom prst="ellipse">
            <a:avLst/>
          </a:prstGeom>
          <a:solidFill>
            <a:srgbClr val="E3F1EF"/>
          </a:solidFill>
          <a:ln w="25400">
            <a:solidFill>
              <a:srgbClr val="0F766E"/>
            </a:solidFill>
            <a:prstDash val="dash"/>
          </a:ln>
        </p:spPr>
      </p:sp>
      <p:sp>
        <p:nvSpPr>
          <p:cNvPr id="20" name="Text 18"/>
          <p:cNvSpPr txBox="1"/>
          <p:nvPr/>
        </p:nvSpPr>
        <p:spPr>
          <a:xfrm>
            <a:off x="3383280" y="2926080"/>
            <a:ext cx="2011680" cy="457200"/>
          </a:xfrm>
          <a:prstGeom prst="rect">
            <a:avLst/>
          </a:prstGeom>
          <a:noFill/>
          <a:ln/>
        </p:spPr>
        <p:txBody>
          <a:bodyPr wrap="square" lIns="0" tIns="0" rIns="0" bIns="0" rtlCol="0" anchor="t"/>
          <a:lstStyle/>
          <a:p>
            <a:pPr marL="0" indent="0" algn="ctr">
              <a:buNone/>
            </a:pPr>
            <a:r>
              <a:rPr lang="en-US" sz="1200" b="1" dirty="0">
                <a:solidFill>
                  <a:srgbClr val="0F766E"/>
                </a:solidFill>
              </a:rPr>
              <a:t>The Journey After Harvest (prototype)</a:t>
            </a:r>
            <a:endParaRPr lang="en-US" sz="1200" dirty="0"/>
          </a:p>
        </p:txBody>
      </p:sp>
      <p:sp>
        <p:nvSpPr>
          <p:cNvPr id="21" name="Text 19"/>
          <p:cNvSpPr txBox="1"/>
          <p:nvPr/>
        </p:nvSpPr>
        <p:spPr>
          <a:xfrm>
            <a:off x="3337560" y="1691640"/>
            <a:ext cx="2057400" cy="548640"/>
          </a:xfrm>
          <a:prstGeom prst="rect">
            <a:avLst/>
          </a:prstGeom>
          <a:noFill/>
          <a:ln/>
        </p:spPr>
        <p:txBody>
          <a:bodyPr wrap="square" lIns="0" tIns="0" rIns="0" bIns="0" rtlCol="0" anchor="t"/>
          <a:lstStyle/>
          <a:p>
            <a:pPr marL="0" indent="0" algn="ctr">
              <a:buNone/>
            </a:pPr>
            <a:r>
              <a:rPr lang="en-US" sz="1000" i="1" dirty="0">
                <a:solidFill>
                  <a:srgbClr val="0F766E"/>
                </a:solidFill>
              </a:rPr>
              <a:t>Routing is simulation-based; position is intended, not proven</a:t>
            </a:r>
            <a:endParaRPr lang="en-US" sz="1000" dirty="0"/>
          </a:p>
        </p:txBody>
      </p:sp>
      <p:sp>
        <p:nvSpPr>
          <p:cNvPr id="22" name="Text 20"/>
          <p:cNvSpPr txBox="1"/>
          <p:nvPr/>
        </p:nvSpPr>
        <p:spPr>
          <a:xfrm>
            <a:off x="548640" y="5806440"/>
            <a:ext cx="5120640" cy="457200"/>
          </a:xfrm>
          <a:prstGeom prst="rect">
            <a:avLst/>
          </a:prstGeom>
          <a:noFill/>
          <a:ln/>
        </p:spPr>
        <p:txBody>
          <a:bodyPr wrap="square" lIns="0" tIns="0" rIns="0" bIns="0" rtlCol="0" anchor="t"/>
          <a:lstStyle/>
          <a:p>
            <a:pPr marL="0" indent="0">
              <a:buNone/>
            </a:pPr>
            <a:r>
              <a:rPr lang="en-US" sz="1000" dirty="0">
                <a:solidFill>
                  <a:srgbClr val="5B6B73"/>
                </a:solidFill>
              </a:rPr>
              <a:t>Placement from each product's public website, reviewed 28 Oct 2026. Ninjacart not placed: not established from documentation.</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897880" y="1325880"/>
          <a:ext cx="5715000" cy="3200400"/>
        </p:xfrm>
        <a:graphic>
          <a:graphicData uri="http://schemas.openxmlformats.org/drawingml/2006/table">
            <a:tbl>
              <a:tblPr/>
              <a:tblGrid>
                <a:gridCol w="11887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457200">
                <a:tc>
                  <a:txBody>
                    <a:bodyPr/>
                    <a:lstStyle/>
                    <a:p>
                      <a:pPr marL="0" indent="0">
                        <a:buNone/>
                      </a:pPr>
                      <a:r>
                        <a:rPr lang="en-US" sz="1200" b="1" dirty="0">
                          <a:solidFill>
                            <a:srgbClr val="FFFFFF"/>
                          </a:solidFill>
                        </a:rPr>
                        <a:t>Product</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0B3D2E"/>
                    </a:solidFill>
                  </a:tcPr>
                </a:tc>
                <a:tc>
                  <a:txBody>
                    <a:bodyPr/>
                    <a:lstStyle/>
                    <a:p>
                      <a:pPr marL="0" indent="0">
                        <a:buNone/>
                      </a:pPr>
                      <a:r>
                        <a:rPr lang="en-US" sz="1200" b="1" dirty="0">
                          <a:solidFill>
                            <a:srgbClr val="FFFFFF"/>
                          </a:solidFill>
                        </a:rPr>
                        <a:t>Documented on its official site</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0B3D2E"/>
                    </a:solidFill>
                  </a:tcPr>
                </a:tc>
                <a:tc>
                  <a:txBody>
                    <a:bodyPr/>
                    <a:lstStyle/>
                    <a:p>
                      <a:pPr marL="0" indent="0">
                        <a:buNone/>
                      </a:pPr>
                      <a:r>
                        <a:rPr lang="en-US" sz="1200" b="1" dirty="0">
                          <a:solidFill>
                            <a:srgbClr val="FFFFFF"/>
                          </a:solidFill>
                        </a:rPr>
                        <a:t>Traceability</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0B3D2E"/>
                    </a:solidFill>
                  </a:tcPr>
                </a:tc>
                <a:tc>
                  <a:txBody>
                    <a:bodyPr/>
                    <a:lstStyle/>
                    <a:p>
                      <a:pPr marL="0" indent="0">
                        <a:buNone/>
                      </a:pPr>
                      <a:r>
                        <a:rPr lang="en-US" sz="1200" b="1" dirty="0">
                          <a:solidFill>
                            <a:srgbClr val="FFFFFF"/>
                          </a:solidFill>
                        </a:rPr>
                        <a:t>Routing</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457200">
                <a:tc>
                  <a:txBody>
                    <a:bodyPr/>
                    <a:lstStyle/>
                    <a:p>
                      <a:pPr marL="0" indent="0">
                        <a:buNone/>
                      </a:pPr>
                      <a:r>
                        <a:rPr lang="en-US" sz="1200" b="1" u="sng" dirty="0">
                          <a:solidFill>
                            <a:srgbClr val="1F2933"/>
                          </a:solidFill>
                          <a:hlinkClick r:id="rId3">
                            <a:extLst>
                              <a:ext uri="{A12FA001-AC4F-418D-AE19-62706E023703}">
                                <ahyp:hlinkClr xmlns:ahyp="http://schemas.microsoft.com/office/drawing/2018/hyperlinkcolor" val="tx"/>
                              </a:ext>
                            </a:extLst>
                          </a:hlinkClick>
                        </a:rPr>
                        <a:t>Agmarknet</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Govt portal: mandi prices and arrivals</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Not described</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Not described</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b="1" u="sng" dirty="0">
                          <a:solidFill>
                            <a:srgbClr val="1F2933"/>
                          </a:solidFill>
                          <a:hlinkClick r:id="rId4">
                            <a:extLst>
                              <a:ext uri="{A12FA001-AC4F-418D-AE19-62706E023703}">
                                <ahyp:hlinkClr xmlns:ahyp="http://schemas.microsoft.com/office/drawing/2018/hyperlinkcolor" val="tx"/>
                              </a:ext>
                            </a:extLst>
                          </a:hlinkClick>
                        </a:rPr>
                        <a:t>e-NAM</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Govt online agri-trading platform; has an e-NAM-Logistics section</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Not established</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Not established</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b="1" u="sng" dirty="0">
                          <a:solidFill>
                            <a:srgbClr val="1F2933"/>
                          </a:solidFill>
                          <a:hlinkClick r:id="rId5">
                            <a:extLst>
                              <a:ext uri="{A12FA001-AC4F-418D-AE19-62706E023703}">
                                <ahyp:hlinkClr xmlns:ahyp="http://schemas.microsoft.com/office/drawing/2018/hyperlinkcolor" val="tx"/>
                              </a:ext>
                            </a:extLst>
                          </a:hlinkClick>
                        </a:rPr>
                        <a:t>SourceTrace</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Farm-to-retail traceability and supply-chain SaaS</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Yes</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Not described</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u="sng" dirty="0">
                          <a:solidFill>
                            <a:srgbClr val="1F2933"/>
                          </a:solidFill>
                          <a:hlinkClick r:id="rId6">
                            <a:extLst>
                              <a:ext uri="{A12FA001-AC4F-418D-AE19-62706E023703}">
                                <ahyp:hlinkClr xmlns:ahyp="http://schemas.microsoft.com/office/drawing/2018/hyperlinkcolor" val="tx"/>
                              </a:ext>
                            </a:extLst>
                          </a:hlinkClick>
                        </a:rPr>
                        <a:t>TraceX</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Blockchain traceability, EUDR compliance</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Yes</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Not described</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00" b="1" u="sng" dirty="0">
                          <a:solidFill>
                            <a:srgbClr val="1F2933"/>
                          </a:solidFill>
                          <a:hlinkClick r:id="rId7">
                            <a:extLst>
                              <a:ext uri="{A12FA001-AC4F-418D-AE19-62706E023703}">
                                <ahyp:hlinkClr xmlns:ahyp="http://schemas.microsoft.com/office/drawing/2018/hyperlinkcolor" val="tx"/>
                              </a:ext>
                            </a:extLst>
                          </a:hlinkClick>
                        </a:rPr>
                        <a:t>Locus</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Route planning, dispatch and shipment tracking</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Not described</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Yes</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b="1" u="sng" dirty="0">
                          <a:solidFill>
                            <a:srgbClr val="1F2933"/>
                          </a:solidFill>
                          <a:hlinkClick r:id="rId8">
                            <a:extLst>
                              <a:ext uri="{A12FA001-AC4F-418D-AE19-62706E023703}">
                                <ahyp:hlinkClr xmlns:ahyp="http://schemas.microsoft.com/office/drawing/2018/hyperlinkcolor" val="tx"/>
                              </a:ext>
                            </a:extLst>
                          </a:hlinkClick>
                        </a:rPr>
                        <a:t>Ninjacart</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Fresh-produce B2B marketplace, farmers to buyers</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Not described</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Not described</a:t>
                      </a:r>
                      <a:endParaRPr lang="en-US" sz="1200" dirty="0"/>
                    </a:p>
                  </a:txBody>
                  <a:tcPr marL="54864" marR="54864" marT="27432" marB="27432" anchor="ctr">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4" name="chip DOCUMENTED"/>
          <p:cNvSpPr/>
          <p:nvPr/>
        </p:nvSpPr>
        <p:spPr>
          <a:xfrm>
            <a:off x="5897880" y="4681728"/>
            <a:ext cx="987552" cy="256032"/>
          </a:xfrm>
          <a:prstGeom prst="roundRect">
            <a:avLst>
              <a:gd name="adj" fmla="val 50000"/>
            </a:avLst>
          </a:prstGeom>
          <a:solidFill>
            <a:srgbClr val="0F766E"/>
          </a:solidFill>
          <a:ln w="12700">
            <a:solidFill>
              <a:srgbClr val="0F766E"/>
            </a:solidFill>
            <a:prstDash val="solid"/>
          </a:ln>
        </p:spPr>
      </p:sp>
      <p:sp>
        <p:nvSpPr>
          <p:cNvPr id="25" name="Text 22"/>
          <p:cNvSpPr txBox="1"/>
          <p:nvPr/>
        </p:nvSpPr>
        <p:spPr>
          <a:xfrm>
            <a:off x="5897880" y="4681728"/>
            <a:ext cx="987552"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DOCUMENTED</a:t>
            </a:r>
            <a:endParaRPr lang="en-US" sz="1000" dirty="0"/>
          </a:p>
        </p:txBody>
      </p:sp>
      <p:sp>
        <p:nvSpPr>
          <p:cNvPr id="26" name="positioning"/>
          <p:cNvSpPr/>
          <p:nvPr/>
        </p:nvSpPr>
        <p:spPr>
          <a:xfrm>
            <a:off x="5897880" y="5029200"/>
            <a:ext cx="5715000" cy="1097280"/>
          </a:xfrm>
          <a:prstGeom prst="roundRect">
            <a:avLst>
              <a:gd name="adj" fmla="val 10000"/>
            </a:avLst>
          </a:prstGeom>
          <a:solidFill>
            <a:srgbClr val="E3F1EF"/>
          </a:solidFill>
          <a:ln w="12700">
            <a:solidFill>
              <a:srgbClr val="E3F1EF"/>
            </a:solidFill>
            <a:prstDash val="solid"/>
          </a:ln>
          <a:effectLst>
            <a:outerShdw blurRad="76200" dist="25400" dir="5400000" algn="bl" rotWithShape="0">
              <a:srgbClr val="000000">
                <a:alpha val="12000"/>
              </a:srgbClr>
            </a:outerShdw>
          </a:effectLst>
        </p:spPr>
      </p:sp>
      <p:sp>
        <p:nvSpPr>
          <p:cNvPr id="27" name="Text 24"/>
          <p:cNvSpPr txBox="1"/>
          <p:nvPr/>
        </p:nvSpPr>
        <p:spPr>
          <a:xfrm>
            <a:off x="6080760" y="5102352"/>
            <a:ext cx="5349240" cy="640080"/>
          </a:xfrm>
          <a:prstGeom prst="rect">
            <a:avLst/>
          </a:prstGeom>
          <a:noFill/>
          <a:ln/>
        </p:spPr>
        <p:txBody>
          <a:bodyPr wrap="square" lIns="0" tIns="0" rIns="0" bIns="0" rtlCol="0" anchor="t"/>
          <a:lstStyle/>
          <a:p>
            <a:pPr marL="0" indent="0">
              <a:buNone/>
            </a:pPr>
            <a:r>
              <a:rPr lang="en-US" sz="1400" b="1" i="1" dirty="0">
                <a:solidFill>
                  <a:srgbClr val="0B3D2E"/>
                </a:solidFill>
              </a:rPr>
              <a:t>“An operational traceability and decision-support prototype designed around the journey of perishable produce after harvest.”</a:t>
            </a:r>
            <a:endParaRPr lang="en-US" sz="1400" dirty="0"/>
          </a:p>
        </p:txBody>
      </p:sp>
      <p:sp>
        <p:nvSpPr>
          <p:cNvPr id="28" name="Text 25"/>
          <p:cNvSpPr txBox="1"/>
          <p:nvPr/>
        </p:nvSpPr>
        <p:spPr>
          <a:xfrm>
            <a:off x="6080760" y="5760720"/>
            <a:ext cx="5349240" cy="274320"/>
          </a:xfrm>
          <a:prstGeom prst="rect">
            <a:avLst/>
          </a:prstGeom>
          <a:noFill/>
          <a:ln/>
        </p:spPr>
        <p:txBody>
          <a:bodyPr wrap="square" lIns="0" tIns="0" rIns="0" bIns="0" rtlCol="0" anchor="t"/>
          <a:lstStyle/>
          <a:p>
            <a:pPr marL="0" indent="0">
              <a:buNone/>
            </a:pPr>
            <a:r>
              <a:rPr lang="en-US" sz="1200" dirty="0">
                <a:solidFill>
                  <a:srgbClr val="5B6B73"/>
                </a:solidFill>
              </a:rPr>
              <a:t>We don't claim to be first, only or best.</a:t>
            </a:r>
            <a:endParaRPr lang="en-US" sz="1200" dirty="0"/>
          </a:p>
        </p:txBody>
      </p:sp>
      <p:sp>
        <p:nvSpPr>
          <p:cNvPr id="29"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Who might pay: hypotheses, not prices</a:t>
            </a:r>
            <a:endParaRPr lang="en-US" sz="3600" dirty="0"/>
          </a:p>
        </p:txBody>
      </p:sp>
      <p:sp>
        <p:nvSpPr>
          <p:cNvPr id="3" name="Text 1"/>
          <p:cNvSpPr txBox="1"/>
          <p:nvPr/>
        </p:nvSpPr>
        <p:spPr>
          <a:xfrm>
            <a:off x="548640" y="1325880"/>
            <a:ext cx="5486400" cy="320040"/>
          </a:xfrm>
          <a:prstGeom prst="rect">
            <a:avLst/>
          </a:prstGeom>
          <a:noFill/>
          <a:ln/>
        </p:spPr>
        <p:txBody>
          <a:bodyPr wrap="square" lIns="0" tIns="0" rIns="0" bIns="0" rtlCol="0" anchor="t"/>
          <a:lstStyle/>
          <a:p>
            <a:pPr marL="0" indent="0">
              <a:buNone/>
            </a:pPr>
            <a:r>
              <a:rPr lang="en-US" sz="1400" b="1" kern="0" spc="100" dirty="0">
                <a:solidFill>
                  <a:srgbClr val="0F766E"/>
                </a:solidFill>
              </a:rPr>
              <a:t>FREE · hypothesis</a:t>
            </a:r>
            <a:endParaRPr lang="en-US" sz="1400" dirty="0"/>
          </a:p>
        </p:txBody>
      </p:sp>
      <p:sp>
        <p:nvSpPr>
          <p:cNvPr id="4" name="Text 2"/>
          <p:cNvSpPr txBox="1"/>
          <p:nvPr/>
        </p:nvSpPr>
        <p:spPr>
          <a:xfrm>
            <a:off x="6163056" y="1325880"/>
            <a:ext cx="5486400" cy="320040"/>
          </a:xfrm>
          <a:prstGeom prst="rect">
            <a:avLst/>
          </a:prstGeom>
          <a:noFill/>
          <a:ln/>
        </p:spPr>
        <p:txBody>
          <a:bodyPr wrap="square" lIns="0" tIns="0" rIns="0" bIns="0" rtlCol="0" anchor="t"/>
          <a:lstStyle/>
          <a:p>
            <a:pPr marL="0" indent="0">
              <a:buNone/>
            </a:pPr>
            <a:r>
              <a:rPr lang="en-US" sz="1400" b="1" kern="0" spc="100" dirty="0">
                <a:solidFill>
                  <a:srgbClr val="8A5A00"/>
                </a:solidFill>
              </a:rPr>
              <a:t>PAID · hypothesis</a:t>
            </a:r>
            <a:endParaRPr lang="en-US" sz="1400" dirty="0"/>
          </a:p>
        </p:txBody>
      </p:sp>
      <p:sp>
        <p:nvSpPr>
          <p:cNvPr id="5" name="segment Farmers"/>
          <p:cNvSpPr/>
          <p:nvPr/>
        </p:nvSpPr>
        <p:spPr>
          <a:xfrm>
            <a:off x="548640" y="1737360"/>
            <a:ext cx="2651760" cy="3611880"/>
          </a:xfrm>
          <a:prstGeom prst="roundRect">
            <a:avLst>
              <a:gd name="adj" fmla="val 413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6" name="icon circle FaSeedling"/>
          <p:cNvSpPr/>
          <p:nvPr/>
        </p:nvSpPr>
        <p:spPr>
          <a:xfrm>
            <a:off x="731520" y="1874520"/>
            <a:ext cx="548640" cy="548640"/>
          </a:xfrm>
          <a:prstGeom prst="ellipse">
            <a:avLst/>
          </a:prstGeom>
          <a:solidFill>
            <a:srgbClr val="0F766E"/>
          </a:solidFill>
          <a:ln w="12700">
            <a:solidFill>
              <a:srgbClr val="0F766E"/>
            </a:solidFill>
            <a:prstDash val="solid"/>
          </a:ln>
        </p:spPr>
      </p:sp>
      <p:pic>
        <p:nvPicPr>
          <p:cNvPr id="7" name="Image 0" descr="Seedling icon"/>
          <p:cNvPicPr>
            <a:picLocks noChangeAspect="1"/>
          </p:cNvPicPr>
          <p:nvPr/>
        </p:nvPicPr>
        <p:blipFill>
          <a:blip r:embed="rId3"/>
          <a:stretch>
            <a:fillRect/>
          </a:stretch>
        </p:blipFill>
        <p:spPr>
          <a:xfrm>
            <a:off x="879653" y="2022653"/>
            <a:ext cx="252374" cy="252374"/>
          </a:xfrm>
          <a:prstGeom prst="rect">
            <a:avLst/>
          </a:prstGeom>
        </p:spPr>
      </p:pic>
      <p:sp>
        <p:nvSpPr>
          <p:cNvPr id="8" name="Text 5"/>
          <p:cNvSpPr txBox="1"/>
          <p:nvPr/>
        </p:nvSpPr>
        <p:spPr>
          <a:xfrm>
            <a:off x="1417320" y="1938528"/>
            <a:ext cx="1691640" cy="411480"/>
          </a:xfrm>
          <a:prstGeom prst="rect">
            <a:avLst/>
          </a:prstGeom>
          <a:noFill/>
          <a:ln/>
        </p:spPr>
        <p:txBody>
          <a:bodyPr wrap="square" lIns="0" tIns="0" rIns="0" bIns="0" rtlCol="0" anchor="ctr"/>
          <a:lstStyle/>
          <a:p>
            <a:pPr marL="0" indent="0">
              <a:buNone/>
            </a:pPr>
            <a:r>
              <a:rPr lang="en-US" sz="1800" b="1" dirty="0">
                <a:solidFill>
                  <a:srgbClr val="0B3D2E"/>
                </a:solidFill>
              </a:rPr>
              <a:t>Farmers</a:t>
            </a:r>
            <a:endParaRPr lang="en-US" sz="1800" dirty="0"/>
          </a:p>
        </p:txBody>
      </p:sp>
      <p:sp>
        <p:nvSpPr>
          <p:cNvPr id="9" name="Text 6"/>
          <p:cNvSpPr txBox="1"/>
          <p:nvPr/>
        </p:nvSpPr>
        <p:spPr>
          <a:xfrm>
            <a:off x="731520" y="2560320"/>
            <a:ext cx="2331720" cy="548640"/>
          </a:xfrm>
          <a:prstGeom prst="rect">
            <a:avLst/>
          </a:prstGeom>
          <a:noFill/>
          <a:ln/>
        </p:spPr>
        <p:txBody>
          <a:bodyPr wrap="square" lIns="0" tIns="0" rIns="0" bIns="0" rtlCol="0" anchor="t"/>
          <a:lstStyle/>
          <a:p>
            <a:pPr marL="0" indent="0">
              <a:buNone/>
            </a:pPr>
            <a:r>
              <a:rPr lang="en-US" sz="1400" b="1" dirty="0">
                <a:solidFill>
                  <a:srgbClr val="1F2933"/>
                </a:solidFill>
              </a:rPr>
              <a:t>Free access</a:t>
            </a:r>
            <a:endParaRPr lang="en-US" sz="1400" dirty="0"/>
          </a:p>
        </p:txBody>
      </p:sp>
      <p:sp>
        <p:nvSpPr>
          <p:cNvPr id="10" name="Text 7"/>
          <p:cNvSpPr txBox="1"/>
          <p:nvPr/>
        </p:nvSpPr>
        <p:spPr>
          <a:xfrm>
            <a:off x="731520" y="3127248"/>
            <a:ext cx="2331720" cy="274320"/>
          </a:xfrm>
          <a:prstGeom prst="rect">
            <a:avLst/>
          </a:prstGeom>
          <a:noFill/>
          <a:ln/>
        </p:spPr>
        <p:txBody>
          <a:bodyPr wrap="square" lIns="0" tIns="0" rIns="0" bIns="0" rtlCol="0" anchor="t"/>
          <a:lstStyle/>
          <a:p>
            <a:pPr marL="0" indent="0">
              <a:buNone/>
            </a:pPr>
            <a:r>
              <a:rPr lang="en-US" sz="1300" b="1" dirty="0">
                <a:solidFill>
                  <a:srgbClr val="0F766E"/>
                </a:solidFill>
              </a:rPr>
              <a:t>Price: none</a:t>
            </a:r>
            <a:endParaRPr lang="en-US" sz="1300" dirty="0"/>
          </a:p>
        </p:txBody>
      </p:sp>
      <p:sp>
        <p:nvSpPr>
          <p:cNvPr id="11" name="Text 8"/>
          <p:cNvSpPr txBox="1"/>
          <p:nvPr/>
        </p:nvSpPr>
        <p:spPr>
          <a:xfrm>
            <a:off x="731520" y="3520440"/>
            <a:ext cx="2286000" cy="228600"/>
          </a:xfrm>
          <a:prstGeom prst="rect">
            <a:avLst/>
          </a:prstGeom>
          <a:noFill/>
          <a:ln/>
        </p:spPr>
        <p:txBody>
          <a:bodyPr wrap="square" lIns="0" tIns="0" rIns="0" bIns="0" rtlCol="0" anchor="t"/>
          <a:lstStyle/>
          <a:p>
            <a:pPr marL="0" indent="0">
              <a:buNone/>
            </a:pPr>
            <a:r>
              <a:rPr lang="en-US" sz="1000" b="1" kern="0" spc="100" dirty="0">
                <a:solidFill>
                  <a:srgbClr val="5B6B73"/>
                </a:solidFill>
              </a:rPr>
              <a:t>WE'LL ASK</a:t>
            </a:r>
            <a:endParaRPr lang="en-US" sz="1000" dirty="0"/>
          </a:p>
        </p:txBody>
      </p:sp>
      <p:sp>
        <p:nvSpPr>
          <p:cNvPr id="12" name="Text 9"/>
          <p:cNvSpPr txBox="1"/>
          <p:nvPr/>
        </p:nvSpPr>
        <p:spPr>
          <a:xfrm>
            <a:off x="731520" y="3749040"/>
            <a:ext cx="2331720" cy="1463040"/>
          </a:xfrm>
          <a:prstGeom prst="rect">
            <a:avLst/>
          </a:prstGeom>
          <a:noFill/>
          <a:ln/>
        </p:spPr>
        <p:txBody>
          <a:bodyPr wrap="square" lIns="0" tIns="0" rIns="0" bIns="0" rtlCol="0" anchor="t"/>
          <a:lstStyle/>
          <a:p>
            <a:pPr marL="0" indent="0">
              <a:buNone/>
            </a:pPr>
            <a:r>
              <a:rPr lang="en-US" sz="1300" i="1" dirty="0">
                <a:solidFill>
                  <a:srgbClr val="1F2933"/>
                </a:solidFill>
              </a:rPr>
              <a:t>“How do you keep a record of what you hand over today, and what would make you keep using a record like this?”</a:t>
            </a:r>
            <a:endParaRPr lang="en-US" sz="1300" dirty="0"/>
          </a:p>
        </p:txBody>
      </p:sp>
      <p:sp>
        <p:nvSpPr>
          <p:cNvPr id="13" name="segment NGOs"/>
          <p:cNvSpPr/>
          <p:nvPr/>
        </p:nvSpPr>
        <p:spPr>
          <a:xfrm>
            <a:off x="3355848" y="1737360"/>
            <a:ext cx="2651760" cy="3611880"/>
          </a:xfrm>
          <a:prstGeom prst="roundRect">
            <a:avLst>
              <a:gd name="adj" fmla="val 413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4" name="icon circle FaHandHoldingHeart"/>
          <p:cNvSpPr/>
          <p:nvPr/>
        </p:nvSpPr>
        <p:spPr>
          <a:xfrm>
            <a:off x="3538728" y="1874520"/>
            <a:ext cx="548640" cy="548640"/>
          </a:xfrm>
          <a:prstGeom prst="ellipse">
            <a:avLst/>
          </a:prstGeom>
          <a:solidFill>
            <a:srgbClr val="0F766E"/>
          </a:solidFill>
          <a:ln w="12700">
            <a:solidFill>
              <a:srgbClr val="0F766E"/>
            </a:solidFill>
            <a:prstDash val="solid"/>
          </a:ln>
        </p:spPr>
      </p:sp>
      <p:pic>
        <p:nvPicPr>
          <p:cNvPr id="15" name="Image 1" descr="HandHoldingHeart icon"/>
          <p:cNvPicPr>
            <a:picLocks noChangeAspect="1"/>
          </p:cNvPicPr>
          <p:nvPr/>
        </p:nvPicPr>
        <p:blipFill>
          <a:blip r:embed="rId4"/>
          <a:stretch>
            <a:fillRect/>
          </a:stretch>
        </p:blipFill>
        <p:spPr>
          <a:xfrm>
            <a:off x="3686861" y="2022653"/>
            <a:ext cx="252374" cy="252374"/>
          </a:xfrm>
          <a:prstGeom prst="rect">
            <a:avLst/>
          </a:prstGeom>
        </p:spPr>
      </p:pic>
      <p:sp>
        <p:nvSpPr>
          <p:cNvPr id="16" name="Text 12"/>
          <p:cNvSpPr txBox="1"/>
          <p:nvPr/>
        </p:nvSpPr>
        <p:spPr>
          <a:xfrm>
            <a:off x="4224528" y="1938528"/>
            <a:ext cx="1691640" cy="411480"/>
          </a:xfrm>
          <a:prstGeom prst="rect">
            <a:avLst/>
          </a:prstGeom>
          <a:noFill/>
          <a:ln/>
        </p:spPr>
        <p:txBody>
          <a:bodyPr wrap="square" lIns="0" tIns="0" rIns="0" bIns="0" rtlCol="0" anchor="ctr"/>
          <a:lstStyle/>
          <a:p>
            <a:pPr marL="0" indent="0">
              <a:buNone/>
            </a:pPr>
            <a:r>
              <a:rPr lang="en-US" sz="1800" b="1" dirty="0">
                <a:solidFill>
                  <a:srgbClr val="0B3D2E"/>
                </a:solidFill>
              </a:rPr>
              <a:t>NGOs</a:t>
            </a:r>
            <a:endParaRPr lang="en-US" sz="1800" dirty="0"/>
          </a:p>
        </p:txBody>
      </p:sp>
      <p:sp>
        <p:nvSpPr>
          <p:cNvPr id="17" name="Text 13"/>
          <p:cNvSpPr txBox="1"/>
          <p:nvPr/>
        </p:nvSpPr>
        <p:spPr>
          <a:xfrm>
            <a:off x="3538728" y="2560320"/>
            <a:ext cx="2331720" cy="548640"/>
          </a:xfrm>
          <a:prstGeom prst="rect">
            <a:avLst/>
          </a:prstGeom>
          <a:noFill/>
          <a:ln/>
        </p:spPr>
        <p:txBody>
          <a:bodyPr wrap="square" lIns="0" tIns="0" rIns="0" bIns="0" rtlCol="0" anchor="t"/>
          <a:lstStyle/>
          <a:p>
            <a:pPr marL="0" indent="0">
              <a:buNone/>
            </a:pPr>
            <a:r>
              <a:rPr lang="en-US" sz="1400" b="1" dirty="0">
                <a:solidFill>
                  <a:srgbClr val="1F2933"/>
                </a:solidFill>
              </a:rPr>
              <a:t>Free access</a:t>
            </a:r>
            <a:endParaRPr lang="en-US" sz="1400" dirty="0"/>
          </a:p>
        </p:txBody>
      </p:sp>
      <p:sp>
        <p:nvSpPr>
          <p:cNvPr id="18" name="Text 14"/>
          <p:cNvSpPr txBox="1"/>
          <p:nvPr/>
        </p:nvSpPr>
        <p:spPr>
          <a:xfrm>
            <a:off x="3538728" y="3127248"/>
            <a:ext cx="2331720" cy="274320"/>
          </a:xfrm>
          <a:prstGeom prst="rect">
            <a:avLst/>
          </a:prstGeom>
          <a:noFill/>
          <a:ln/>
        </p:spPr>
        <p:txBody>
          <a:bodyPr wrap="square" lIns="0" tIns="0" rIns="0" bIns="0" rtlCol="0" anchor="t"/>
          <a:lstStyle/>
          <a:p>
            <a:pPr marL="0" indent="0">
              <a:buNone/>
            </a:pPr>
            <a:r>
              <a:rPr lang="en-US" sz="1300" b="1" dirty="0">
                <a:solidFill>
                  <a:srgbClr val="0F766E"/>
                </a:solidFill>
              </a:rPr>
              <a:t>Price: none</a:t>
            </a:r>
            <a:endParaRPr lang="en-US" sz="1300" dirty="0"/>
          </a:p>
        </p:txBody>
      </p:sp>
      <p:sp>
        <p:nvSpPr>
          <p:cNvPr id="19" name="Text 15"/>
          <p:cNvSpPr txBox="1"/>
          <p:nvPr/>
        </p:nvSpPr>
        <p:spPr>
          <a:xfrm>
            <a:off x="3538728" y="3520440"/>
            <a:ext cx="2286000" cy="228600"/>
          </a:xfrm>
          <a:prstGeom prst="rect">
            <a:avLst/>
          </a:prstGeom>
          <a:noFill/>
          <a:ln/>
        </p:spPr>
        <p:txBody>
          <a:bodyPr wrap="square" lIns="0" tIns="0" rIns="0" bIns="0" rtlCol="0" anchor="t"/>
          <a:lstStyle/>
          <a:p>
            <a:pPr marL="0" indent="0">
              <a:buNone/>
            </a:pPr>
            <a:r>
              <a:rPr lang="en-US" sz="1000" b="1" kern="0" spc="100" dirty="0">
                <a:solidFill>
                  <a:srgbClr val="5B6B73"/>
                </a:solidFill>
              </a:rPr>
              <a:t>WE'LL ASK</a:t>
            </a:r>
            <a:endParaRPr lang="en-US" sz="1000" dirty="0"/>
          </a:p>
        </p:txBody>
      </p:sp>
      <p:sp>
        <p:nvSpPr>
          <p:cNvPr id="20" name="Text 16"/>
          <p:cNvSpPr txBox="1"/>
          <p:nvPr/>
        </p:nvSpPr>
        <p:spPr>
          <a:xfrm>
            <a:off x="3538728" y="3749040"/>
            <a:ext cx="2331720" cy="1463040"/>
          </a:xfrm>
          <a:prstGeom prst="rect">
            <a:avLst/>
          </a:prstGeom>
          <a:noFill/>
          <a:ln/>
        </p:spPr>
        <p:txBody>
          <a:bodyPr wrap="square" lIns="0" tIns="0" rIns="0" bIns="0" rtlCol="0" anchor="t"/>
          <a:lstStyle/>
          <a:p>
            <a:pPr marL="0" indent="0">
              <a:buNone/>
            </a:pPr>
            <a:r>
              <a:rPr lang="en-US" sz="1300" i="1" dirty="0">
                <a:solidFill>
                  <a:srgbClr val="1F2933"/>
                </a:solidFill>
              </a:rPr>
              <a:t>“How do you learn about surplus produce today, and what would you need to claim it within two hours?”</a:t>
            </a:r>
            <a:endParaRPr lang="en-US" sz="1300" dirty="0"/>
          </a:p>
        </p:txBody>
      </p:sp>
      <p:sp>
        <p:nvSpPr>
          <p:cNvPr id="21" name="segment Collection centres"/>
          <p:cNvSpPr/>
          <p:nvPr/>
        </p:nvSpPr>
        <p:spPr>
          <a:xfrm>
            <a:off x="6163056" y="1737360"/>
            <a:ext cx="2651760" cy="3611880"/>
          </a:xfrm>
          <a:prstGeom prst="roundRect">
            <a:avLst>
              <a:gd name="adj" fmla="val 413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2" name="icon circle FaWarehouse"/>
          <p:cNvSpPr/>
          <p:nvPr/>
        </p:nvSpPr>
        <p:spPr>
          <a:xfrm>
            <a:off x="6345936" y="1874520"/>
            <a:ext cx="548640" cy="548640"/>
          </a:xfrm>
          <a:prstGeom prst="ellipse">
            <a:avLst/>
          </a:prstGeom>
          <a:solidFill>
            <a:srgbClr val="8A5A00"/>
          </a:solidFill>
          <a:ln w="12700">
            <a:solidFill>
              <a:srgbClr val="8A5A00"/>
            </a:solidFill>
            <a:prstDash val="solid"/>
          </a:ln>
        </p:spPr>
      </p:sp>
      <p:pic>
        <p:nvPicPr>
          <p:cNvPr id="23" name="Image 2" descr="Warehouse icon"/>
          <p:cNvPicPr>
            <a:picLocks noChangeAspect="1"/>
          </p:cNvPicPr>
          <p:nvPr/>
        </p:nvPicPr>
        <p:blipFill>
          <a:blip r:embed="rId5"/>
          <a:stretch>
            <a:fillRect/>
          </a:stretch>
        </p:blipFill>
        <p:spPr>
          <a:xfrm>
            <a:off x="6494069" y="2022653"/>
            <a:ext cx="252374" cy="252374"/>
          </a:xfrm>
          <a:prstGeom prst="rect">
            <a:avLst/>
          </a:prstGeom>
        </p:spPr>
      </p:pic>
      <p:sp>
        <p:nvSpPr>
          <p:cNvPr id="24" name="Text 19"/>
          <p:cNvSpPr txBox="1"/>
          <p:nvPr/>
        </p:nvSpPr>
        <p:spPr>
          <a:xfrm>
            <a:off x="7031736" y="1938528"/>
            <a:ext cx="1691640" cy="411480"/>
          </a:xfrm>
          <a:prstGeom prst="rect">
            <a:avLst/>
          </a:prstGeom>
          <a:noFill/>
          <a:ln/>
        </p:spPr>
        <p:txBody>
          <a:bodyPr wrap="square" lIns="0" tIns="0" rIns="0" bIns="0" rtlCol="0" anchor="ctr"/>
          <a:lstStyle/>
          <a:p>
            <a:pPr marL="0" indent="0">
              <a:buNone/>
            </a:pPr>
            <a:r>
              <a:rPr lang="en-US" sz="1800" b="1" dirty="0">
                <a:solidFill>
                  <a:srgbClr val="0B3D2E"/>
                </a:solidFill>
              </a:rPr>
              <a:t>Collection centres</a:t>
            </a:r>
            <a:endParaRPr lang="en-US" sz="1800" dirty="0"/>
          </a:p>
        </p:txBody>
      </p:sp>
      <p:sp>
        <p:nvSpPr>
          <p:cNvPr id="25" name="Text 20"/>
          <p:cNvSpPr txBox="1"/>
          <p:nvPr/>
        </p:nvSpPr>
        <p:spPr>
          <a:xfrm>
            <a:off x="6345936" y="2560320"/>
            <a:ext cx="2331720" cy="548640"/>
          </a:xfrm>
          <a:prstGeom prst="rect">
            <a:avLst/>
          </a:prstGeom>
          <a:noFill/>
          <a:ln/>
        </p:spPr>
        <p:txBody>
          <a:bodyPr wrap="square" lIns="0" tIns="0" rIns="0" bIns="0" rtlCol="0" anchor="t"/>
          <a:lstStyle/>
          <a:p>
            <a:pPr marL="0" indent="0">
              <a:buNone/>
            </a:pPr>
            <a:r>
              <a:rPr lang="en-US" sz="1400" b="1" dirty="0">
                <a:solidFill>
                  <a:srgbClr val="1F2933"/>
                </a:solidFill>
              </a:rPr>
              <a:t>Tier: lot records, handover history, monitoring</a:t>
            </a:r>
            <a:endParaRPr lang="en-US" sz="1400" dirty="0"/>
          </a:p>
        </p:txBody>
      </p:sp>
      <p:sp>
        <p:nvSpPr>
          <p:cNvPr id="26" name="Text 21"/>
          <p:cNvSpPr txBox="1"/>
          <p:nvPr/>
        </p:nvSpPr>
        <p:spPr>
          <a:xfrm>
            <a:off x="6345936" y="3127248"/>
            <a:ext cx="2331720" cy="274320"/>
          </a:xfrm>
          <a:prstGeom prst="rect">
            <a:avLst/>
          </a:prstGeom>
          <a:noFill/>
          <a:ln/>
        </p:spPr>
        <p:txBody>
          <a:bodyPr wrap="square" lIns="0" tIns="0" rIns="0" bIns="0" rtlCol="0" anchor="t"/>
          <a:lstStyle/>
          <a:p>
            <a:pPr marL="0" indent="0">
              <a:buNone/>
            </a:pPr>
            <a:r>
              <a:rPr lang="en-US" sz="1300" b="1" dirty="0">
                <a:solidFill>
                  <a:srgbClr val="8A5A00"/>
                </a:solidFill>
              </a:rPr>
              <a:t>Price: [PLACEHOLDER] (will be decided after user interviews)</a:t>
            </a:r>
            <a:endParaRPr lang="en-US" sz="1300" dirty="0"/>
          </a:p>
        </p:txBody>
      </p:sp>
      <p:sp>
        <p:nvSpPr>
          <p:cNvPr id="27" name="Text 22"/>
          <p:cNvSpPr txBox="1"/>
          <p:nvPr/>
        </p:nvSpPr>
        <p:spPr>
          <a:xfrm>
            <a:off x="6345936" y="3520440"/>
            <a:ext cx="2286000" cy="228600"/>
          </a:xfrm>
          <a:prstGeom prst="rect">
            <a:avLst/>
          </a:prstGeom>
          <a:noFill/>
          <a:ln/>
        </p:spPr>
        <p:txBody>
          <a:bodyPr wrap="square" lIns="0" tIns="0" rIns="0" bIns="0" rtlCol="0" anchor="t"/>
          <a:lstStyle/>
          <a:p>
            <a:pPr marL="0" indent="0">
              <a:buNone/>
            </a:pPr>
            <a:r>
              <a:rPr lang="en-US" sz="1000" b="1" kern="0" spc="100" dirty="0">
                <a:solidFill>
                  <a:srgbClr val="5B6B73"/>
                </a:solidFill>
              </a:rPr>
              <a:t>WE'LL ASK</a:t>
            </a:r>
            <a:endParaRPr lang="en-US" sz="1000" dirty="0"/>
          </a:p>
        </p:txBody>
      </p:sp>
      <p:sp>
        <p:nvSpPr>
          <p:cNvPr id="28" name="Text 23"/>
          <p:cNvSpPr txBox="1"/>
          <p:nvPr/>
        </p:nvSpPr>
        <p:spPr>
          <a:xfrm>
            <a:off x="6345936" y="3749040"/>
            <a:ext cx="2331720" cy="1463040"/>
          </a:xfrm>
          <a:prstGeom prst="rect">
            <a:avLst/>
          </a:prstGeom>
          <a:noFill/>
          <a:ln/>
        </p:spPr>
        <p:txBody>
          <a:bodyPr wrap="square" lIns="0" tIns="0" rIns="0" bIns="0" rtlCol="0" anchor="t"/>
          <a:lstStyle/>
          <a:p>
            <a:pPr marL="0" indent="0">
              <a:buNone/>
            </a:pPr>
            <a:r>
              <a:rPr lang="en-US" sz="1300" i="1" dirty="0">
                <a:solidFill>
                  <a:srgbClr val="1F2933"/>
                </a:solidFill>
              </a:rPr>
              <a:t>“What do lot records and wastage tracking cost you today, in time or money, and what would you pay to change that?”</a:t>
            </a:r>
            <a:endParaRPr lang="en-US" sz="1300" dirty="0"/>
          </a:p>
        </p:txBody>
      </p:sp>
      <p:sp>
        <p:nvSpPr>
          <p:cNvPr id="29" name="segment Dispatchers"/>
          <p:cNvSpPr/>
          <p:nvPr/>
        </p:nvSpPr>
        <p:spPr>
          <a:xfrm>
            <a:off x="8970264" y="1737360"/>
            <a:ext cx="2651760" cy="3611880"/>
          </a:xfrm>
          <a:prstGeom prst="roundRect">
            <a:avLst>
              <a:gd name="adj" fmla="val 413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30" name="icon circle FaRoute"/>
          <p:cNvSpPr/>
          <p:nvPr/>
        </p:nvSpPr>
        <p:spPr>
          <a:xfrm>
            <a:off x="9153144" y="1874520"/>
            <a:ext cx="548640" cy="548640"/>
          </a:xfrm>
          <a:prstGeom prst="ellipse">
            <a:avLst/>
          </a:prstGeom>
          <a:solidFill>
            <a:srgbClr val="8A5A00"/>
          </a:solidFill>
          <a:ln w="12700">
            <a:solidFill>
              <a:srgbClr val="8A5A00"/>
            </a:solidFill>
            <a:prstDash val="solid"/>
          </a:ln>
        </p:spPr>
      </p:sp>
      <p:pic>
        <p:nvPicPr>
          <p:cNvPr id="31" name="Image 3" descr="Route icon"/>
          <p:cNvPicPr>
            <a:picLocks noChangeAspect="1"/>
          </p:cNvPicPr>
          <p:nvPr/>
        </p:nvPicPr>
        <p:blipFill>
          <a:blip r:embed="rId6"/>
          <a:stretch>
            <a:fillRect/>
          </a:stretch>
        </p:blipFill>
        <p:spPr>
          <a:xfrm>
            <a:off x="9301277" y="2022653"/>
            <a:ext cx="252374" cy="252374"/>
          </a:xfrm>
          <a:prstGeom prst="rect">
            <a:avLst/>
          </a:prstGeom>
        </p:spPr>
      </p:pic>
      <p:sp>
        <p:nvSpPr>
          <p:cNvPr id="32" name="Text 26"/>
          <p:cNvSpPr txBox="1"/>
          <p:nvPr/>
        </p:nvSpPr>
        <p:spPr>
          <a:xfrm>
            <a:off x="9838944" y="1938528"/>
            <a:ext cx="1691640" cy="411480"/>
          </a:xfrm>
          <a:prstGeom prst="rect">
            <a:avLst/>
          </a:prstGeom>
          <a:noFill/>
          <a:ln/>
        </p:spPr>
        <p:txBody>
          <a:bodyPr wrap="square" lIns="0" tIns="0" rIns="0" bIns="0" rtlCol="0" anchor="ctr"/>
          <a:lstStyle/>
          <a:p>
            <a:pPr marL="0" indent="0">
              <a:buNone/>
            </a:pPr>
            <a:r>
              <a:rPr lang="en-US" sz="1800" b="1" dirty="0">
                <a:solidFill>
                  <a:srgbClr val="0B3D2E"/>
                </a:solidFill>
              </a:rPr>
              <a:t>Dispatchers</a:t>
            </a:r>
            <a:endParaRPr lang="en-US" sz="1800" dirty="0"/>
          </a:p>
        </p:txBody>
      </p:sp>
      <p:sp>
        <p:nvSpPr>
          <p:cNvPr id="33" name="Text 27"/>
          <p:cNvSpPr txBox="1"/>
          <p:nvPr/>
        </p:nvSpPr>
        <p:spPr>
          <a:xfrm>
            <a:off x="9153144" y="2560320"/>
            <a:ext cx="2331720" cy="548640"/>
          </a:xfrm>
          <a:prstGeom prst="rect">
            <a:avLst/>
          </a:prstGeom>
          <a:noFill/>
          <a:ln/>
        </p:spPr>
        <p:txBody>
          <a:bodyPr wrap="square" lIns="0" tIns="0" rIns="0" bIns="0" rtlCol="0" anchor="t"/>
          <a:lstStyle/>
          <a:p>
            <a:pPr marL="0" indent="0">
              <a:buNone/>
            </a:pPr>
            <a:r>
              <a:rPr lang="en-US" sz="1400" b="1" dirty="0">
                <a:solidFill>
                  <a:srgbClr val="1F2933"/>
                </a:solidFill>
              </a:rPr>
              <a:t>Tier: route comparison and trade-off view</a:t>
            </a:r>
            <a:endParaRPr lang="en-US" sz="1400" dirty="0"/>
          </a:p>
        </p:txBody>
      </p:sp>
      <p:sp>
        <p:nvSpPr>
          <p:cNvPr id="35" name="Text 29"/>
          <p:cNvSpPr txBox="1"/>
          <p:nvPr/>
        </p:nvSpPr>
        <p:spPr>
          <a:xfrm>
            <a:off x="9153144" y="3520440"/>
            <a:ext cx="2286000" cy="228600"/>
          </a:xfrm>
          <a:prstGeom prst="rect">
            <a:avLst/>
          </a:prstGeom>
          <a:noFill/>
          <a:ln/>
        </p:spPr>
        <p:txBody>
          <a:bodyPr wrap="square" lIns="0" tIns="0" rIns="0" bIns="0" rtlCol="0" anchor="t"/>
          <a:lstStyle/>
          <a:p>
            <a:pPr marL="0" indent="0">
              <a:buNone/>
            </a:pPr>
            <a:r>
              <a:rPr lang="en-US" sz="1000" b="1" kern="0" spc="100" dirty="0">
                <a:solidFill>
                  <a:srgbClr val="5B6B73"/>
                </a:solidFill>
              </a:rPr>
              <a:t>WE'LL ASK</a:t>
            </a:r>
            <a:endParaRPr lang="en-US" sz="1000" dirty="0"/>
          </a:p>
        </p:txBody>
      </p:sp>
      <p:sp>
        <p:nvSpPr>
          <p:cNvPr id="36" name="Text 30"/>
          <p:cNvSpPr txBox="1"/>
          <p:nvPr/>
        </p:nvSpPr>
        <p:spPr>
          <a:xfrm>
            <a:off x="9153144" y="3749040"/>
            <a:ext cx="2331720" cy="1463040"/>
          </a:xfrm>
          <a:prstGeom prst="rect">
            <a:avLst/>
          </a:prstGeom>
          <a:noFill/>
          <a:ln/>
        </p:spPr>
        <p:txBody>
          <a:bodyPr wrap="square" lIns="0" tIns="0" rIns="0" bIns="0" rtlCol="0" anchor="t"/>
          <a:lstStyle/>
          <a:p>
            <a:pPr marL="0" indent="0">
              <a:buNone/>
            </a:pPr>
            <a:r>
              <a:rPr lang="en-US" sz="1300" i="1" dirty="0">
                <a:solidFill>
                  <a:srgbClr val="1F2933"/>
                </a:solidFill>
              </a:rPr>
              <a:t>“How do you choose a market for a load today, and what would you pay for help comparing options?”</a:t>
            </a:r>
            <a:endParaRPr lang="en-US" sz="1300" dirty="0"/>
          </a:p>
        </p:txBody>
      </p:sp>
      <p:sp>
        <p:nvSpPr>
          <p:cNvPr id="37" name="larger operators strip"/>
          <p:cNvSpPr/>
          <p:nvPr/>
        </p:nvSpPr>
        <p:spPr>
          <a:xfrm>
            <a:off x="548640" y="5486400"/>
            <a:ext cx="11064240" cy="731520"/>
          </a:xfrm>
          <a:prstGeom prst="roundRect">
            <a:avLst>
              <a:gd name="adj" fmla="val 15000"/>
            </a:avLst>
          </a:prstGeom>
          <a:solidFill>
            <a:srgbClr val="FBF1DD"/>
          </a:solidFill>
          <a:ln w="12700">
            <a:solidFill>
              <a:srgbClr val="FBF1DD"/>
            </a:solidFill>
            <a:prstDash val="solid"/>
          </a:ln>
          <a:effectLst>
            <a:outerShdw blurRad="76200" dist="25400" dir="5400000" algn="bl" rotWithShape="0">
              <a:srgbClr val="000000">
                <a:alpha val="12000"/>
              </a:srgbClr>
            </a:outerShdw>
          </a:effectLst>
        </p:spPr>
      </p:sp>
      <p:sp>
        <p:nvSpPr>
          <p:cNvPr id="38" name="icon circle FaBuilding"/>
          <p:cNvSpPr/>
          <p:nvPr/>
        </p:nvSpPr>
        <p:spPr>
          <a:xfrm>
            <a:off x="713232" y="5596128"/>
            <a:ext cx="502920" cy="502920"/>
          </a:xfrm>
          <a:prstGeom prst="ellipse">
            <a:avLst/>
          </a:prstGeom>
          <a:solidFill>
            <a:srgbClr val="8A5A00"/>
          </a:solidFill>
          <a:ln w="12700">
            <a:solidFill>
              <a:srgbClr val="8A5A00"/>
            </a:solidFill>
            <a:prstDash val="solid"/>
          </a:ln>
        </p:spPr>
      </p:sp>
      <p:pic>
        <p:nvPicPr>
          <p:cNvPr id="39" name="Image 4" descr="Building icon"/>
          <p:cNvPicPr>
            <a:picLocks noChangeAspect="1"/>
          </p:cNvPicPr>
          <p:nvPr/>
        </p:nvPicPr>
        <p:blipFill>
          <a:blip r:embed="rId7"/>
          <a:stretch>
            <a:fillRect/>
          </a:stretch>
        </p:blipFill>
        <p:spPr>
          <a:xfrm>
            <a:off x="849020" y="5731916"/>
            <a:ext cx="231343" cy="231343"/>
          </a:xfrm>
          <a:prstGeom prst="rect">
            <a:avLst/>
          </a:prstGeom>
        </p:spPr>
      </p:pic>
      <p:sp>
        <p:nvSpPr>
          <p:cNvPr id="40" name="Text 33"/>
          <p:cNvSpPr txBox="1"/>
          <p:nvPr/>
        </p:nvSpPr>
        <p:spPr>
          <a:xfrm>
            <a:off x="1371600" y="5559552"/>
            <a:ext cx="7863840" cy="594360"/>
          </a:xfrm>
          <a:prstGeom prst="rect">
            <a:avLst/>
          </a:prstGeom>
          <a:noFill/>
          <a:ln/>
        </p:spPr>
        <p:txBody>
          <a:bodyPr wrap="square" lIns="0" tIns="0" rIns="0" bIns="0" rtlCol="0" anchor="ctr"/>
          <a:lstStyle/>
          <a:p>
            <a:pPr marL="0" indent="0">
              <a:buNone/>
            </a:pPr>
            <a:r>
              <a:rPr lang="en-US" sz="1300" b="1" dirty="0">
                <a:solidFill>
                  <a:srgbClr val="1F2933"/>
                </a:solidFill>
              </a:rPr>
              <a:t>Later: larger operators</a:t>
            </a:r>
            <a:r>
              <a:rPr lang="en-US" sz="1300" dirty="0">
                <a:solidFill>
                  <a:srgbClr val="1F2933"/>
                </a:solidFill>
              </a:rPr>
              <a:t> · multi-location deployments and integrations · Price: [</a:t>
            </a:r>
            <a:r>
              <a:rPr lang="en-US" sz="1300">
                <a:solidFill>
                  <a:srgbClr val="1F2933"/>
                </a:solidFill>
              </a:rPr>
              <a:t>PLACEHOLDER (DAI)] </a:t>
            </a:r>
            <a:r>
              <a:rPr lang="en-US" sz="1300" dirty="0">
                <a:solidFill>
                  <a:srgbClr val="1F2933"/>
                </a:solidFill>
              </a:rPr>
              <a:t>· We'll ask: “Would one system across several locations change how you run operations?”</a:t>
            </a:r>
            <a:endParaRPr lang="en-US" sz="1300" dirty="0"/>
          </a:p>
        </p:txBody>
      </p:sp>
      <p:sp>
        <p:nvSpPr>
          <p:cNvPr id="41" name="chip HYPOTHESIS TO VALIDATE"/>
          <p:cNvSpPr/>
          <p:nvPr/>
        </p:nvSpPr>
        <p:spPr>
          <a:xfrm>
            <a:off x="9509760" y="5596128"/>
            <a:ext cx="1843430" cy="256032"/>
          </a:xfrm>
          <a:prstGeom prst="roundRect">
            <a:avLst>
              <a:gd name="adj" fmla="val 50000"/>
            </a:avLst>
          </a:prstGeom>
          <a:solidFill>
            <a:srgbClr val="8A5A00"/>
          </a:solidFill>
          <a:ln w="12700">
            <a:solidFill>
              <a:srgbClr val="8A5A00"/>
            </a:solidFill>
            <a:prstDash val="solid"/>
          </a:ln>
        </p:spPr>
      </p:sp>
      <p:sp>
        <p:nvSpPr>
          <p:cNvPr id="42" name="Text 35"/>
          <p:cNvSpPr txBox="1"/>
          <p:nvPr/>
        </p:nvSpPr>
        <p:spPr>
          <a:xfrm>
            <a:off x="9509760" y="5596128"/>
            <a:ext cx="1843430"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HYPOTHESIS TO VALIDATE</a:t>
            </a:r>
            <a:endParaRPr lang="en-US" sz="1000" dirty="0"/>
          </a:p>
        </p:txBody>
      </p:sp>
      <p:sp>
        <p:nvSpPr>
          <p:cNvPr id="43" name="Text 36"/>
          <p:cNvSpPr txBox="1"/>
          <p:nvPr/>
        </p:nvSpPr>
        <p:spPr>
          <a:xfrm>
            <a:off x="9509760" y="5897880"/>
            <a:ext cx="2011680" cy="274320"/>
          </a:xfrm>
          <a:prstGeom prst="rect">
            <a:avLst/>
          </a:prstGeom>
          <a:noFill/>
          <a:ln/>
        </p:spPr>
        <p:txBody>
          <a:bodyPr wrap="square" lIns="0" tIns="0" rIns="0" bIns="0" rtlCol="0" anchor="t"/>
          <a:lstStyle/>
          <a:p>
            <a:pPr marL="0" indent="0">
              <a:buNone/>
            </a:pPr>
            <a:r>
              <a:rPr lang="en-US" sz="1100" i="1" dirty="0">
                <a:solidFill>
                  <a:srgbClr val="8A5A00"/>
                </a:solidFill>
              </a:rPr>
              <a:t>Willingness to pay ≠ demand</a:t>
            </a:r>
            <a:endParaRPr lang="en-US" sz="1100" dirty="0"/>
          </a:p>
        </p:txBody>
      </p:sp>
      <p:sp>
        <p:nvSpPr>
          <p:cNvPr id="44"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12</a:t>
            </a:fld>
            <a:endParaRPr lang="en-US"/>
          </a:p>
        </p:txBody>
      </p:sp>
      <p:sp>
        <p:nvSpPr>
          <p:cNvPr id="46" name="Text 21">
            <a:extLst>
              <a:ext uri="{FF2B5EF4-FFF2-40B4-BE49-F238E27FC236}">
                <a16:creationId xmlns:a16="http://schemas.microsoft.com/office/drawing/2014/main" id="{94C85A87-C7C7-5B94-486A-365873D64739}"/>
              </a:ext>
            </a:extLst>
          </p:cNvPr>
          <p:cNvSpPr txBox="1"/>
          <p:nvPr/>
        </p:nvSpPr>
        <p:spPr>
          <a:xfrm>
            <a:off x="9104318" y="3121785"/>
            <a:ext cx="2331720" cy="274320"/>
          </a:xfrm>
          <a:prstGeom prst="rect">
            <a:avLst/>
          </a:prstGeom>
          <a:noFill/>
          <a:ln/>
        </p:spPr>
        <p:txBody>
          <a:bodyPr wrap="square" lIns="0" tIns="0" rIns="0" bIns="0" rtlCol="0" anchor="t"/>
          <a:lstStyle/>
          <a:p>
            <a:pPr marL="0" indent="0">
              <a:buNone/>
            </a:pPr>
            <a:r>
              <a:rPr lang="en-US" sz="1300" b="1" dirty="0">
                <a:solidFill>
                  <a:srgbClr val="8A5A00"/>
                </a:solidFill>
              </a:rPr>
              <a:t>Price: [PLACEHOLDER] (will be decided after user interviews)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0B3D2E"/>
                </a:solidFill>
              </a:rPr>
              <a:t>How ₹10,000 reaches our first users</a:t>
            </a:r>
            <a:endParaRPr lang="en-US" sz="3600" dirty="0"/>
          </a:p>
        </p:txBody>
      </p:sp>
      <p:sp>
        <p:nvSpPr>
          <p:cNvPr id="3" name="budget card"/>
          <p:cNvSpPr/>
          <p:nvPr/>
        </p:nvSpPr>
        <p:spPr>
          <a:xfrm>
            <a:off x="548640" y="1280160"/>
            <a:ext cx="6400800" cy="3017520"/>
          </a:xfrm>
          <a:prstGeom prst="roundRect">
            <a:avLst>
              <a:gd name="adj" fmla="val 3636"/>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graphicFrame>
        <p:nvGraphicFramePr>
          <p:cNvPr id="4" name="Chart 0" descr="Donut chart of the Rs 10,000 budget"/>
          <p:cNvGraphicFramePr/>
          <p:nvPr/>
        </p:nvGraphicFramePr>
        <p:xfrm>
          <a:off x="640080" y="1371600"/>
          <a:ext cx="28346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1325880" y="2514600"/>
            <a:ext cx="1463040" cy="411480"/>
          </a:xfrm>
          <a:prstGeom prst="rect">
            <a:avLst/>
          </a:prstGeom>
          <a:noFill/>
          <a:ln/>
        </p:spPr>
        <p:txBody>
          <a:bodyPr wrap="square" lIns="0" tIns="0" rIns="0" bIns="0" rtlCol="0" anchor="t"/>
          <a:lstStyle/>
          <a:p>
            <a:pPr marL="0" indent="0" algn="ctr">
              <a:buNone/>
            </a:pPr>
            <a:r>
              <a:rPr lang="en-US" sz="2200" b="1" dirty="0">
                <a:solidFill>
                  <a:srgbClr val="0B3D2E"/>
                </a:solidFill>
              </a:rPr>
              <a:t>₹10,000</a:t>
            </a:r>
            <a:endParaRPr lang="en-US" sz="2200" dirty="0"/>
          </a:p>
        </p:txBody>
      </p:sp>
      <p:sp>
        <p:nvSpPr>
          <p:cNvPr id="6" name="Text 3"/>
          <p:cNvSpPr txBox="1"/>
          <p:nvPr/>
        </p:nvSpPr>
        <p:spPr>
          <a:xfrm>
            <a:off x="1325880" y="2898648"/>
            <a:ext cx="1463040" cy="274320"/>
          </a:xfrm>
          <a:prstGeom prst="rect">
            <a:avLst/>
          </a:prstGeom>
          <a:noFill/>
          <a:ln/>
        </p:spPr>
        <p:txBody>
          <a:bodyPr wrap="square" lIns="0" tIns="0" rIns="0" bIns="0" rtlCol="0" anchor="t"/>
          <a:lstStyle/>
          <a:p>
            <a:pPr marL="0" indent="0" algn="ctr">
              <a:buNone/>
            </a:pPr>
            <a:r>
              <a:rPr lang="en-US" sz="1000" dirty="0">
                <a:solidFill>
                  <a:srgbClr val="5B6B73"/>
                </a:solidFill>
              </a:rPr>
              <a:t>team estimates</a:t>
            </a:r>
            <a:endParaRPr lang="en-US" sz="1000" dirty="0"/>
          </a:p>
        </p:txBody>
      </p:sp>
      <p:sp>
        <p:nvSpPr>
          <p:cNvPr id="7" name="legend Travel"/>
          <p:cNvSpPr/>
          <p:nvPr/>
        </p:nvSpPr>
        <p:spPr>
          <a:xfrm>
            <a:off x="3611880" y="1517904"/>
            <a:ext cx="164592" cy="164592"/>
          </a:xfrm>
          <a:prstGeom prst="rect">
            <a:avLst/>
          </a:prstGeom>
          <a:solidFill>
            <a:srgbClr val="0B3D2E"/>
          </a:solidFill>
          <a:ln w="12700">
            <a:solidFill>
              <a:srgbClr val="0B3D2E"/>
            </a:solidFill>
            <a:prstDash val="solid"/>
          </a:ln>
        </p:spPr>
      </p:sp>
      <p:sp>
        <p:nvSpPr>
          <p:cNvPr id="8" name="Text 5"/>
          <p:cNvSpPr txBox="1"/>
          <p:nvPr/>
        </p:nvSpPr>
        <p:spPr>
          <a:xfrm>
            <a:off x="3858768" y="1444752"/>
            <a:ext cx="2240280" cy="301752"/>
          </a:xfrm>
          <a:prstGeom prst="rect">
            <a:avLst/>
          </a:prstGeom>
          <a:noFill/>
          <a:ln/>
        </p:spPr>
        <p:txBody>
          <a:bodyPr wrap="square" lIns="0" tIns="0" rIns="0" bIns="0" rtlCol="0" anchor="ctr"/>
          <a:lstStyle/>
          <a:p>
            <a:pPr marL="0" indent="0">
              <a:buNone/>
            </a:pPr>
            <a:r>
              <a:rPr lang="en-US" sz="1200" dirty="0">
                <a:solidFill>
                  <a:srgbClr val="1F2933"/>
                </a:solidFill>
              </a:rPr>
              <a:t>Travel</a:t>
            </a:r>
            <a:endParaRPr lang="en-US" sz="1200" dirty="0"/>
          </a:p>
        </p:txBody>
      </p:sp>
      <p:sp>
        <p:nvSpPr>
          <p:cNvPr id="9" name="Text 6"/>
          <p:cNvSpPr txBox="1"/>
          <p:nvPr/>
        </p:nvSpPr>
        <p:spPr>
          <a:xfrm>
            <a:off x="6035040" y="1444752"/>
            <a:ext cx="777240" cy="301752"/>
          </a:xfrm>
          <a:prstGeom prst="rect">
            <a:avLst/>
          </a:prstGeom>
          <a:noFill/>
          <a:ln/>
        </p:spPr>
        <p:txBody>
          <a:bodyPr wrap="square" lIns="0" tIns="0" rIns="0" bIns="0" rtlCol="0" anchor="ctr"/>
          <a:lstStyle/>
          <a:p>
            <a:pPr marL="0" indent="0" algn="r">
              <a:buNone/>
            </a:pPr>
            <a:r>
              <a:rPr lang="en-US" sz="1200" b="1" dirty="0">
                <a:solidFill>
                  <a:srgbClr val="1F2933"/>
                </a:solidFill>
              </a:rPr>
              <a:t>₹2,500</a:t>
            </a:r>
            <a:endParaRPr lang="en-US" sz="1200" dirty="0"/>
          </a:p>
        </p:txBody>
      </p:sp>
      <p:sp>
        <p:nvSpPr>
          <p:cNvPr id="10" name="legend Posters + banner (Marathi/Hindi)"/>
          <p:cNvSpPr/>
          <p:nvPr/>
        </p:nvSpPr>
        <p:spPr>
          <a:xfrm>
            <a:off x="3611880" y="1856232"/>
            <a:ext cx="164592" cy="164592"/>
          </a:xfrm>
          <a:prstGeom prst="rect">
            <a:avLst/>
          </a:prstGeom>
          <a:solidFill>
            <a:srgbClr val="0F766E"/>
          </a:solidFill>
          <a:ln w="12700">
            <a:solidFill>
              <a:srgbClr val="0F766E"/>
            </a:solidFill>
            <a:prstDash val="solid"/>
          </a:ln>
        </p:spPr>
      </p:sp>
      <p:sp>
        <p:nvSpPr>
          <p:cNvPr id="11" name="Text 8"/>
          <p:cNvSpPr txBox="1"/>
          <p:nvPr/>
        </p:nvSpPr>
        <p:spPr>
          <a:xfrm>
            <a:off x="3858768" y="1783080"/>
            <a:ext cx="2240280" cy="301752"/>
          </a:xfrm>
          <a:prstGeom prst="rect">
            <a:avLst/>
          </a:prstGeom>
          <a:noFill/>
          <a:ln/>
        </p:spPr>
        <p:txBody>
          <a:bodyPr wrap="square" lIns="0" tIns="0" rIns="0" bIns="0" rtlCol="0" anchor="ctr"/>
          <a:lstStyle/>
          <a:p>
            <a:pPr marL="0" indent="0">
              <a:buNone/>
            </a:pPr>
            <a:r>
              <a:rPr lang="en-US" sz="1200" dirty="0">
                <a:solidFill>
                  <a:srgbClr val="1F2933"/>
                </a:solidFill>
              </a:rPr>
              <a:t>Posters + banner (Marathi/Hindi)</a:t>
            </a:r>
            <a:endParaRPr lang="en-US" sz="1200" dirty="0"/>
          </a:p>
        </p:txBody>
      </p:sp>
      <p:sp>
        <p:nvSpPr>
          <p:cNvPr id="12" name="Text 9"/>
          <p:cNvSpPr txBox="1"/>
          <p:nvPr/>
        </p:nvSpPr>
        <p:spPr>
          <a:xfrm>
            <a:off x="6035040" y="1783080"/>
            <a:ext cx="777240" cy="301752"/>
          </a:xfrm>
          <a:prstGeom prst="rect">
            <a:avLst/>
          </a:prstGeom>
          <a:noFill/>
          <a:ln/>
        </p:spPr>
        <p:txBody>
          <a:bodyPr wrap="square" lIns="0" tIns="0" rIns="0" bIns="0" rtlCol="0" anchor="ctr"/>
          <a:lstStyle/>
          <a:p>
            <a:pPr marL="0" indent="0" algn="r">
              <a:buNone/>
            </a:pPr>
            <a:r>
              <a:rPr lang="en-US" sz="1200" b="1" dirty="0">
                <a:solidFill>
                  <a:srgbClr val="1F2933"/>
                </a:solidFill>
              </a:rPr>
              <a:t>₹1,800</a:t>
            </a:r>
            <a:endParaRPr lang="en-US" sz="1200" dirty="0"/>
          </a:p>
        </p:txBody>
      </p:sp>
      <p:sp>
        <p:nvSpPr>
          <p:cNvPr id="13" name="legend Handouts"/>
          <p:cNvSpPr/>
          <p:nvPr/>
        </p:nvSpPr>
        <p:spPr>
          <a:xfrm>
            <a:off x="3611880" y="2194560"/>
            <a:ext cx="164592" cy="164592"/>
          </a:xfrm>
          <a:prstGeom prst="rect">
            <a:avLst/>
          </a:prstGeom>
          <a:solidFill>
            <a:srgbClr val="10B981"/>
          </a:solidFill>
          <a:ln w="12700">
            <a:solidFill>
              <a:srgbClr val="10B981"/>
            </a:solidFill>
            <a:prstDash val="solid"/>
          </a:ln>
        </p:spPr>
      </p:sp>
      <p:sp>
        <p:nvSpPr>
          <p:cNvPr id="14" name="Text 11"/>
          <p:cNvSpPr txBox="1"/>
          <p:nvPr/>
        </p:nvSpPr>
        <p:spPr>
          <a:xfrm>
            <a:off x="3858768" y="2121408"/>
            <a:ext cx="2240280" cy="301752"/>
          </a:xfrm>
          <a:prstGeom prst="rect">
            <a:avLst/>
          </a:prstGeom>
          <a:noFill/>
          <a:ln/>
        </p:spPr>
        <p:txBody>
          <a:bodyPr wrap="square" lIns="0" tIns="0" rIns="0" bIns="0" rtlCol="0" anchor="ctr"/>
          <a:lstStyle/>
          <a:p>
            <a:pPr marL="0" indent="0">
              <a:buNone/>
            </a:pPr>
            <a:r>
              <a:rPr lang="en-US" sz="1200" dirty="0">
                <a:solidFill>
                  <a:srgbClr val="1F2933"/>
                </a:solidFill>
              </a:rPr>
              <a:t>Handouts</a:t>
            </a:r>
            <a:endParaRPr lang="en-US" sz="1200" dirty="0"/>
          </a:p>
        </p:txBody>
      </p:sp>
      <p:sp>
        <p:nvSpPr>
          <p:cNvPr id="15" name="Text 12"/>
          <p:cNvSpPr txBox="1"/>
          <p:nvPr/>
        </p:nvSpPr>
        <p:spPr>
          <a:xfrm>
            <a:off x="6035040" y="2121408"/>
            <a:ext cx="777240" cy="301752"/>
          </a:xfrm>
          <a:prstGeom prst="rect">
            <a:avLst/>
          </a:prstGeom>
          <a:noFill/>
          <a:ln/>
        </p:spPr>
        <p:txBody>
          <a:bodyPr wrap="square" lIns="0" tIns="0" rIns="0" bIns="0" rtlCol="0" anchor="ctr"/>
          <a:lstStyle/>
          <a:p>
            <a:pPr marL="0" indent="0" algn="r">
              <a:buNone/>
            </a:pPr>
            <a:r>
              <a:rPr lang="en-US" sz="1200" b="1" dirty="0">
                <a:solidFill>
                  <a:srgbClr val="1F2933"/>
                </a:solidFill>
              </a:rPr>
              <a:t>₹700</a:t>
            </a:r>
            <a:endParaRPr lang="en-US" sz="1200" dirty="0"/>
          </a:p>
        </p:txBody>
      </p:sp>
      <p:sp>
        <p:nvSpPr>
          <p:cNvPr id="16" name="legend 300 QR stickers"/>
          <p:cNvSpPr/>
          <p:nvPr/>
        </p:nvSpPr>
        <p:spPr>
          <a:xfrm>
            <a:off x="3611880" y="2532888"/>
            <a:ext cx="164592" cy="164592"/>
          </a:xfrm>
          <a:prstGeom prst="rect">
            <a:avLst/>
          </a:prstGeom>
          <a:solidFill>
            <a:srgbClr val="6FB7A8"/>
          </a:solidFill>
          <a:ln w="12700">
            <a:solidFill>
              <a:srgbClr val="6FB7A8"/>
            </a:solidFill>
            <a:prstDash val="solid"/>
          </a:ln>
        </p:spPr>
      </p:sp>
      <p:sp>
        <p:nvSpPr>
          <p:cNvPr id="17" name="Text 14"/>
          <p:cNvSpPr txBox="1"/>
          <p:nvPr/>
        </p:nvSpPr>
        <p:spPr>
          <a:xfrm>
            <a:off x="3858768" y="2459736"/>
            <a:ext cx="2240280" cy="301752"/>
          </a:xfrm>
          <a:prstGeom prst="rect">
            <a:avLst/>
          </a:prstGeom>
          <a:noFill/>
          <a:ln/>
        </p:spPr>
        <p:txBody>
          <a:bodyPr wrap="square" lIns="0" tIns="0" rIns="0" bIns="0" rtlCol="0" anchor="ctr"/>
          <a:lstStyle/>
          <a:p>
            <a:pPr marL="0" indent="0">
              <a:buNone/>
            </a:pPr>
            <a:r>
              <a:rPr lang="en-US" sz="1200" dirty="0">
                <a:solidFill>
                  <a:srgbClr val="1F2933"/>
                </a:solidFill>
              </a:rPr>
              <a:t>300 QR stickers</a:t>
            </a:r>
            <a:endParaRPr lang="en-US" sz="1200" dirty="0"/>
          </a:p>
        </p:txBody>
      </p:sp>
      <p:sp>
        <p:nvSpPr>
          <p:cNvPr id="18" name="Text 15"/>
          <p:cNvSpPr txBox="1"/>
          <p:nvPr/>
        </p:nvSpPr>
        <p:spPr>
          <a:xfrm>
            <a:off x="6035040" y="2459736"/>
            <a:ext cx="777240" cy="301752"/>
          </a:xfrm>
          <a:prstGeom prst="rect">
            <a:avLst/>
          </a:prstGeom>
          <a:noFill/>
          <a:ln/>
        </p:spPr>
        <p:txBody>
          <a:bodyPr wrap="square" lIns="0" tIns="0" rIns="0" bIns="0" rtlCol="0" anchor="ctr"/>
          <a:lstStyle/>
          <a:p>
            <a:pPr marL="0" indent="0" algn="r">
              <a:buNone/>
            </a:pPr>
            <a:r>
              <a:rPr lang="en-US" sz="1200" b="1" dirty="0">
                <a:solidFill>
                  <a:srgbClr val="1F2933"/>
                </a:solidFill>
              </a:rPr>
              <a:t>₹600</a:t>
            </a:r>
            <a:endParaRPr lang="en-US" sz="1200" dirty="0"/>
          </a:p>
        </p:txBody>
      </p:sp>
      <p:sp>
        <p:nvSpPr>
          <p:cNvPr id="19" name="legend Demo desk"/>
          <p:cNvSpPr/>
          <p:nvPr/>
        </p:nvSpPr>
        <p:spPr>
          <a:xfrm>
            <a:off x="3611880" y="2871216"/>
            <a:ext cx="164592" cy="164592"/>
          </a:xfrm>
          <a:prstGeom prst="rect">
            <a:avLst/>
          </a:prstGeom>
          <a:solidFill>
            <a:srgbClr val="8A5A00"/>
          </a:solidFill>
          <a:ln w="12700">
            <a:solidFill>
              <a:srgbClr val="8A5A00"/>
            </a:solidFill>
            <a:prstDash val="solid"/>
          </a:ln>
        </p:spPr>
      </p:sp>
      <p:sp>
        <p:nvSpPr>
          <p:cNvPr id="20" name="Text 17"/>
          <p:cNvSpPr txBox="1"/>
          <p:nvPr/>
        </p:nvSpPr>
        <p:spPr>
          <a:xfrm>
            <a:off x="3858768" y="2798064"/>
            <a:ext cx="2240280" cy="301752"/>
          </a:xfrm>
          <a:prstGeom prst="rect">
            <a:avLst/>
          </a:prstGeom>
          <a:noFill/>
          <a:ln/>
        </p:spPr>
        <p:txBody>
          <a:bodyPr wrap="square" lIns="0" tIns="0" rIns="0" bIns="0" rtlCol="0" anchor="ctr"/>
          <a:lstStyle/>
          <a:p>
            <a:pPr marL="0" indent="0">
              <a:buNone/>
            </a:pPr>
            <a:r>
              <a:rPr lang="en-US" sz="1200" dirty="0">
                <a:solidFill>
                  <a:srgbClr val="1F2933"/>
                </a:solidFill>
              </a:rPr>
              <a:t>Demo desk</a:t>
            </a:r>
            <a:endParaRPr lang="en-US" sz="1200" dirty="0"/>
          </a:p>
        </p:txBody>
      </p:sp>
      <p:sp>
        <p:nvSpPr>
          <p:cNvPr id="21" name="Text 18"/>
          <p:cNvSpPr txBox="1"/>
          <p:nvPr/>
        </p:nvSpPr>
        <p:spPr>
          <a:xfrm>
            <a:off x="6035040" y="2798064"/>
            <a:ext cx="777240" cy="301752"/>
          </a:xfrm>
          <a:prstGeom prst="rect">
            <a:avLst/>
          </a:prstGeom>
          <a:noFill/>
          <a:ln/>
        </p:spPr>
        <p:txBody>
          <a:bodyPr wrap="square" lIns="0" tIns="0" rIns="0" bIns="0" rtlCol="0" anchor="ctr"/>
          <a:lstStyle/>
          <a:p>
            <a:pPr marL="0" indent="0" algn="r">
              <a:buNone/>
            </a:pPr>
            <a:r>
              <a:rPr lang="en-US" sz="1200" b="1" dirty="0">
                <a:solidFill>
                  <a:srgbClr val="1F2933"/>
                </a:solidFill>
              </a:rPr>
              <a:t>₹1,000</a:t>
            </a:r>
            <a:endParaRPr lang="en-US" sz="1200" dirty="0"/>
          </a:p>
        </p:txBody>
      </p:sp>
      <p:sp>
        <p:nvSpPr>
          <p:cNvPr id="22" name="legend Refreshments"/>
          <p:cNvSpPr/>
          <p:nvPr/>
        </p:nvSpPr>
        <p:spPr>
          <a:xfrm>
            <a:off x="3611880" y="3209544"/>
            <a:ext cx="164592" cy="164592"/>
          </a:xfrm>
          <a:prstGeom prst="rect">
            <a:avLst/>
          </a:prstGeom>
          <a:solidFill>
            <a:srgbClr val="D6A647"/>
          </a:solidFill>
          <a:ln w="12700">
            <a:solidFill>
              <a:srgbClr val="D6A647"/>
            </a:solidFill>
            <a:prstDash val="solid"/>
          </a:ln>
        </p:spPr>
      </p:sp>
      <p:sp>
        <p:nvSpPr>
          <p:cNvPr id="23" name="Text 20"/>
          <p:cNvSpPr txBox="1"/>
          <p:nvPr/>
        </p:nvSpPr>
        <p:spPr>
          <a:xfrm>
            <a:off x="3858768" y="3136392"/>
            <a:ext cx="2240280" cy="301752"/>
          </a:xfrm>
          <a:prstGeom prst="rect">
            <a:avLst/>
          </a:prstGeom>
          <a:noFill/>
          <a:ln/>
        </p:spPr>
        <p:txBody>
          <a:bodyPr wrap="square" lIns="0" tIns="0" rIns="0" bIns="0" rtlCol="0" anchor="ctr"/>
          <a:lstStyle/>
          <a:p>
            <a:pPr marL="0" indent="0">
              <a:buNone/>
            </a:pPr>
            <a:r>
              <a:rPr lang="en-US" sz="1200" dirty="0">
                <a:solidFill>
                  <a:srgbClr val="1F2933"/>
                </a:solidFill>
              </a:rPr>
              <a:t>Refreshments</a:t>
            </a:r>
            <a:endParaRPr lang="en-US" sz="1200" dirty="0"/>
          </a:p>
        </p:txBody>
      </p:sp>
      <p:sp>
        <p:nvSpPr>
          <p:cNvPr id="24" name="Text 21"/>
          <p:cNvSpPr txBox="1"/>
          <p:nvPr/>
        </p:nvSpPr>
        <p:spPr>
          <a:xfrm>
            <a:off x="6035040" y="3136392"/>
            <a:ext cx="777240" cy="301752"/>
          </a:xfrm>
          <a:prstGeom prst="rect">
            <a:avLst/>
          </a:prstGeom>
          <a:noFill/>
          <a:ln/>
        </p:spPr>
        <p:txBody>
          <a:bodyPr wrap="square" lIns="0" tIns="0" rIns="0" bIns="0" rtlCol="0" anchor="ctr"/>
          <a:lstStyle/>
          <a:p>
            <a:pPr marL="0" indent="0" algn="r">
              <a:buNone/>
            </a:pPr>
            <a:r>
              <a:rPr lang="en-US" sz="1200" b="1" dirty="0">
                <a:solidFill>
                  <a:srgbClr val="1F2933"/>
                </a:solidFill>
              </a:rPr>
              <a:t>₹1,000</a:t>
            </a:r>
            <a:endParaRPr lang="en-US" sz="1200" dirty="0"/>
          </a:p>
        </p:txBody>
      </p:sp>
      <p:sp>
        <p:nvSpPr>
          <p:cNvPr id="25" name="legend Mobile data"/>
          <p:cNvSpPr/>
          <p:nvPr/>
        </p:nvSpPr>
        <p:spPr>
          <a:xfrm>
            <a:off x="3611880" y="3547872"/>
            <a:ext cx="164592" cy="164592"/>
          </a:xfrm>
          <a:prstGeom prst="rect">
            <a:avLst/>
          </a:prstGeom>
          <a:solidFill>
            <a:srgbClr val="5B6B73"/>
          </a:solidFill>
          <a:ln w="12700">
            <a:solidFill>
              <a:srgbClr val="5B6B73"/>
            </a:solidFill>
            <a:prstDash val="solid"/>
          </a:ln>
        </p:spPr>
      </p:sp>
      <p:sp>
        <p:nvSpPr>
          <p:cNvPr id="26" name="Text 23"/>
          <p:cNvSpPr txBox="1"/>
          <p:nvPr/>
        </p:nvSpPr>
        <p:spPr>
          <a:xfrm>
            <a:off x="3858768" y="3474720"/>
            <a:ext cx="2240280" cy="301752"/>
          </a:xfrm>
          <a:prstGeom prst="rect">
            <a:avLst/>
          </a:prstGeom>
          <a:noFill/>
          <a:ln/>
        </p:spPr>
        <p:txBody>
          <a:bodyPr wrap="square" lIns="0" tIns="0" rIns="0" bIns="0" rtlCol="0" anchor="ctr"/>
          <a:lstStyle/>
          <a:p>
            <a:pPr marL="0" indent="0">
              <a:buNone/>
            </a:pPr>
            <a:r>
              <a:rPr lang="en-US" sz="1200" dirty="0">
                <a:solidFill>
                  <a:srgbClr val="1F2933"/>
                </a:solidFill>
              </a:rPr>
              <a:t>Mobile data</a:t>
            </a:r>
            <a:endParaRPr lang="en-US" sz="1200" dirty="0"/>
          </a:p>
        </p:txBody>
      </p:sp>
      <p:sp>
        <p:nvSpPr>
          <p:cNvPr id="27" name="Text 24"/>
          <p:cNvSpPr txBox="1"/>
          <p:nvPr/>
        </p:nvSpPr>
        <p:spPr>
          <a:xfrm>
            <a:off x="6035040" y="3474720"/>
            <a:ext cx="777240" cy="301752"/>
          </a:xfrm>
          <a:prstGeom prst="rect">
            <a:avLst/>
          </a:prstGeom>
          <a:noFill/>
          <a:ln/>
        </p:spPr>
        <p:txBody>
          <a:bodyPr wrap="square" lIns="0" tIns="0" rIns="0" bIns="0" rtlCol="0" anchor="ctr"/>
          <a:lstStyle/>
          <a:p>
            <a:pPr marL="0" indent="0" algn="r">
              <a:buNone/>
            </a:pPr>
            <a:r>
              <a:rPr lang="en-US" sz="1200" b="1" dirty="0">
                <a:solidFill>
                  <a:srgbClr val="1F2933"/>
                </a:solidFill>
              </a:rPr>
              <a:t>₹500</a:t>
            </a:r>
            <a:endParaRPr lang="en-US" sz="1200" dirty="0"/>
          </a:p>
        </p:txBody>
      </p:sp>
      <p:sp>
        <p:nvSpPr>
          <p:cNvPr id="28" name="legend Reserve"/>
          <p:cNvSpPr/>
          <p:nvPr/>
        </p:nvSpPr>
        <p:spPr>
          <a:xfrm>
            <a:off x="3611880" y="3886200"/>
            <a:ext cx="164592" cy="164592"/>
          </a:xfrm>
          <a:prstGeom prst="rect">
            <a:avLst/>
          </a:prstGeom>
          <a:solidFill>
            <a:srgbClr val="B7C4BF"/>
          </a:solidFill>
          <a:ln w="12700">
            <a:solidFill>
              <a:srgbClr val="B7C4BF"/>
            </a:solidFill>
            <a:prstDash val="solid"/>
          </a:ln>
        </p:spPr>
      </p:sp>
      <p:sp>
        <p:nvSpPr>
          <p:cNvPr id="29" name="Text 26"/>
          <p:cNvSpPr txBox="1"/>
          <p:nvPr/>
        </p:nvSpPr>
        <p:spPr>
          <a:xfrm>
            <a:off x="3858768" y="3813048"/>
            <a:ext cx="2240280" cy="301752"/>
          </a:xfrm>
          <a:prstGeom prst="rect">
            <a:avLst/>
          </a:prstGeom>
          <a:noFill/>
          <a:ln/>
        </p:spPr>
        <p:txBody>
          <a:bodyPr wrap="square" lIns="0" tIns="0" rIns="0" bIns="0" rtlCol="0" anchor="ctr"/>
          <a:lstStyle/>
          <a:p>
            <a:pPr marL="0" indent="0">
              <a:buNone/>
            </a:pPr>
            <a:r>
              <a:rPr lang="en-US" sz="1200" dirty="0">
                <a:solidFill>
                  <a:srgbClr val="1F2933"/>
                </a:solidFill>
              </a:rPr>
              <a:t>Reserve</a:t>
            </a:r>
            <a:endParaRPr lang="en-US" sz="1200" dirty="0"/>
          </a:p>
        </p:txBody>
      </p:sp>
      <p:sp>
        <p:nvSpPr>
          <p:cNvPr id="30" name="Text 27"/>
          <p:cNvSpPr txBox="1"/>
          <p:nvPr/>
        </p:nvSpPr>
        <p:spPr>
          <a:xfrm>
            <a:off x="6035040" y="3813048"/>
            <a:ext cx="777240" cy="301752"/>
          </a:xfrm>
          <a:prstGeom prst="rect">
            <a:avLst/>
          </a:prstGeom>
          <a:noFill/>
          <a:ln/>
        </p:spPr>
        <p:txBody>
          <a:bodyPr wrap="square" lIns="0" tIns="0" rIns="0" bIns="0" rtlCol="0" anchor="ctr"/>
          <a:lstStyle/>
          <a:p>
            <a:pPr marL="0" indent="0" algn="r">
              <a:buNone/>
            </a:pPr>
            <a:r>
              <a:rPr lang="en-US" sz="1200" b="1" dirty="0">
                <a:solidFill>
                  <a:srgbClr val="1F2933"/>
                </a:solidFill>
              </a:rPr>
              <a:t>₹1,900</a:t>
            </a:r>
            <a:endParaRPr lang="en-US" sz="1200" dirty="0"/>
          </a:p>
        </p:txBody>
      </p:sp>
      <p:sp>
        <p:nvSpPr>
          <p:cNvPr id="31" name="execution card"/>
          <p:cNvSpPr/>
          <p:nvPr/>
        </p:nvSpPr>
        <p:spPr>
          <a:xfrm>
            <a:off x="7132320" y="1280160"/>
            <a:ext cx="4480560" cy="3017520"/>
          </a:xfrm>
          <a:prstGeom prst="roundRect">
            <a:avLst>
              <a:gd name="adj" fmla="val 3636"/>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32" name="Text 29"/>
          <p:cNvSpPr txBox="1"/>
          <p:nvPr/>
        </p:nvSpPr>
        <p:spPr>
          <a:xfrm>
            <a:off x="7315200" y="1389888"/>
            <a:ext cx="4114800" cy="365760"/>
          </a:xfrm>
          <a:prstGeom prst="rect">
            <a:avLst/>
          </a:prstGeom>
          <a:noFill/>
          <a:ln/>
        </p:spPr>
        <p:txBody>
          <a:bodyPr wrap="square" lIns="0" tIns="0" rIns="0" bIns="0" rtlCol="0" anchor="t"/>
          <a:lstStyle/>
          <a:p>
            <a:pPr marL="0" indent="0">
              <a:buNone/>
            </a:pPr>
            <a:r>
              <a:rPr lang="en-US" sz="1800" b="1" dirty="0">
                <a:solidFill>
                  <a:srgbClr val="0B3D2E"/>
                </a:solidFill>
              </a:rPr>
              <a:t>Four field days</a:t>
            </a:r>
            <a:endParaRPr lang="en-US" sz="1800" dirty="0"/>
          </a:p>
        </p:txBody>
      </p:sp>
      <p:sp>
        <p:nvSpPr>
          <p:cNvPr id="33" name="icon circle FaImage"/>
          <p:cNvSpPr/>
          <p:nvPr/>
        </p:nvSpPr>
        <p:spPr>
          <a:xfrm>
            <a:off x="7315200" y="1874520"/>
            <a:ext cx="457200" cy="457200"/>
          </a:xfrm>
          <a:prstGeom prst="ellipse">
            <a:avLst/>
          </a:prstGeom>
          <a:solidFill>
            <a:srgbClr val="0F766E"/>
          </a:solidFill>
          <a:ln w="12700">
            <a:solidFill>
              <a:srgbClr val="0F766E"/>
            </a:solidFill>
            <a:prstDash val="solid"/>
          </a:ln>
        </p:spPr>
      </p:sp>
      <p:pic>
        <p:nvPicPr>
          <p:cNvPr id="34" name="Image 0" descr="Image icon"/>
          <p:cNvPicPr>
            <a:picLocks noChangeAspect="1"/>
          </p:cNvPicPr>
          <p:nvPr/>
        </p:nvPicPr>
        <p:blipFill>
          <a:blip r:embed="rId4"/>
          <a:stretch>
            <a:fillRect/>
          </a:stretch>
        </p:blipFill>
        <p:spPr>
          <a:xfrm>
            <a:off x="7438644" y="1997964"/>
            <a:ext cx="210312" cy="210312"/>
          </a:xfrm>
          <a:prstGeom prst="rect">
            <a:avLst/>
          </a:prstGeom>
        </p:spPr>
      </p:pic>
      <p:sp>
        <p:nvSpPr>
          <p:cNvPr id="35" name="Text 31"/>
          <p:cNvSpPr txBox="1"/>
          <p:nvPr/>
        </p:nvSpPr>
        <p:spPr>
          <a:xfrm>
            <a:off x="7909560" y="1856232"/>
            <a:ext cx="3566160" cy="566928"/>
          </a:xfrm>
          <a:prstGeom prst="rect">
            <a:avLst/>
          </a:prstGeom>
          <a:noFill/>
          <a:ln/>
        </p:spPr>
        <p:txBody>
          <a:bodyPr wrap="square" lIns="0" tIns="0" rIns="0" bIns="0" rtlCol="0" anchor="ctr"/>
          <a:lstStyle/>
          <a:p>
            <a:pPr marL="0" indent="0">
              <a:buNone/>
            </a:pPr>
            <a:r>
              <a:rPr lang="en-US" sz="1300" dirty="0">
                <a:solidFill>
                  <a:srgbClr val="1F2933"/>
                </a:solidFill>
              </a:rPr>
              <a:t>Visual posters per persona, in Marathi and Hindi</a:t>
            </a:r>
            <a:endParaRPr lang="en-US" sz="1300" dirty="0"/>
          </a:p>
        </p:txBody>
      </p:sp>
      <p:sp>
        <p:nvSpPr>
          <p:cNvPr id="36" name="icon circle FaTable"/>
          <p:cNvSpPr/>
          <p:nvPr/>
        </p:nvSpPr>
        <p:spPr>
          <a:xfrm>
            <a:off x="7315200" y="2496312"/>
            <a:ext cx="457200" cy="457200"/>
          </a:xfrm>
          <a:prstGeom prst="ellipse">
            <a:avLst/>
          </a:prstGeom>
          <a:solidFill>
            <a:srgbClr val="0F766E"/>
          </a:solidFill>
          <a:ln w="12700">
            <a:solidFill>
              <a:srgbClr val="0F766E"/>
            </a:solidFill>
            <a:prstDash val="solid"/>
          </a:ln>
        </p:spPr>
      </p:sp>
      <p:pic>
        <p:nvPicPr>
          <p:cNvPr id="37" name="Image 1" descr="Table icon"/>
          <p:cNvPicPr>
            <a:picLocks noChangeAspect="1"/>
          </p:cNvPicPr>
          <p:nvPr/>
        </p:nvPicPr>
        <p:blipFill>
          <a:blip r:embed="rId5"/>
          <a:stretch>
            <a:fillRect/>
          </a:stretch>
        </p:blipFill>
        <p:spPr>
          <a:xfrm>
            <a:off x="7438644" y="2619756"/>
            <a:ext cx="210312" cy="210312"/>
          </a:xfrm>
          <a:prstGeom prst="rect">
            <a:avLst/>
          </a:prstGeom>
        </p:spPr>
      </p:pic>
      <p:sp>
        <p:nvSpPr>
          <p:cNvPr id="38" name="Text 33"/>
          <p:cNvSpPr txBox="1"/>
          <p:nvPr/>
        </p:nvSpPr>
        <p:spPr>
          <a:xfrm>
            <a:off x="7909560" y="2478024"/>
            <a:ext cx="3566160" cy="566928"/>
          </a:xfrm>
          <a:prstGeom prst="rect">
            <a:avLst/>
          </a:prstGeom>
          <a:noFill/>
          <a:ln/>
        </p:spPr>
        <p:txBody>
          <a:bodyPr wrap="square" lIns="0" tIns="0" rIns="0" bIns="0" rtlCol="0" anchor="ctr"/>
          <a:lstStyle/>
          <a:p>
            <a:pPr marL="0" indent="0">
              <a:buNone/>
            </a:pPr>
            <a:r>
              <a:rPr lang="en-US" sz="1300" dirty="0">
                <a:solidFill>
                  <a:srgbClr val="1F2933"/>
                </a:solidFill>
              </a:rPr>
              <a:t>Staffed demo desk near commission-agent shops (APMC permission first)</a:t>
            </a:r>
            <a:endParaRPr lang="en-US" sz="1300" dirty="0"/>
          </a:p>
        </p:txBody>
      </p:sp>
      <p:sp>
        <p:nvSpPr>
          <p:cNvPr id="39" name="icon circle FaHandshake"/>
          <p:cNvSpPr/>
          <p:nvPr/>
        </p:nvSpPr>
        <p:spPr>
          <a:xfrm>
            <a:off x="7315200" y="3118104"/>
            <a:ext cx="457200" cy="457200"/>
          </a:xfrm>
          <a:prstGeom prst="ellipse">
            <a:avLst/>
          </a:prstGeom>
          <a:solidFill>
            <a:srgbClr val="0F766E"/>
          </a:solidFill>
          <a:ln w="12700">
            <a:solidFill>
              <a:srgbClr val="0F766E"/>
            </a:solidFill>
            <a:prstDash val="solid"/>
          </a:ln>
        </p:spPr>
      </p:sp>
      <p:pic>
        <p:nvPicPr>
          <p:cNvPr id="40" name="Image 2" descr="Handshake icon"/>
          <p:cNvPicPr>
            <a:picLocks noChangeAspect="1"/>
          </p:cNvPicPr>
          <p:nvPr/>
        </p:nvPicPr>
        <p:blipFill>
          <a:blip r:embed="rId6"/>
          <a:stretch>
            <a:fillRect/>
          </a:stretch>
        </p:blipFill>
        <p:spPr>
          <a:xfrm>
            <a:off x="7438644" y="3241548"/>
            <a:ext cx="210312" cy="210312"/>
          </a:xfrm>
          <a:prstGeom prst="rect">
            <a:avLst/>
          </a:prstGeom>
        </p:spPr>
      </p:pic>
      <p:sp>
        <p:nvSpPr>
          <p:cNvPr id="41" name="Text 35"/>
          <p:cNvSpPr txBox="1"/>
          <p:nvPr/>
        </p:nvSpPr>
        <p:spPr>
          <a:xfrm>
            <a:off x="7909560" y="3099816"/>
            <a:ext cx="3566160" cy="566928"/>
          </a:xfrm>
          <a:prstGeom prst="rect">
            <a:avLst/>
          </a:prstGeom>
          <a:noFill/>
          <a:ln/>
        </p:spPr>
        <p:txBody>
          <a:bodyPr wrap="square" lIns="0" tIns="0" rIns="0" bIns="0" rtlCol="0" anchor="ctr"/>
          <a:lstStyle/>
          <a:p>
            <a:pPr marL="0" indent="0">
              <a:buNone/>
            </a:pPr>
            <a:r>
              <a:rPr lang="en-US" sz="1300" dirty="0">
                <a:solidFill>
                  <a:srgbClr val="1F2933"/>
                </a:solidFill>
              </a:rPr>
              <a:t>Partner-led demos via FPOs, KVKs and NGOs</a:t>
            </a:r>
            <a:endParaRPr lang="en-US" sz="1300" dirty="0"/>
          </a:p>
        </p:txBody>
      </p:sp>
      <p:sp>
        <p:nvSpPr>
          <p:cNvPr id="42" name="Text 36"/>
          <p:cNvSpPr txBox="1"/>
          <p:nvPr/>
        </p:nvSpPr>
        <p:spPr>
          <a:xfrm>
            <a:off x="7315200" y="3749040"/>
            <a:ext cx="4160520" cy="502920"/>
          </a:xfrm>
          <a:prstGeom prst="rect">
            <a:avLst/>
          </a:prstGeom>
          <a:noFill/>
          <a:ln/>
        </p:spPr>
        <p:txBody>
          <a:bodyPr wrap="square" lIns="0" tIns="0" rIns="0" bIns="0" rtlCol="0" anchor="t"/>
          <a:lstStyle/>
          <a:p>
            <a:pPr marL="0" indent="0">
              <a:buNone/>
            </a:pPr>
            <a:r>
              <a:rPr lang="en-US" sz="1100" i="1" dirty="0">
                <a:solidFill>
                  <a:srgbClr val="5B6B73"/>
                </a:solidFill>
              </a:rPr>
              <a:t>If APMC permission is delayed: digital-first (WhatsApp demo videos, QR-linked info, waitlist) or a partner-led split via FPOs/KVKs.</a:t>
            </a:r>
            <a:endParaRPr lang="en-US" sz="1100" dirty="0"/>
          </a:p>
        </p:txBody>
      </p:sp>
      <p:sp>
        <p:nvSpPr>
          <p:cNvPr id="43" name="targets card"/>
          <p:cNvSpPr/>
          <p:nvPr/>
        </p:nvSpPr>
        <p:spPr>
          <a:xfrm>
            <a:off x="548640" y="4480560"/>
            <a:ext cx="5669280" cy="1691640"/>
          </a:xfrm>
          <a:prstGeom prst="roundRect">
            <a:avLst>
              <a:gd name="adj" fmla="val 6486"/>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44" name="Text 38"/>
          <p:cNvSpPr txBox="1"/>
          <p:nvPr/>
        </p:nvSpPr>
        <p:spPr>
          <a:xfrm>
            <a:off x="731520" y="4572000"/>
            <a:ext cx="2743200" cy="320040"/>
          </a:xfrm>
          <a:prstGeom prst="rect">
            <a:avLst/>
          </a:prstGeom>
          <a:noFill/>
          <a:ln/>
        </p:spPr>
        <p:txBody>
          <a:bodyPr wrap="square" lIns="0" tIns="0" rIns="0" bIns="0" rtlCol="0" anchor="t"/>
          <a:lstStyle/>
          <a:p>
            <a:pPr marL="0" indent="0">
              <a:buNone/>
            </a:pPr>
            <a:r>
              <a:rPr lang="en-US" sz="1600" b="1" dirty="0">
                <a:solidFill>
                  <a:srgbClr val="0B3D2E"/>
                </a:solidFill>
              </a:rPr>
              <a:t>Demo targets</a:t>
            </a:r>
            <a:endParaRPr lang="en-US" sz="1600" dirty="0"/>
          </a:p>
        </p:txBody>
      </p:sp>
      <p:sp>
        <p:nvSpPr>
          <p:cNvPr id="45" name="chip TARGETS, NOT RESULTS"/>
          <p:cNvSpPr/>
          <p:nvPr/>
        </p:nvSpPr>
        <p:spPr>
          <a:xfrm>
            <a:off x="4023360" y="4608576"/>
            <a:ext cx="1700784" cy="256032"/>
          </a:xfrm>
          <a:prstGeom prst="roundRect">
            <a:avLst>
              <a:gd name="adj" fmla="val 50000"/>
            </a:avLst>
          </a:prstGeom>
          <a:solidFill>
            <a:srgbClr val="8A5A00"/>
          </a:solidFill>
          <a:ln w="12700">
            <a:solidFill>
              <a:srgbClr val="8A5A00"/>
            </a:solidFill>
            <a:prstDash val="solid"/>
          </a:ln>
        </p:spPr>
      </p:sp>
      <p:sp>
        <p:nvSpPr>
          <p:cNvPr id="46" name="Text 40"/>
          <p:cNvSpPr txBox="1"/>
          <p:nvPr/>
        </p:nvSpPr>
        <p:spPr>
          <a:xfrm>
            <a:off x="4023360" y="4608576"/>
            <a:ext cx="1700784"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TARGETS, NOT RESULTS</a:t>
            </a:r>
            <a:endParaRPr lang="en-US" sz="1000" dirty="0"/>
          </a:p>
        </p:txBody>
      </p:sp>
      <p:sp>
        <p:nvSpPr>
          <p:cNvPr id="47" name="Text 41"/>
          <p:cNvSpPr txBox="1"/>
          <p:nvPr/>
        </p:nvSpPr>
        <p:spPr>
          <a:xfrm>
            <a:off x="731520" y="4937760"/>
            <a:ext cx="1280160" cy="640080"/>
          </a:xfrm>
          <a:prstGeom prst="rect">
            <a:avLst/>
          </a:prstGeom>
          <a:noFill/>
          <a:ln/>
        </p:spPr>
        <p:txBody>
          <a:bodyPr wrap="square" lIns="0" tIns="0" rIns="0" bIns="0" rtlCol="0" anchor="t"/>
          <a:lstStyle/>
          <a:p>
            <a:pPr marL="0" indent="0">
              <a:buNone/>
            </a:pPr>
            <a:r>
              <a:rPr lang="en-US" sz="4000" b="1" dirty="0">
                <a:solidFill>
                  <a:srgbClr val="0F766E"/>
                </a:solidFill>
              </a:rPr>
              <a:t>15</a:t>
            </a:r>
            <a:endParaRPr lang="en-US" sz="4000" dirty="0"/>
          </a:p>
        </p:txBody>
      </p:sp>
      <p:sp>
        <p:nvSpPr>
          <p:cNvPr id="48" name="Text 42"/>
          <p:cNvSpPr txBox="1"/>
          <p:nvPr/>
        </p:nvSpPr>
        <p:spPr>
          <a:xfrm>
            <a:off x="731520" y="5577840"/>
            <a:ext cx="1280160" cy="502920"/>
          </a:xfrm>
          <a:prstGeom prst="rect">
            <a:avLst/>
          </a:prstGeom>
          <a:noFill/>
          <a:ln/>
        </p:spPr>
        <p:txBody>
          <a:bodyPr wrap="square" lIns="0" tIns="0" rIns="0" bIns="0" rtlCol="0" anchor="t"/>
          <a:lstStyle/>
          <a:p>
            <a:pPr marL="0" indent="0">
              <a:buNone/>
            </a:pPr>
            <a:r>
              <a:rPr lang="en-US" sz="1200" dirty="0">
                <a:solidFill>
                  <a:srgbClr val="1F2933"/>
                </a:solidFill>
              </a:rPr>
              <a:t>farmers / FPO members</a:t>
            </a:r>
            <a:endParaRPr lang="en-US" sz="1200" dirty="0"/>
          </a:p>
        </p:txBody>
      </p:sp>
      <p:sp>
        <p:nvSpPr>
          <p:cNvPr id="49" name="Text 43"/>
          <p:cNvSpPr txBox="1"/>
          <p:nvPr/>
        </p:nvSpPr>
        <p:spPr>
          <a:xfrm>
            <a:off x="2103120" y="4937760"/>
            <a:ext cx="1280160" cy="640080"/>
          </a:xfrm>
          <a:prstGeom prst="rect">
            <a:avLst/>
          </a:prstGeom>
          <a:noFill/>
          <a:ln/>
        </p:spPr>
        <p:txBody>
          <a:bodyPr wrap="square" lIns="0" tIns="0" rIns="0" bIns="0" rtlCol="0" anchor="t"/>
          <a:lstStyle/>
          <a:p>
            <a:pPr marL="0" indent="0">
              <a:buNone/>
            </a:pPr>
            <a:r>
              <a:rPr lang="en-US" sz="4000" b="1" dirty="0">
                <a:solidFill>
                  <a:srgbClr val="0F766E"/>
                </a:solidFill>
              </a:rPr>
              <a:t>8</a:t>
            </a:r>
            <a:endParaRPr lang="en-US" sz="4000" dirty="0"/>
          </a:p>
        </p:txBody>
      </p:sp>
      <p:sp>
        <p:nvSpPr>
          <p:cNvPr id="50" name="Text 44"/>
          <p:cNvSpPr txBox="1"/>
          <p:nvPr/>
        </p:nvSpPr>
        <p:spPr>
          <a:xfrm>
            <a:off x="2103120" y="5577840"/>
            <a:ext cx="1280160" cy="502920"/>
          </a:xfrm>
          <a:prstGeom prst="rect">
            <a:avLst/>
          </a:prstGeom>
          <a:noFill/>
          <a:ln/>
        </p:spPr>
        <p:txBody>
          <a:bodyPr wrap="square" lIns="0" tIns="0" rIns="0" bIns="0" rtlCol="0" anchor="t"/>
          <a:lstStyle/>
          <a:p>
            <a:pPr marL="0" indent="0">
              <a:buNone/>
            </a:pPr>
            <a:r>
              <a:rPr lang="en-US" sz="1200" dirty="0">
                <a:solidFill>
                  <a:srgbClr val="1F2933"/>
                </a:solidFill>
              </a:rPr>
              <a:t>dispatchers</a:t>
            </a:r>
            <a:endParaRPr lang="en-US" sz="1200" dirty="0"/>
          </a:p>
        </p:txBody>
      </p:sp>
      <p:sp>
        <p:nvSpPr>
          <p:cNvPr id="51" name="Text 45"/>
          <p:cNvSpPr txBox="1"/>
          <p:nvPr/>
        </p:nvSpPr>
        <p:spPr>
          <a:xfrm>
            <a:off x="3474720" y="4937760"/>
            <a:ext cx="1280160" cy="640080"/>
          </a:xfrm>
          <a:prstGeom prst="rect">
            <a:avLst/>
          </a:prstGeom>
          <a:noFill/>
          <a:ln/>
        </p:spPr>
        <p:txBody>
          <a:bodyPr wrap="square" lIns="0" tIns="0" rIns="0" bIns="0" rtlCol="0" anchor="t"/>
          <a:lstStyle/>
          <a:p>
            <a:pPr marL="0" indent="0">
              <a:buNone/>
            </a:pPr>
            <a:r>
              <a:rPr lang="en-US" sz="4000" b="1" dirty="0">
                <a:solidFill>
                  <a:srgbClr val="0F766E"/>
                </a:solidFill>
              </a:rPr>
              <a:t>3</a:t>
            </a:r>
            <a:endParaRPr lang="en-US" sz="4000" dirty="0"/>
          </a:p>
        </p:txBody>
      </p:sp>
      <p:sp>
        <p:nvSpPr>
          <p:cNvPr id="52" name="Text 46"/>
          <p:cNvSpPr txBox="1"/>
          <p:nvPr/>
        </p:nvSpPr>
        <p:spPr>
          <a:xfrm>
            <a:off x="3474720" y="5577840"/>
            <a:ext cx="1280160" cy="502920"/>
          </a:xfrm>
          <a:prstGeom prst="rect">
            <a:avLst/>
          </a:prstGeom>
          <a:noFill/>
          <a:ln/>
        </p:spPr>
        <p:txBody>
          <a:bodyPr wrap="square" lIns="0" tIns="0" rIns="0" bIns="0" rtlCol="0" anchor="t"/>
          <a:lstStyle/>
          <a:p>
            <a:pPr marL="0" indent="0">
              <a:buNone/>
            </a:pPr>
            <a:r>
              <a:rPr lang="en-US" sz="1200" dirty="0">
                <a:solidFill>
                  <a:srgbClr val="1F2933"/>
                </a:solidFill>
              </a:rPr>
              <a:t>supervisors</a:t>
            </a:r>
            <a:endParaRPr lang="en-US" sz="1200" dirty="0"/>
          </a:p>
        </p:txBody>
      </p:sp>
      <p:sp>
        <p:nvSpPr>
          <p:cNvPr id="53" name="Text 47"/>
          <p:cNvSpPr txBox="1"/>
          <p:nvPr/>
        </p:nvSpPr>
        <p:spPr>
          <a:xfrm>
            <a:off x="4846320" y="4937760"/>
            <a:ext cx="1280160" cy="640080"/>
          </a:xfrm>
          <a:prstGeom prst="rect">
            <a:avLst/>
          </a:prstGeom>
          <a:noFill/>
          <a:ln/>
        </p:spPr>
        <p:txBody>
          <a:bodyPr wrap="square" lIns="0" tIns="0" rIns="0" bIns="0" rtlCol="0" anchor="t"/>
          <a:lstStyle/>
          <a:p>
            <a:pPr marL="0" indent="0">
              <a:buNone/>
            </a:pPr>
            <a:r>
              <a:rPr lang="en-US" sz="4000" b="1" dirty="0">
                <a:solidFill>
                  <a:srgbClr val="0F766E"/>
                </a:solidFill>
              </a:rPr>
              <a:t>3</a:t>
            </a:r>
            <a:endParaRPr lang="en-US" sz="4000" dirty="0"/>
          </a:p>
        </p:txBody>
      </p:sp>
      <p:sp>
        <p:nvSpPr>
          <p:cNvPr id="54" name="Text 48"/>
          <p:cNvSpPr txBox="1"/>
          <p:nvPr/>
        </p:nvSpPr>
        <p:spPr>
          <a:xfrm>
            <a:off x="4846320" y="5577840"/>
            <a:ext cx="1280160" cy="502920"/>
          </a:xfrm>
          <a:prstGeom prst="rect">
            <a:avLst/>
          </a:prstGeom>
          <a:noFill/>
          <a:ln/>
        </p:spPr>
        <p:txBody>
          <a:bodyPr wrap="square" lIns="0" tIns="0" rIns="0" bIns="0" rtlCol="0" anchor="t"/>
          <a:lstStyle/>
          <a:p>
            <a:pPr marL="0" indent="0">
              <a:buNone/>
            </a:pPr>
            <a:r>
              <a:rPr lang="en-US" sz="1200" dirty="0">
                <a:solidFill>
                  <a:srgbClr val="1F2933"/>
                </a:solidFill>
              </a:rPr>
              <a:t>NGOs</a:t>
            </a:r>
            <a:endParaRPr lang="en-US" sz="1200" dirty="0"/>
          </a:p>
        </p:txBody>
      </p:sp>
      <p:sp>
        <p:nvSpPr>
          <p:cNvPr id="55" name="funnel card"/>
          <p:cNvSpPr/>
          <p:nvPr/>
        </p:nvSpPr>
        <p:spPr>
          <a:xfrm>
            <a:off x="6400800" y="4480560"/>
            <a:ext cx="5212080" cy="1691640"/>
          </a:xfrm>
          <a:prstGeom prst="roundRect">
            <a:avLst>
              <a:gd name="adj" fmla="val 6486"/>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56" name="funnel Reach"/>
          <p:cNvSpPr/>
          <p:nvPr/>
        </p:nvSpPr>
        <p:spPr>
          <a:xfrm>
            <a:off x="6537960" y="4617720"/>
            <a:ext cx="1298448" cy="502920"/>
          </a:xfrm>
          <a:prstGeom prst="chevron">
            <a:avLst/>
          </a:prstGeom>
          <a:solidFill>
            <a:srgbClr val="E3F1EF"/>
          </a:solidFill>
          <a:ln w="12700">
            <a:solidFill>
              <a:srgbClr val="E3F1EF"/>
            </a:solidFill>
            <a:prstDash val="solid"/>
          </a:ln>
        </p:spPr>
      </p:sp>
      <p:sp>
        <p:nvSpPr>
          <p:cNvPr id="57" name="Text 51"/>
          <p:cNvSpPr txBox="1"/>
          <p:nvPr/>
        </p:nvSpPr>
        <p:spPr>
          <a:xfrm>
            <a:off x="6720840" y="4617720"/>
            <a:ext cx="960120" cy="502920"/>
          </a:xfrm>
          <a:prstGeom prst="rect">
            <a:avLst/>
          </a:prstGeom>
          <a:noFill/>
          <a:ln/>
        </p:spPr>
        <p:txBody>
          <a:bodyPr wrap="square" lIns="0" tIns="0" rIns="0" bIns="0" rtlCol="0" anchor="ctr"/>
          <a:lstStyle/>
          <a:p>
            <a:pPr marL="0" indent="0" algn="ctr">
              <a:buNone/>
            </a:pPr>
            <a:r>
              <a:rPr lang="en-US" sz="1300" b="1" dirty="0">
                <a:solidFill>
                  <a:srgbClr val="0B3D2E"/>
                </a:solidFill>
              </a:rPr>
              <a:t>Reach</a:t>
            </a:r>
            <a:endParaRPr lang="en-US" sz="1300" dirty="0"/>
          </a:p>
        </p:txBody>
      </p:sp>
      <p:sp>
        <p:nvSpPr>
          <p:cNvPr id="58" name="funnel Demo"/>
          <p:cNvSpPr/>
          <p:nvPr/>
        </p:nvSpPr>
        <p:spPr>
          <a:xfrm>
            <a:off x="7781544" y="4617720"/>
            <a:ext cx="1298448" cy="502920"/>
          </a:xfrm>
          <a:prstGeom prst="chevron">
            <a:avLst/>
          </a:prstGeom>
          <a:solidFill>
            <a:srgbClr val="E3F1EF"/>
          </a:solidFill>
          <a:ln w="12700">
            <a:solidFill>
              <a:srgbClr val="E3F1EF"/>
            </a:solidFill>
            <a:prstDash val="solid"/>
          </a:ln>
        </p:spPr>
      </p:sp>
      <p:sp>
        <p:nvSpPr>
          <p:cNvPr id="59" name="Text 53"/>
          <p:cNvSpPr txBox="1"/>
          <p:nvPr/>
        </p:nvSpPr>
        <p:spPr>
          <a:xfrm>
            <a:off x="7964424" y="4617720"/>
            <a:ext cx="960120" cy="502920"/>
          </a:xfrm>
          <a:prstGeom prst="rect">
            <a:avLst/>
          </a:prstGeom>
          <a:noFill/>
          <a:ln/>
        </p:spPr>
        <p:txBody>
          <a:bodyPr wrap="square" lIns="0" tIns="0" rIns="0" bIns="0" rtlCol="0" anchor="ctr"/>
          <a:lstStyle/>
          <a:p>
            <a:pPr marL="0" indent="0" algn="ctr">
              <a:buNone/>
            </a:pPr>
            <a:r>
              <a:rPr lang="en-US" sz="1300" b="1" dirty="0">
                <a:solidFill>
                  <a:srgbClr val="0B3D2E"/>
                </a:solidFill>
              </a:rPr>
              <a:t>Demo</a:t>
            </a:r>
            <a:endParaRPr lang="en-US" sz="1300" dirty="0"/>
          </a:p>
        </p:txBody>
      </p:sp>
      <p:sp>
        <p:nvSpPr>
          <p:cNvPr id="60" name="funnel Activation"/>
          <p:cNvSpPr/>
          <p:nvPr/>
        </p:nvSpPr>
        <p:spPr>
          <a:xfrm>
            <a:off x="9025128" y="4617720"/>
            <a:ext cx="1298448" cy="502920"/>
          </a:xfrm>
          <a:prstGeom prst="chevron">
            <a:avLst/>
          </a:prstGeom>
          <a:solidFill>
            <a:srgbClr val="0F766E"/>
          </a:solidFill>
          <a:ln w="12700">
            <a:solidFill>
              <a:srgbClr val="0F766E"/>
            </a:solidFill>
            <a:prstDash val="solid"/>
          </a:ln>
        </p:spPr>
      </p:sp>
      <p:sp>
        <p:nvSpPr>
          <p:cNvPr id="61" name="Text 55"/>
          <p:cNvSpPr txBox="1"/>
          <p:nvPr/>
        </p:nvSpPr>
        <p:spPr>
          <a:xfrm>
            <a:off x="9208008" y="4617720"/>
            <a:ext cx="960120" cy="502920"/>
          </a:xfrm>
          <a:prstGeom prst="rect">
            <a:avLst/>
          </a:prstGeom>
          <a:noFill/>
          <a:ln/>
        </p:spPr>
        <p:txBody>
          <a:bodyPr wrap="square" lIns="0" tIns="0" rIns="0" bIns="0" rtlCol="0" anchor="ctr"/>
          <a:lstStyle/>
          <a:p>
            <a:pPr marL="0" indent="0" algn="ctr">
              <a:buNone/>
            </a:pPr>
            <a:r>
              <a:rPr lang="en-US" sz="1300" b="1" dirty="0">
                <a:solidFill>
                  <a:srgbClr val="FFFFFF"/>
                </a:solidFill>
              </a:rPr>
              <a:t>Activation</a:t>
            </a:r>
            <a:endParaRPr lang="en-US" sz="1300" dirty="0"/>
          </a:p>
        </p:txBody>
      </p:sp>
      <p:sp>
        <p:nvSpPr>
          <p:cNvPr id="62" name="funnel Pilot"/>
          <p:cNvSpPr/>
          <p:nvPr/>
        </p:nvSpPr>
        <p:spPr>
          <a:xfrm>
            <a:off x="10268712" y="4617720"/>
            <a:ext cx="1298448" cy="502920"/>
          </a:xfrm>
          <a:prstGeom prst="chevron">
            <a:avLst/>
          </a:prstGeom>
          <a:solidFill>
            <a:srgbClr val="E3F1EF"/>
          </a:solidFill>
          <a:ln w="12700">
            <a:solidFill>
              <a:srgbClr val="E3F1EF"/>
            </a:solidFill>
            <a:prstDash val="solid"/>
          </a:ln>
        </p:spPr>
      </p:sp>
      <p:sp>
        <p:nvSpPr>
          <p:cNvPr id="63" name="Text 57"/>
          <p:cNvSpPr txBox="1"/>
          <p:nvPr/>
        </p:nvSpPr>
        <p:spPr>
          <a:xfrm>
            <a:off x="10451592" y="4617720"/>
            <a:ext cx="960120" cy="502920"/>
          </a:xfrm>
          <a:prstGeom prst="rect">
            <a:avLst/>
          </a:prstGeom>
          <a:noFill/>
          <a:ln/>
        </p:spPr>
        <p:txBody>
          <a:bodyPr wrap="square" lIns="0" tIns="0" rIns="0" bIns="0" rtlCol="0" anchor="ctr"/>
          <a:lstStyle/>
          <a:p>
            <a:pPr marL="0" indent="0" algn="ctr">
              <a:buNone/>
            </a:pPr>
            <a:r>
              <a:rPr lang="en-US" sz="1300" b="1" dirty="0">
                <a:solidFill>
                  <a:srgbClr val="0B3D2E"/>
                </a:solidFill>
              </a:rPr>
              <a:t>Pilot</a:t>
            </a:r>
            <a:endParaRPr lang="en-US" sz="1300" dirty="0"/>
          </a:p>
        </p:txBody>
      </p:sp>
      <p:sp>
        <p:nvSpPr>
          <p:cNvPr id="64" name="Text 58"/>
          <p:cNvSpPr txBox="1"/>
          <p:nvPr/>
        </p:nvSpPr>
        <p:spPr>
          <a:xfrm>
            <a:off x="6583680" y="5230368"/>
            <a:ext cx="4892040" cy="457200"/>
          </a:xfrm>
          <a:prstGeom prst="rect">
            <a:avLst/>
          </a:prstGeom>
          <a:noFill/>
          <a:ln/>
        </p:spPr>
        <p:txBody>
          <a:bodyPr wrap="square" lIns="0" tIns="0" rIns="0" bIns="0" rtlCol="0" anchor="t"/>
          <a:lstStyle/>
          <a:p>
            <a:pPr marL="0" indent="0">
              <a:buNone/>
            </a:pPr>
            <a:r>
              <a:rPr lang="en-US" sz="1300" b="1" dirty="0">
                <a:solidFill>
                  <a:srgbClr val="1F2933"/>
                </a:solidFill>
              </a:rPr>
              <a:t>Activation</a:t>
            </a:r>
            <a:r>
              <a:rPr lang="en-US" sz="1300" dirty="0">
                <a:solidFill>
                  <a:srgbClr val="1F2933"/>
                </a:solidFill>
              </a:rPr>
              <a:t> = a completed demo handover or a pilot-lot commitment. Not sign-ups or QR scans.</a:t>
            </a:r>
            <a:endParaRPr lang="en-US" sz="1300" dirty="0"/>
          </a:p>
        </p:txBody>
      </p:sp>
      <p:sp>
        <p:nvSpPr>
          <p:cNvPr id="65" name="Text 59"/>
          <p:cNvSpPr txBox="1"/>
          <p:nvPr/>
        </p:nvSpPr>
        <p:spPr>
          <a:xfrm>
            <a:off x="6583680" y="5687568"/>
            <a:ext cx="4892040" cy="411480"/>
          </a:xfrm>
          <a:prstGeom prst="rect">
            <a:avLst/>
          </a:prstGeom>
          <a:noFill/>
          <a:ln/>
        </p:spPr>
        <p:txBody>
          <a:bodyPr wrap="square" lIns="0" tIns="0" rIns="0" bIns="0" rtlCol="0" anchor="t"/>
          <a:lstStyle/>
          <a:p>
            <a:pPr marL="0" indent="0">
              <a:buNone/>
            </a:pPr>
            <a:r>
              <a:rPr lang="en-US" sz="1100" i="1" dirty="0">
                <a:solidFill>
                  <a:srgbClr val="5B6B73"/>
                </a:solidFill>
              </a:rPr>
              <a:t>First users join through a staffed demo and pilot waitlist. Prototype sign-in is a development stub.</a:t>
            </a:r>
            <a:endParaRPr lang="en-US" sz="1100" dirty="0"/>
          </a:p>
        </p:txBody>
      </p:sp>
      <p:sp>
        <p:nvSpPr>
          <p:cNvPr id="66"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31520"/>
          </a:xfrm>
          <a:prstGeom prst="rect">
            <a:avLst/>
          </a:prstGeom>
          <a:noFill/>
          <a:ln/>
        </p:spPr>
        <p:txBody>
          <a:bodyPr wrap="square" lIns="0" tIns="0" rIns="0" bIns="0" rtlCol="0" anchor="ctr"/>
          <a:lstStyle/>
          <a:p>
            <a:pPr marL="0" indent="0" algn="l">
              <a:buNone/>
            </a:pPr>
            <a:r>
              <a:rPr lang="en-US" sz="3600" b="1" dirty="0">
                <a:solidFill>
                  <a:srgbClr val="FFFFFF"/>
                </a:solidFill>
              </a:rPr>
              <a:t>From prototype to pilot</a:t>
            </a:r>
            <a:endParaRPr lang="en-US" sz="3600" dirty="0"/>
          </a:p>
        </p:txBody>
      </p:sp>
      <p:sp>
        <p:nvSpPr>
          <p:cNvPr id="3" name="roadmap NOW"/>
          <p:cNvSpPr/>
          <p:nvPr/>
        </p:nvSpPr>
        <p:spPr>
          <a:xfrm>
            <a:off x="548640" y="1325880"/>
            <a:ext cx="3566160" cy="3520440"/>
          </a:xfrm>
          <a:prstGeom prst="roundRect">
            <a:avLst>
              <a:gd name="adj" fmla="val 3636"/>
            </a:avLst>
          </a:prstGeom>
          <a:solidFill>
            <a:srgbClr val="FFFFFF">
              <a:alpha val="10000"/>
            </a:srgbClr>
          </a:solidFill>
          <a:ln w="19050">
            <a:solidFill>
              <a:srgbClr val="3E7A64"/>
            </a:solidFill>
            <a:prstDash val="solid"/>
          </a:ln>
        </p:spPr>
      </p:sp>
      <p:sp>
        <p:nvSpPr>
          <p:cNvPr id="4" name="icon circle FaMicrophone"/>
          <p:cNvSpPr/>
          <p:nvPr/>
        </p:nvSpPr>
        <p:spPr>
          <a:xfrm>
            <a:off x="777240" y="1508760"/>
            <a:ext cx="548640" cy="548640"/>
          </a:xfrm>
          <a:prstGeom prst="ellipse">
            <a:avLst/>
          </a:prstGeom>
          <a:solidFill>
            <a:srgbClr val="10B981"/>
          </a:solidFill>
          <a:ln w="12700">
            <a:solidFill>
              <a:srgbClr val="10B981"/>
            </a:solidFill>
            <a:prstDash val="solid"/>
          </a:ln>
        </p:spPr>
      </p:sp>
      <p:pic>
        <p:nvPicPr>
          <p:cNvPr id="5" name="Image 0" descr="Microphone icon"/>
          <p:cNvPicPr>
            <a:picLocks noChangeAspect="1"/>
          </p:cNvPicPr>
          <p:nvPr/>
        </p:nvPicPr>
        <p:blipFill>
          <a:blip r:embed="rId3"/>
          <a:stretch>
            <a:fillRect/>
          </a:stretch>
        </p:blipFill>
        <p:spPr>
          <a:xfrm>
            <a:off x="925373" y="1656893"/>
            <a:ext cx="252374" cy="252374"/>
          </a:xfrm>
          <a:prstGeom prst="rect">
            <a:avLst/>
          </a:prstGeom>
        </p:spPr>
      </p:pic>
      <p:sp>
        <p:nvSpPr>
          <p:cNvPr id="6" name="Text 3"/>
          <p:cNvSpPr txBox="1"/>
          <p:nvPr/>
        </p:nvSpPr>
        <p:spPr>
          <a:xfrm>
            <a:off x="1463040" y="1554480"/>
            <a:ext cx="1371600" cy="457200"/>
          </a:xfrm>
          <a:prstGeom prst="rect">
            <a:avLst/>
          </a:prstGeom>
          <a:noFill/>
          <a:ln/>
        </p:spPr>
        <p:txBody>
          <a:bodyPr wrap="square" lIns="0" tIns="0" rIns="0" bIns="0" rtlCol="0" anchor="ctr"/>
          <a:lstStyle/>
          <a:p>
            <a:pPr marL="0" indent="0">
              <a:buNone/>
            </a:pPr>
            <a:r>
              <a:rPr lang="en-US" sz="2400" b="1" dirty="0">
                <a:solidFill>
                  <a:srgbClr val="FFFFFF"/>
                </a:solidFill>
              </a:rPr>
              <a:t>NOW</a:t>
            </a:r>
            <a:endParaRPr lang="en-US" sz="2400" dirty="0"/>
          </a:p>
        </p:txBody>
      </p:sp>
      <p:sp>
        <p:nvSpPr>
          <p:cNvPr id="7" name="Text 4"/>
          <p:cNvSpPr txBox="1"/>
          <p:nvPr/>
        </p:nvSpPr>
        <p:spPr>
          <a:xfrm>
            <a:off x="777240" y="2240280"/>
            <a:ext cx="315468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rPr>
              <a:t>Direct interviews: farmers, dispatchers, commission agents, supervisors, NGOs</a:t>
            </a:r>
            <a:endParaRPr lang="en-US" sz="1500" dirty="0"/>
          </a:p>
          <a:p>
            <a:pPr marL="342900" indent="-342900">
              <a:spcAft>
                <a:spcPts val="600"/>
              </a:spcAft>
              <a:buSzPct val="100000"/>
              <a:buChar char="•"/>
            </a:pPr>
            <a:r>
              <a:rPr lang="en-US" sz="1500" dirty="0">
                <a:solidFill>
                  <a:srgbClr val="FFFFFF"/>
                </a:solidFill>
              </a:rPr>
              <a:t>Staffed pilot at 2–3 collection centres in Nagpur Division</a:t>
            </a:r>
            <a:endParaRPr lang="en-US" sz="1500" dirty="0"/>
          </a:p>
          <a:p>
            <a:pPr marL="342900" indent="-342900">
              <a:spcAft>
                <a:spcPts val="600"/>
              </a:spcAft>
              <a:buSzPct val="100000"/>
              <a:buChar char="•"/>
            </a:pPr>
            <a:r>
              <a:rPr lang="en-US" sz="1500" dirty="0">
                <a:solidFill>
                  <a:srgbClr val="FFFFFF"/>
                </a:solidFill>
              </a:rPr>
              <a:t>Real operational feedback</a:t>
            </a:r>
            <a:endParaRPr lang="en-US" sz="1500" dirty="0"/>
          </a:p>
        </p:txBody>
      </p:sp>
      <p:sp>
        <p:nvSpPr>
          <p:cNvPr id="8" name="roadmap NEXT"/>
          <p:cNvSpPr/>
          <p:nvPr/>
        </p:nvSpPr>
        <p:spPr>
          <a:xfrm>
            <a:off x="4343400" y="1325880"/>
            <a:ext cx="3566160" cy="3520440"/>
          </a:xfrm>
          <a:prstGeom prst="roundRect">
            <a:avLst>
              <a:gd name="adj" fmla="val 3636"/>
            </a:avLst>
          </a:prstGeom>
          <a:solidFill>
            <a:srgbClr val="FFFFFF">
              <a:alpha val="10000"/>
            </a:srgbClr>
          </a:solidFill>
          <a:ln w="19050">
            <a:solidFill>
              <a:srgbClr val="3E7A64"/>
            </a:solidFill>
            <a:prstDash val="solid"/>
          </a:ln>
        </p:spPr>
      </p:sp>
      <p:sp>
        <p:nvSpPr>
          <p:cNvPr id="9" name="icon circle FaMobileScreen"/>
          <p:cNvSpPr/>
          <p:nvPr/>
        </p:nvSpPr>
        <p:spPr>
          <a:xfrm>
            <a:off x="4572000" y="1508760"/>
            <a:ext cx="548640" cy="548640"/>
          </a:xfrm>
          <a:prstGeom prst="ellipse">
            <a:avLst/>
          </a:prstGeom>
          <a:solidFill>
            <a:srgbClr val="10B981"/>
          </a:solidFill>
          <a:ln w="12700">
            <a:solidFill>
              <a:srgbClr val="10B981"/>
            </a:solidFill>
            <a:prstDash val="solid"/>
          </a:ln>
        </p:spPr>
      </p:sp>
      <p:pic>
        <p:nvPicPr>
          <p:cNvPr id="10" name="Image 1" descr="MobileScreen icon"/>
          <p:cNvPicPr>
            <a:picLocks noChangeAspect="1"/>
          </p:cNvPicPr>
          <p:nvPr/>
        </p:nvPicPr>
        <p:blipFill>
          <a:blip r:embed="rId4"/>
          <a:stretch>
            <a:fillRect/>
          </a:stretch>
        </p:blipFill>
        <p:spPr>
          <a:xfrm>
            <a:off x="4720133" y="1656893"/>
            <a:ext cx="252374" cy="252374"/>
          </a:xfrm>
          <a:prstGeom prst="rect">
            <a:avLst/>
          </a:prstGeom>
        </p:spPr>
      </p:pic>
      <p:sp>
        <p:nvSpPr>
          <p:cNvPr id="11" name="Text 7"/>
          <p:cNvSpPr txBox="1"/>
          <p:nvPr/>
        </p:nvSpPr>
        <p:spPr>
          <a:xfrm>
            <a:off x="5257800" y="1554480"/>
            <a:ext cx="1371600" cy="457200"/>
          </a:xfrm>
          <a:prstGeom prst="rect">
            <a:avLst/>
          </a:prstGeom>
          <a:noFill/>
          <a:ln/>
        </p:spPr>
        <p:txBody>
          <a:bodyPr wrap="square" lIns="0" tIns="0" rIns="0" bIns="0" rtlCol="0" anchor="ctr"/>
          <a:lstStyle/>
          <a:p>
            <a:pPr marL="0" indent="0">
              <a:buNone/>
            </a:pPr>
            <a:r>
              <a:rPr lang="en-US" sz="2400" b="1" dirty="0">
                <a:solidFill>
                  <a:srgbClr val="FFFFFF"/>
                </a:solidFill>
              </a:rPr>
              <a:t>NEXT</a:t>
            </a:r>
            <a:endParaRPr lang="en-US" sz="2400" dirty="0"/>
          </a:p>
        </p:txBody>
      </p:sp>
      <p:sp>
        <p:nvSpPr>
          <p:cNvPr id="12" name="Text 8"/>
          <p:cNvSpPr txBox="1"/>
          <p:nvPr/>
        </p:nvSpPr>
        <p:spPr>
          <a:xfrm>
            <a:off x="4572000" y="2240280"/>
            <a:ext cx="315468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rPr>
              <a:t>Retailer view (grocery store owner)</a:t>
            </a:r>
            <a:endParaRPr lang="en-US" sz="1500" dirty="0"/>
          </a:p>
          <a:p>
            <a:pPr marL="342900" indent="-342900">
              <a:spcAft>
                <a:spcPts val="600"/>
              </a:spcAft>
              <a:buSzPct val="100000"/>
              <a:buChar char="•"/>
            </a:pPr>
            <a:r>
              <a:rPr lang="en-US" sz="1500" dirty="0">
                <a:solidFill>
                  <a:srgbClr val="FFFFFF"/>
                </a:solidFill>
              </a:rPr>
              <a:t>SMS / WhatsApp notifications</a:t>
            </a:r>
            <a:endParaRPr lang="en-US" sz="1500" dirty="0"/>
          </a:p>
          <a:p>
            <a:pPr marL="342900" indent="-342900">
              <a:spcAft>
                <a:spcPts val="600"/>
              </a:spcAft>
              <a:buSzPct val="100000"/>
              <a:buChar char="•"/>
            </a:pPr>
            <a:r>
              <a:rPr lang="en-US" sz="1500" dirty="0">
                <a:solidFill>
                  <a:srgbClr val="FFFFFF"/>
                </a:solidFill>
              </a:rPr>
              <a:t>Postgres persistence and real authentication</a:t>
            </a:r>
            <a:endParaRPr lang="en-US" sz="1500" dirty="0"/>
          </a:p>
          <a:p>
            <a:pPr marL="342900" indent="-342900">
              <a:spcAft>
                <a:spcPts val="600"/>
              </a:spcAft>
              <a:buSzPct val="100000"/>
              <a:buChar char="•"/>
            </a:pPr>
            <a:r>
              <a:rPr lang="en-US" sz="1500" dirty="0">
                <a:solidFill>
                  <a:srgbClr val="FFFFFF"/>
                </a:solidFill>
              </a:rPr>
              <a:t>Refine from pilot evidence</a:t>
            </a:r>
            <a:endParaRPr lang="en-US" sz="1500" dirty="0"/>
          </a:p>
        </p:txBody>
      </p:sp>
      <p:sp>
        <p:nvSpPr>
          <p:cNvPr id="13" name="roadmap LATER"/>
          <p:cNvSpPr/>
          <p:nvPr/>
        </p:nvSpPr>
        <p:spPr>
          <a:xfrm>
            <a:off x="8138160" y="1325880"/>
            <a:ext cx="3566160" cy="3520440"/>
          </a:xfrm>
          <a:prstGeom prst="roundRect">
            <a:avLst>
              <a:gd name="adj" fmla="val 3636"/>
            </a:avLst>
          </a:prstGeom>
          <a:solidFill>
            <a:srgbClr val="FFFFFF">
              <a:alpha val="10000"/>
            </a:srgbClr>
          </a:solidFill>
          <a:ln w="19050">
            <a:solidFill>
              <a:srgbClr val="D6A647"/>
            </a:solidFill>
            <a:prstDash val="dash"/>
          </a:ln>
        </p:spPr>
      </p:sp>
      <p:sp>
        <p:nvSpPr>
          <p:cNvPr id="14" name="icon circle FaSatelliteDish"/>
          <p:cNvSpPr/>
          <p:nvPr/>
        </p:nvSpPr>
        <p:spPr>
          <a:xfrm>
            <a:off x="8366760" y="1508760"/>
            <a:ext cx="548640" cy="548640"/>
          </a:xfrm>
          <a:prstGeom prst="ellipse">
            <a:avLst/>
          </a:prstGeom>
          <a:solidFill>
            <a:srgbClr val="8A5A00"/>
          </a:solidFill>
          <a:ln w="12700">
            <a:solidFill>
              <a:srgbClr val="8A5A00"/>
            </a:solidFill>
            <a:prstDash val="solid"/>
          </a:ln>
        </p:spPr>
      </p:sp>
      <p:pic>
        <p:nvPicPr>
          <p:cNvPr id="15" name="Image 2" descr="SatelliteDish icon"/>
          <p:cNvPicPr>
            <a:picLocks noChangeAspect="1"/>
          </p:cNvPicPr>
          <p:nvPr/>
        </p:nvPicPr>
        <p:blipFill>
          <a:blip r:embed="rId5"/>
          <a:stretch>
            <a:fillRect/>
          </a:stretch>
        </p:blipFill>
        <p:spPr>
          <a:xfrm>
            <a:off x="8514893" y="1656893"/>
            <a:ext cx="252374" cy="252374"/>
          </a:xfrm>
          <a:prstGeom prst="rect">
            <a:avLst/>
          </a:prstGeom>
        </p:spPr>
      </p:pic>
      <p:sp>
        <p:nvSpPr>
          <p:cNvPr id="16" name="Text 11"/>
          <p:cNvSpPr txBox="1"/>
          <p:nvPr/>
        </p:nvSpPr>
        <p:spPr>
          <a:xfrm>
            <a:off x="9052560" y="1554480"/>
            <a:ext cx="1371600" cy="457200"/>
          </a:xfrm>
          <a:prstGeom prst="rect">
            <a:avLst/>
          </a:prstGeom>
          <a:noFill/>
          <a:ln/>
        </p:spPr>
        <p:txBody>
          <a:bodyPr wrap="square" lIns="0" tIns="0" rIns="0" bIns="0" rtlCol="0" anchor="ctr"/>
          <a:lstStyle/>
          <a:p>
            <a:pPr marL="0" indent="0">
              <a:buNone/>
            </a:pPr>
            <a:r>
              <a:rPr lang="en-US" sz="2400" b="1" dirty="0">
                <a:solidFill>
                  <a:srgbClr val="FFFFFF"/>
                </a:solidFill>
              </a:rPr>
              <a:t>LATER</a:t>
            </a:r>
            <a:endParaRPr lang="en-US" sz="2400" dirty="0"/>
          </a:p>
        </p:txBody>
      </p:sp>
      <p:sp>
        <p:nvSpPr>
          <p:cNvPr id="17" name="chip FUTURE · NOT BUILT"/>
          <p:cNvSpPr/>
          <p:nvPr/>
        </p:nvSpPr>
        <p:spPr>
          <a:xfrm>
            <a:off x="9921240" y="1645920"/>
            <a:ext cx="1558138" cy="256032"/>
          </a:xfrm>
          <a:prstGeom prst="roundRect">
            <a:avLst>
              <a:gd name="adj" fmla="val 50000"/>
            </a:avLst>
          </a:prstGeom>
          <a:solidFill>
            <a:srgbClr val="8A5A00"/>
          </a:solidFill>
          <a:ln w="12700">
            <a:solidFill>
              <a:srgbClr val="8A5A00"/>
            </a:solidFill>
            <a:prstDash val="solid"/>
          </a:ln>
        </p:spPr>
      </p:sp>
      <p:sp>
        <p:nvSpPr>
          <p:cNvPr id="18" name="Text 13"/>
          <p:cNvSpPr txBox="1"/>
          <p:nvPr/>
        </p:nvSpPr>
        <p:spPr>
          <a:xfrm>
            <a:off x="9921240" y="1645920"/>
            <a:ext cx="1558138" cy="256032"/>
          </a:xfrm>
          <a:prstGeom prst="rect">
            <a:avLst/>
          </a:prstGeom>
          <a:noFill/>
          <a:ln/>
        </p:spPr>
        <p:txBody>
          <a:bodyPr wrap="square" lIns="0" tIns="0" rIns="0" bIns="0" rtlCol="0" anchor="ctr"/>
          <a:lstStyle/>
          <a:p>
            <a:pPr marL="0" indent="0" algn="ctr">
              <a:buNone/>
            </a:pPr>
            <a:r>
              <a:rPr lang="en-US" sz="1000" b="1" kern="0" spc="100" dirty="0">
                <a:solidFill>
                  <a:srgbClr val="FFFFFF"/>
                </a:solidFill>
              </a:rPr>
              <a:t>FUTURE · NOT BUILT</a:t>
            </a:r>
            <a:endParaRPr lang="en-US" sz="1000" dirty="0"/>
          </a:p>
        </p:txBody>
      </p:sp>
      <p:sp>
        <p:nvSpPr>
          <p:cNvPr id="19" name="Text 14"/>
          <p:cNvSpPr txBox="1"/>
          <p:nvPr/>
        </p:nvSpPr>
        <p:spPr>
          <a:xfrm>
            <a:off x="8366760" y="2240280"/>
            <a:ext cx="315468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rPr>
              <a:t>Sensors in trucks and transit points</a:t>
            </a:r>
            <a:endParaRPr lang="en-US" sz="1500" dirty="0"/>
          </a:p>
          <a:p>
            <a:pPr marL="342900" indent="-342900">
              <a:spcAft>
                <a:spcPts val="600"/>
              </a:spcAft>
              <a:buSzPct val="100000"/>
              <a:buChar char="•"/>
            </a:pPr>
            <a:r>
              <a:rPr lang="en-US" sz="1500" dirty="0">
                <a:solidFill>
                  <a:srgbClr val="FFFFFF"/>
                </a:solidFill>
              </a:rPr>
              <a:t>Learned machine-learning models</a:t>
            </a:r>
            <a:endParaRPr lang="en-US" sz="1500" dirty="0"/>
          </a:p>
          <a:p>
            <a:pPr marL="342900" indent="-342900">
              <a:spcAft>
                <a:spcPts val="600"/>
              </a:spcAft>
              <a:buSzPct val="100000"/>
              <a:buChar char="•"/>
            </a:pPr>
            <a:r>
              <a:rPr lang="en-US" sz="1500" dirty="0">
                <a:solidFill>
                  <a:srgbClr val="FFFFFF"/>
                </a:solidFill>
              </a:rPr>
              <a:t>Wider deployment</a:t>
            </a:r>
            <a:endParaRPr lang="en-US" sz="1500" dirty="0"/>
          </a:p>
        </p:txBody>
      </p:sp>
      <p:sp>
        <p:nvSpPr>
          <p:cNvPr id="20" name="Text 15"/>
          <p:cNvSpPr txBox="1"/>
          <p:nvPr/>
        </p:nvSpPr>
        <p:spPr>
          <a:xfrm>
            <a:off x="548640" y="5074920"/>
            <a:ext cx="11064240" cy="1005840"/>
          </a:xfrm>
          <a:prstGeom prst="rect">
            <a:avLst/>
          </a:prstGeom>
          <a:noFill/>
          <a:ln/>
        </p:spPr>
        <p:txBody>
          <a:bodyPr wrap="square" lIns="0" tIns="0" rIns="0" bIns="0" rtlCol="0" anchor="ctr"/>
          <a:lstStyle/>
          <a:p>
            <a:pPr marL="0" indent="0" algn="ctr">
              <a:buNone/>
            </a:pPr>
            <a:r>
              <a:rPr lang="en-US" sz="2200" b="1" i="1" dirty="0">
                <a:solidFill>
                  <a:srgbClr val="FFFFFF"/>
                </a:solidFill>
              </a:rPr>
              <a:t>“Our next milestone is not more technology. It is proving that the right information, at the right handover, can help make better decisions after harvest.”</a:t>
            </a:r>
            <a:endParaRPr lang="en-US" sz="2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D3C8"/>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Journey After Harvest">
  <a:themeElements>
    <a:clrScheme name="Journey After Harvest">
      <a:dk1>
        <a:srgbClr val="1F2933"/>
      </a:dk1>
      <a:lt1>
        <a:srgbClr val="FFFFFF"/>
      </a:lt1>
      <a:dk2>
        <a:srgbClr val="0B3D2E"/>
      </a:dk2>
      <a:lt2>
        <a:srgbClr val="F5F8F4"/>
      </a:lt2>
      <a:accent1>
        <a:srgbClr val="0F766E"/>
      </a:accent1>
      <a:accent2>
        <a:srgbClr val="10B981"/>
      </a:accent2>
      <a:accent3>
        <a:srgbClr val="8A5A00"/>
      </a:accent3>
      <a:accent4>
        <a:srgbClr val="B42318"/>
      </a:accent4>
      <a:accent5>
        <a:srgbClr val="5B6B73"/>
      </a:accent5>
      <a:accent6>
        <a:srgbClr val="D9E7DF"/>
      </a:accent6>
      <a:hlink>
        <a:srgbClr val="0F766E"/>
      </a:hlink>
      <a:folHlink>
        <a:srgbClr val="0B3D2E"/>
      </a:folHlink>
    </a:clrScheme>
    <a:fontScheme name="Journey After Harve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6368</Words>
  <Application>Microsoft Office PowerPoint</Application>
  <PresentationFormat>Widescreen</PresentationFormat>
  <Paragraphs>411</Paragraphs>
  <Slides>14</Slides>
  <Notes>14</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Journey After Harvest</vt:lpstr>
      <vt:lpstr>PowerPoint Presentation</vt:lpstr>
      <vt:lpstr>Large losses, unknown transit share</vt:lpstr>
      <vt:lpstr>One supply chain, five different needs</vt:lpstr>
      <vt:lpstr>Persona 1 · Farmer</vt:lpstr>
      <vt:lpstr>Persona 2 · Collection-point supervisor</vt:lpstr>
      <vt:lpstr>Persona 3 · Grocery store owner</vt:lpstr>
      <vt:lpstr>Persona 4 · Truck driver</vt:lpstr>
      <vt:lpstr>Persona 5 · NGO owner</vt:lpstr>
      <vt:lpstr>What we tested, and what we haven't</vt:lpstr>
      <vt:lpstr>What the simulation taught us, and what changed</vt:lpstr>
      <vt:lpstr>Where we sit among existing tools</vt:lpstr>
      <vt:lpstr>Who might pay: hypotheses, not prices</vt:lpstr>
      <vt:lpstr>How ₹10,000 reaches our first users</vt:lpstr>
      <vt:lpstr>From prototype to pilot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Journey After Harvest: Market Validation + Go-To-Market</dc:title>
  <dc:subject>PptxGenJS Presentation</dc:subject>
  <dc:creator>PptxGenJS</dc:creator>
  <cp:lastModifiedBy>Pranav Umbarkar</cp:lastModifiedBy>
  <cp:revision>2</cp:revision>
  <dcterms:created xsi:type="dcterms:W3CDTF">2026-10-28T17:28:51Z</dcterms:created>
  <dcterms:modified xsi:type="dcterms:W3CDTF">2026-10-28T17:51:07Z</dcterms:modified>
</cp:coreProperties>
</file>
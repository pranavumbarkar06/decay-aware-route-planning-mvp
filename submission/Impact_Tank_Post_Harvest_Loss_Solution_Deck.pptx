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48472" y="1673352"/>
            <a:ext cx="310896" cy="310896"/>
          </a:xfrm>
          <a:prstGeom prst="ellipse">
            <a:avLst/>
          </a:prstGeom>
          <a:solidFill>
            <a:srgbClr val="57C5A9"/>
          </a:solidFill>
          <a:ln>
            <a:solidFill>
              <a:srgbClr val="57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6648" y="2350008"/>
            <a:ext cx="237744" cy="237744"/>
          </a:xfrm>
          <a:prstGeom prst="ellipse">
            <a:avLst/>
          </a:prstGeom>
          <a:solidFill>
            <a:srgbClr val="F59D5B"/>
          </a:solidFill>
          <a:ln>
            <a:solidFill>
              <a:srgbClr val="F59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43032" y="3502152"/>
            <a:ext cx="310896" cy="310896"/>
          </a:xfrm>
          <a:prstGeom prst="ellipse">
            <a:avLst/>
          </a:prstGeom>
          <a:solidFill>
            <a:srgbClr val="F0CD67"/>
          </a:solidFill>
          <a:ln>
            <a:solidFill>
              <a:srgbClr val="F0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4160520"/>
            <a:ext cx="274320" cy="274320"/>
          </a:xfrm>
          <a:prstGeom prst="ellipse">
            <a:avLst/>
          </a:prstGeom>
          <a:solidFill>
            <a:srgbClr val="57C5A9"/>
          </a:solidFill>
          <a:ln>
            <a:solidFill>
              <a:srgbClr val="57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88352" y="2907791"/>
            <a:ext cx="219456" cy="219456"/>
          </a:xfrm>
          <a:prstGeom prst="ellipse">
            <a:avLst/>
          </a:prstGeom>
          <a:solidFill>
            <a:srgbClr val="F59D5B"/>
          </a:solidFill>
          <a:ln>
            <a:solidFill>
              <a:srgbClr val="F59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23576" y="4928616"/>
            <a:ext cx="201168" cy="201168"/>
          </a:xfrm>
          <a:prstGeom prst="ellipse">
            <a:avLst/>
          </a:prstGeom>
          <a:solidFill>
            <a:srgbClr val="86BE84"/>
          </a:solidFill>
          <a:ln>
            <a:solidFill>
              <a:srgbClr val="86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503920" y="1828800"/>
            <a:ext cx="1371600" cy="640080"/>
          </a:xfrm>
          <a:prstGeom prst="line">
            <a:avLst/>
          </a:prstGeom>
          <a:ln w="25400">
            <a:solidFill>
              <a:srgbClr val="4256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875520" y="2468880"/>
            <a:ext cx="822960" cy="1188720"/>
          </a:xfrm>
          <a:prstGeom prst="line">
            <a:avLst/>
          </a:prstGeom>
          <a:ln w="25400">
            <a:solidFill>
              <a:srgbClr val="4256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686800" y="3657600"/>
            <a:ext cx="2011680" cy="640080"/>
          </a:xfrm>
          <a:prstGeom prst="line">
            <a:avLst/>
          </a:prstGeom>
          <a:ln w="25400">
            <a:solidFill>
              <a:srgbClr val="4256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7498079" y="3017520"/>
            <a:ext cx="1188721" cy="1280160"/>
          </a:xfrm>
          <a:prstGeom prst="line">
            <a:avLst/>
          </a:prstGeom>
          <a:ln w="25400">
            <a:solidFill>
              <a:srgbClr val="4256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98079" y="1828800"/>
            <a:ext cx="1005841" cy="1188720"/>
          </a:xfrm>
          <a:prstGeom prst="line">
            <a:avLst/>
          </a:prstGeom>
          <a:ln w="25400">
            <a:solidFill>
              <a:srgbClr val="4256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0" y="4297680"/>
            <a:ext cx="1737360" cy="731520"/>
          </a:xfrm>
          <a:prstGeom prst="line">
            <a:avLst/>
          </a:prstGeom>
          <a:ln w="25400">
            <a:solidFill>
              <a:srgbClr val="4256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686800" y="2468880"/>
            <a:ext cx="1188720" cy="1828800"/>
          </a:xfrm>
          <a:prstGeom prst="line">
            <a:avLst/>
          </a:prstGeom>
          <a:ln w="25400">
            <a:solidFill>
              <a:srgbClr val="4256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" y="603504"/>
            <a:ext cx="2651760" cy="265176"/>
          </a:xfrm>
          <a:prstGeom prst="roundRect">
            <a:avLst/>
          </a:prstGeom>
          <a:solidFill>
            <a:srgbClr val="57C5A9"/>
          </a:solidFill>
          <a:ln>
            <a:solidFill>
              <a:srgbClr val="57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626364"/>
            <a:ext cx="257860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21B1F"/>
                </a:solidFill>
                <a:latin typeface="Aptos"/>
              </a:defRPr>
            </a:pPr>
            <a:r>
              <a:t>SOLUTION CONCEPT DECK  •  ROUND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325880"/>
            <a:ext cx="676656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3400" b="1" i="0">
                <a:solidFill>
                  <a:srgbClr val="F5F0E0"/>
                </a:solidFill>
                <a:latin typeface="Aptos"/>
              </a:defRPr>
            </a:pPr>
            <a:r>
              <a:t>THE JOURNEY</a:t>
            </a:r>
          </a:p>
          <a:p>
            <a:pPr algn="l">
              <a:spcAft>
                <a:spcPts val="400"/>
              </a:spcAft>
              <a:defRPr sz="3400" b="1" i="0">
                <a:solidFill>
                  <a:srgbClr val="F5F0E0"/>
                </a:solidFill>
                <a:latin typeface="Aptos"/>
              </a:defRPr>
            </a:pPr>
            <a:r>
              <a:t>AFTER HARVEST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127248"/>
            <a:ext cx="621792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100" b="1" i="0">
                <a:solidFill>
                  <a:srgbClr val="57C5A9"/>
                </a:solidFill>
                <a:latin typeface="Aptos"/>
              </a:defRPr>
            </a:pPr>
            <a:r>
              <a:t>Quality-aware routing for fresh produce</a:t>
            </a:r>
          </a:p>
          <a:p>
            <a:pPr algn="l">
              <a:spcAft>
                <a:spcPts val="400"/>
              </a:spcAft>
              <a:defRPr sz="2100" b="1" i="0">
                <a:solidFill>
                  <a:srgbClr val="57C5A9"/>
                </a:solidFill>
                <a:latin typeface="Aptos"/>
              </a:defRPr>
            </a:pPr>
            <a:r>
              <a:t>from mandi to receiving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187952"/>
            <a:ext cx="59436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B1C1BB"/>
                </a:solidFill>
                <a:latin typeface="Aptos"/>
              </a:defRPr>
            </a:pPr>
            <a:r>
              <a:t>A proposed simulation-led decision support system for the Nagpur Division, Maharashtra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5166360"/>
            <a:ext cx="5029200" cy="22860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5367528"/>
            <a:ext cx="5943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5F0E0"/>
                </a:solidFill>
                <a:latin typeface="Aptos"/>
              </a:defRPr>
            </a:pPr>
            <a:r>
              <a:t>COMMODITIES  Tomato  ·  Nagpur orange  ·  Onion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5925312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Team: [Team name]     •     Members: [Add names]     •     Institution: [Add college]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547104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57C5A9"/>
                </a:solidFill>
                <a:latin typeface="Aptos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7C5A9"/>
                </a:solidFill>
                <a:latin typeface="Aptos"/>
              </a:defRPr>
            </a:pPr>
            <a:r>
              <a:t>IMPACT TANK ’26   /   ROUND 1                                      02  ·  PROBLEM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5F0E0"/>
                </a:solidFill>
                <a:latin typeface="Aptos"/>
              </a:defRPr>
            </a:pPr>
            <a:r>
              <a:t>The journey is poorly measured after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B1C1BB"/>
                </a:solidFill>
                <a:latin typeface="Aptos"/>
              </a:defRPr>
            </a:pPr>
            <a:r>
              <a:t>Focus: aggregation mandi → road transit → receiving wholesale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55680" cy="16459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520440" cy="1417320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64008" cy="1417320"/>
          </a:xfrm>
          <a:prstGeom prst="rect">
            <a:avLst/>
          </a:prstGeom>
          <a:solidFill>
            <a:srgbClr val="57C5A9"/>
          </a:solidFill>
          <a:ln>
            <a:solidFill>
              <a:srgbClr val="57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20824"/>
            <a:ext cx="3191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5F0E0"/>
                </a:solidFill>
                <a:latin typeface="Aptos"/>
              </a:defRPr>
            </a:pPr>
            <a:r>
              <a:t>THE PRIMARY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95727"/>
            <a:ext cx="3191256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B1C1BB"/>
                </a:solidFill>
                <a:latin typeface="Aptos"/>
              </a:defRPr>
            </a:pPr>
            <a:r>
              <a:t>Commission agents, traders and FPO marketing staff who choose destination, timing and packing for a 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74519"/>
            <a:ext cx="3520440" cy="1417320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874519"/>
            <a:ext cx="64008" cy="1417320"/>
          </a:xfrm>
          <a:prstGeom prst="rect">
            <a:avLst/>
          </a:prstGeom>
          <a:solidFill>
            <a:srgbClr val="F59D5B"/>
          </a:solidFill>
          <a:ln>
            <a:solidFill>
              <a:srgbClr val="F59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020824"/>
            <a:ext cx="3191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5F0E0"/>
                </a:solidFill>
                <a:latin typeface="Aptos"/>
              </a:defRPr>
            </a:pPr>
            <a:r>
              <a:t>THE DECISION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395727"/>
            <a:ext cx="3191256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B1C1BB"/>
                </a:solidFill>
                <a:latin typeface="Aptos"/>
              </a:defRPr>
            </a:pPr>
            <a:r>
              <a:t>Once a load leaves, dispatchers have limited visibility into heat, delays, handling and destination conditions.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874519"/>
            <a:ext cx="3520440" cy="1417320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5" y="1874519"/>
            <a:ext cx="64008" cy="1417320"/>
          </a:xfrm>
          <a:prstGeom prst="rect">
            <a:avLst/>
          </a:prstGeom>
          <a:solidFill>
            <a:srgbClr val="F0CD67"/>
          </a:solidFill>
          <a:ln>
            <a:solidFill>
              <a:srgbClr val="F0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5" y="2020824"/>
            <a:ext cx="31912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5F0E0"/>
                </a:solidFill>
                <a:latin typeface="Aptos"/>
              </a:defRPr>
            </a:pPr>
            <a:r>
              <a:t>THE CONSEQUENCE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5" y="2395727"/>
            <a:ext cx="3191256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B1C1BB"/>
                </a:solidFill>
                <a:latin typeface="Aptos"/>
              </a:defRPr>
            </a:pPr>
            <a:r>
              <a:t>Quality downgrades, distress sales and physical waste; farmers and traders can absorb the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7C5A9"/>
                </a:solidFill>
                <a:latin typeface="Aptos"/>
              </a:defRPr>
            </a:pPr>
            <a:r>
              <a:t>WHERE VALUE CAN BE LOST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133087"/>
            <a:ext cx="1737360" cy="850392"/>
          </a:xfrm>
          <a:prstGeom prst="roundRect">
            <a:avLst/>
          </a:prstGeom>
          <a:solidFill>
            <a:srgbClr val="26373A"/>
          </a:solidFill>
          <a:ln>
            <a:solidFill>
              <a:srgbClr val="26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4261104"/>
            <a:ext cx="15910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F5F0E0"/>
                </a:solidFill>
                <a:latin typeface="Aptos"/>
              </a:defRPr>
            </a:pPr>
            <a:r>
              <a:t>ASSEMBLY</a:t>
            </a:r>
          </a:p>
          <a:p>
            <a:pPr algn="ctr">
              <a:spcAft>
                <a:spcPts val="400"/>
              </a:spcAft>
              <a:defRPr sz="1200" b="1" i="0">
                <a:solidFill>
                  <a:srgbClr val="F5F0E0"/>
                </a:solidFill>
                <a:latin typeface="Aptos"/>
              </a:defRPr>
            </a:pPr>
            <a:r>
              <a:t>MANDI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636008"/>
            <a:ext cx="1645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sorting • packing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37083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57C5A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4133087"/>
            <a:ext cx="1737360" cy="850392"/>
          </a:xfrm>
          <a:prstGeom prst="roundRect">
            <a:avLst/>
          </a:prstGeom>
          <a:solidFill>
            <a:srgbClr val="26373A"/>
          </a:solidFill>
          <a:ln>
            <a:solidFill>
              <a:srgbClr val="26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4261104"/>
            <a:ext cx="15910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F5F0E0"/>
                </a:solidFill>
                <a:latin typeface="Aptos"/>
              </a:defRPr>
            </a:pPr>
            <a:r>
              <a:t>DISPATCH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636008"/>
            <a:ext cx="1645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market choice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437083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57C5A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93792" y="4133087"/>
            <a:ext cx="1737360" cy="850392"/>
          </a:xfrm>
          <a:prstGeom prst="roundRect">
            <a:avLst/>
          </a:prstGeom>
          <a:solidFill>
            <a:srgbClr val="26373A"/>
          </a:solidFill>
          <a:ln>
            <a:solidFill>
              <a:srgbClr val="26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6944" y="4261104"/>
            <a:ext cx="15910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F5F0E0"/>
                </a:solidFill>
                <a:latin typeface="Aptos"/>
              </a:defRPr>
            </a:pPr>
            <a:r>
              <a:t>ROAD TRANSIT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4636008"/>
            <a:ext cx="1645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heat • delay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4304" y="437083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57C5A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61504" y="4133087"/>
            <a:ext cx="1737360" cy="850392"/>
          </a:xfrm>
          <a:prstGeom prst="roundRect">
            <a:avLst/>
          </a:prstGeom>
          <a:solidFill>
            <a:srgbClr val="26373A"/>
          </a:solidFill>
          <a:ln>
            <a:solidFill>
              <a:srgbClr val="26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6" y="4261104"/>
            <a:ext cx="15910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F5F0E0"/>
                </a:solidFill>
                <a:latin typeface="Aptos"/>
              </a:defRPr>
            </a:pPr>
            <a:r>
              <a:t>MARKET ENTRY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7224" y="4636008"/>
            <a:ext cx="1645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waiting • unloading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2016" y="4370832"/>
            <a:ext cx="411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000" b="1" i="0">
                <a:solidFill>
                  <a:srgbClr val="57C5A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29216" y="4133087"/>
            <a:ext cx="1737360" cy="850392"/>
          </a:xfrm>
          <a:prstGeom prst="roundRect">
            <a:avLst/>
          </a:prstGeom>
          <a:solidFill>
            <a:srgbClr val="26373A"/>
          </a:solidFill>
          <a:ln>
            <a:solidFill>
              <a:srgbClr val="26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02368" y="4261104"/>
            <a:ext cx="15910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F5F0E0"/>
                </a:solidFill>
                <a:latin typeface="Aptos"/>
              </a:defRPr>
            </a:pPr>
            <a:r>
              <a:t>SALE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74936" y="4636008"/>
            <a:ext cx="1645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grade • price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376672"/>
            <a:ext cx="10835640" cy="658368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5532120"/>
            <a:ext cx="1417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0CD67"/>
                </a:solidFill>
                <a:latin typeface="Aptos"/>
              </a:defRPr>
            </a:pPr>
            <a:r>
              <a:t>Evidence boundary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67712" y="5504688"/>
            <a:ext cx="8915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F5F0E0"/>
                </a:solidFill>
                <a:latin typeface="Aptos"/>
              </a:defRPr>
            </a:pPr>
            <a:r>
              <a:t>India loses 19.3 Mt of fruit and vegetables annually across all stages. Published figures do not isolate the share caused by transit alone.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6565392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1C1BB"/>
                </a:solidFill>
                <a:latin typeface="Aptos"/>
              </a:defRPr>
            </a:pPr>
            <a:r>
              <a:t>Baseline: Impact Tank ’26 Problem Discovery Brief, pp. 1–4, 8–10 • NABCONS/PIB; WRI India; RBI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6547104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57C5A9"/>
                </a:solidFill>
                <a:latin typeface="Aptos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7C5A9"/>
                </a:solidFill>
                <a:latin typeface="Aptos"/>
              </a:defRPr>
            </a:pPr>
            <a:r>
              <a:t>IMPACT TANK ’26   /   ROUND 1                                      03  ·  ALTERNATIVE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5F0E0"/>
                </a:solidFill>
                <a:latin typeface="Aptos"/>
              </a:defRPr>
            </a:pPr>
            <a:r>
              <a:t>Three ways to reduce avoidable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B1C1BB"/>
                </a:solidFill>
                <a:latin typeface="Aptos"/>
              </a:defRPr>
            </a:pPr>
            <a:r>
              <a:t>Compare the decision support available to a dispatcher, not just the technology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55680" cy="16459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2606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7C5A9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901952"/>
            <a:ext cx="2606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7C5A9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088" y="1901952"/>
            <a:ext cx="2606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7C5A9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17736" y="1901952"/>
            <a:ext cx="2194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7C5A9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258568"/>
            <a:ext cx="10972800" cy="932688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86584"/>
            <a:ext cx="25146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5F0E0"/>
                </a:solidFill>
                <a:latin typeface="Aptos"/>
              </a:defRPr>
            </a:pPr>
            <a:r>
              <a:t>A. Static shortest-path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368296"/>
            <a:ext cx="25603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1C1BB"/>
                </a:solidFill>
                <a:latin typeface="Aptos"/>
              </a:defRPr>
            </a:pPr>
            <a:r>
              <a:t>Uses fixed road travel times to select a route.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368296"/>
            <a:ext cx="254203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1C1BB"/>
                </a:solidFill>
                <a:latin typeface="Aptos"/>
              </a:defRPr>
            </a:pPr>
            <a:r>
              <a:t>Simple, explainable and easy to implement.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8592" y="2368296"/>
            <a:ext cx="21214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Does not adapt to heat, congestion, disruption or quality urgency.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410712"/>
            <a:ext cx="10972800" cy="932688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538728"/>
            <a:ext cx="25146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5F0E0"/>
                </a:solidFill>
                <a:latin typeface="Aptos"/>
              </a:defRPr>
            </a:pPr>
            <a:r>
              <a:t>B. Market-information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3520440"/>
            <a:ext cx="25603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1C1BB"/>
                </a:solidFill>
                <a:latin typeface="Aptos"/>
              </a:defRPr>
            </a:pPr>
            <a:r>
              <a:t>Shows market arrivals and prices from available feeds.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520440"/>
            <a:ext cx="254203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1C1BB"/>
                </a:solidFill>
                <a:latin typeface="Aptos"/>
              </a:defRPr>
            </a:pPr>
            <a:r>
              <a:t>Improves visibility of market conditions.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3520440"/>
            <a:ext cx="21214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Arrivals/prices do not directly describe a load’s journey or condition.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562856"/>
            <a:ext cx="10972800" cy="932688"/>
          </a:xfrm>
          <a:prstGeom prst="roundRect">
            <a:avLst/>
          </a:prstGeom>
          <a:solidFill>
            <a:srgbClr val="26373A"/>
          </a:solidFill>
          <a:ln>
            <a:solidFill>
              <a:srgbClr val="57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690872"/>
            <a:ext cx="25146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5F0E0"/>
                </a:solidFill>
                <a:latin typeface="Aptos"/>
              </a:defRPr>
            </a:pPr>
            <a:r>
              <a:t>C. Quality-aware dynamic rerouting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4672584"/>
            <a:ext cx="25603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1C1BB"/>
                </a:solidFill>
                <a:latin typeface="Aptos"/>
              </a:defRPr>
            </a:pPr>
            <a:r>
              <a:t>Combines road times, weather, congestion and produce quality to recommend route or destination changes.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672584"/>
            <a:ext cx="254203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1C1BB"/>
                </a:solidFill>
                <a:latin typeface="Aptos"/>
              </a:defRPr>
            </a:pPr>
            <a:r>
              <a:t>Targets the dispatch-to-sale decision gap; can be tested against a static baseline.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4672584"/>
            <a:ext cx="21214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Needs calibration and field validation; data gaps may limit real-world accuracy.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806440"/>
            <a:ext cx="1965960" cy="265176"/>
          </a:xfrm>
          <a:prstGeom prst="roundRect">
            <a:avLst/>
          </a:prstGeom>
          <a:solidFill>
            <a:srgbClr val="57C5A9"/>
          </a:solidFill>
          <a:ln>
            <a:solidFill>
              <a:srgbClr val="57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829300"/>
            <a:ext cx="1892807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21B1F"/>
                </a:solidFill>
                <a:latin typeface="Aptos"/>
              </a:defRPr>
            </a:pPr>
            <a:r>
              <a:t>PROPOSED FOR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5779008"/>
            <a:ext cx="8549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F5F0E0"/>
                </a:solidFill>
                <a:latin typeface="Aptos"/>
              </a:defRPr>
            </a:pPr>
            <a:r>
              <a:t>Option C is a research prototype, not a proven operational solution. Its value depends on whether it improves outcomes in controlled comparative runs and later field validation.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65392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1C1BB"/>
                </a:solidFill>
                <a:latin typeface="Aptos"/>
              </a:defRPr>
            </a:pPr>
            <a:r>
              <a:t>Alternatives synthesize the baseline brief’s review of Agmarknet/e-NAM, navigation tools and perishable-routing research, p.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6547104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57C5A9"/>
                </a:solidFill>
                <a:latin typeface="Aptos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7C5A9"/>
                </a:solidFill>
                <a:latin typeface="Aptos"/>
              </a:defRPr>
            </a:pPr>
            <a:r>
              <a:t>IMPACT TANK ’26   /   ROUND 1                                      04  ·  SOLUTION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5F0E0"/>
                </a:solidFill>
                <a:latin typeface="Aptos"/>
              </a:defRPr>
            </a:pPr>
            <a:r>
              <a:t>Why test a quality-aware routing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B1C1BB"/>
                </a:solidFill>
                <a:latin typeface="Aptos"/>
              </a:defRPr>
            </a:pPr>
            <a:r>
              <a:t>Indicative design-stage assessment, not measured performance. Re-score after user interviews and data audit.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55680" cy="16459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852928" cy="457200"/>
          </a:xfrm>
          <a:prstGeom prst="roundRect">
            <a:avLst/>
          </a:prstGeom>
          <a:solidFill>
            <a:srgbClr val="26373A"/>
          </a:solidFill>
          <a:ln>
            <a:solidFill>
              <a:srgbClr val="26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66543"/>
            <a:ext cx="2724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5F0E0"/>
                </a:solidFill>
                <a:latin typeface="Aptos"/>
              </a:defRPr>
            </a:pPr>
            <a:r>
              <a:t>CRITERION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965960"/>
            <a:ext cx="2258568" cy="457200"/>
          </a:xfrm>
          <a:prstGeom prst="roundRect">
            <a:avLst/>
          </a:prstGeom>
          <a:solidFill>
            <a:srgbClr val="26373A"/>
          </a:solidFill>
          <a:ln>
            <a:solidFill>
              <a:srgbClr val="26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2066543"/>
            <a:ext cx="213055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5F0E0"/>
                </a:solidFill>
                <a:latin typeface="Aptos"/>
              </a:defRPr>
            </a:pPr>
            <a:r>
              <a:t>A. STATIC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965960"/>
            <a:ext cx="2258568" cy="457200"/>
          </a:xfrm>
          <a:prstGeom prst="roundRect">
            <a:avLst/>
          </a:prstGeom>
          <a:solidFill>
            <a:srgbClr val="26373A"/>
          </a:solidFill>
          <a:ln>
            <a:solidFill>
              <a:srgbClr val="26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7608" y="2066543"/>
            <a:ext cx="213055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5F0E0"/>
                </a:solidFill>
                <a:latin typeface="Aptos"/>
              </a:defRPr>
            </a:pPr>
            <a:r>
              <a:t>B. MARKET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965960"/>
            <a:ext cx="2487168" cy="457200"/>
          </a:xfrm>
          <a:prstGeom prst="roundRect">
            <a:avLst/>
          </a:prstGeom>
          <a:solidFill>
            <a:srgbClr val="57C5A9"/>
          </a:solidFill>
          <a:ln>
            <a:solidFill>
              <a:srgbClr val="57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2066543"/>
            <a:ext cx="235915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21B1F"/>
                </a:solidFill>
                <a:latin typeface="Aptos"/>
              </a:defRPr>
            </a:pPr>
            <a:r>
              <a:t>C. DYNAMIC ROUTING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532888"/>
            <a:ext cx="285292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670048"/>
            <a:ext cx="2688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5F0E0"/>
                </a:solidFill>
                <a:latin typeface="Aptos"/>
              </a:defRPr>
            </a:pPr>
            <a:r>
              <a:t>Potential impact on loss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532888"/>
            <a:ext cx="225856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267004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F5F0E0"/>
                </a:solidFill>
                <a:latin typeface="Aptos"/>
              </a:defRPr>
            </a:pPr>
            <a:r>
              <a:t>Low–medium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532888"/>
            <a:ext cx="225856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25896" y="267004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F5F0E0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2532888"/>
            <a:ext cx="2487168" cy="521207"/>
          </a:xfrm>
          <a:prstGeom prst="rect">
            <a:avLst/>
          </a:prstGeom>
          <a:solidFill>
            <a:srgbClr val="26373A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2670048"/>
            <a:ext cx="23225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57C5A9"/>
                </a:solidFill>
                <a:latin typeface="Aptos"/>
              </a:defRPr>
            </a:pPr>
            <a:r>
              <a:t>High potential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127248"/>
            <a:ext cx="285292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264408"/>
            <a:ext cx="2688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5F0E0"/>
                </a:solidFill>
                <a:latin typeface="Aptos"/>
              </a:defRPr>
            </a:pPr>
            <a:r>
              <a:t>Build feasibility for prototype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3127248"/>
            <a:ext cx="225856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94176" y="326440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F5F0E0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127248"/>
            <a:ext cx="225856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25896" y="326440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F5F0E0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3127248"/>
            <a:ext cx="248716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3264408"/>
            <a:ext cx="23225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57C5A9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721608"/>
            <a:ext cx="285292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858768"/>
            <a:ext cx="2688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5F0E0"/>
                </a:solidFill>
                <a:latin typeface="Aptos"/>
              </a:defRPr>
            </a:pPr>
            <a:r>
              <a:t>Differentiation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11880" y="3721608"/>
            <a:ext cx="225856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5876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F5F0E0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721608"/>
            <a:ext cx="225856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25896" y="385876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F5F0E0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3721608"/>
            <a:ext cx="2487168" cy="521207"/>
          </a:xfrm>
          <a:prstGeom prst="rect">
            <a:avLst/>
          </a:prstGeom>
          <a:solidFill>
            <a:srgbClr val="26373A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7616" y="3858768"/>
            <a:ext cx="23225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57C5A9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315968"/>
            <a:ext cx="285292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4453128"/>
            <a:ext cx="2688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5F0E0"/>
                </a:solidFill>
                <a:latin typeface="Aptos"/>
              </a:defRPr>
            </a:pPr>
            <a:r>
              <a:t>Data dependency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1880" y="4315968"/>
            <a:ext cx="225856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94176" y="445312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F5F0E0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4315968"/>
            <a:ext cx="225856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25896" y="445312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F5F0E0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4315968"/>
            <a:ext cx="248716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7616" y="4453128"/>
            <a:ext cx="23225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57C5A9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910328"/>
            <a:ext cx="285292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5047488"/>
            <a:ext cx="2688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5F0E0"/>
                </a:solidFill>
                <a:latin typeface="Aptos"/>
              </a:defRPr>
            </a:pPr>
            <a:r>
              <a:t>Can test against baseline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11880" y="4910328"/>
            <a:ext cx="225856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504748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F5F0E0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4910328"/>
            <a:ext cx="2258568" cy="521207"/>
          </a:xfrm>
          <a:prstGeom prst="rect">
            <a:avLst/>
          </a:prstGeom>
          <a:solidFill>
            <a:srgbClr val="1D2B2F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25896" y="5047488"/>
            <a:ext cx="20939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F5F0E0"/>
                </a:solidFill>
                <a:latin typeface="Aptos"/>
              </a:defRPr>
            </a:pPr>
            <a:r>
              <a:t>Partial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4910328"/>
            <a:ext cx="2487168" cy="521207"/>
          </a:xfrm>
          <a:prstGeom prst="rect">
            <a:avLst/>
          </a:prstGeom>
          <a:solidFill>
            <a:srgbClr val="26373A"/>
          </a:solidFill>
          <a:ln>
            <a:solidFill>
              <a:srgbClr val="121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57616" y="5047488"/>
            <a:ext cx="23225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57C5A9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4944" y="5559552"/>
            <a:ext cx="10881360" cy="603504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" y="5724144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59D5B"/>
                </a:solidFill>
                <a:latin typeface="Aptos"/>
              </a:defRPr>
            </a:pPr>
            <a:r>
              <a:t>Selection rationale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23160" y="5669280"/>
            <a:ext cx="8823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F5F0E0"/>
                </a:solidFill>
                <a:latin typeface="Aptos"/>
              </a:defRPr>
            </a:pPr>
            <a:r>
              <a:t>It directly addresses changing conditions after dispatch and supports a fair experiment: same supply, demand, weather and random seed; routing policy is the key difference.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6565392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1C1BB"/>
                </a:solidFill>
                <a:latin typeface="Aptos"/>
              </a:defRPr>
            </a:pPr>
            <a:r>
              <a:t>Scoring is a reasoned project-team assessment. Validate with dispatchers; do not present as stakeholder-verified.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44200" y="6547104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57C5A9"/>
                </a:solidFill>
                <a:latin typeface="Aptos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7C5A9"/>
                </a:solidFill>
                <a:latin typeface="Aptos"/>
              </a:defRPr>
            </a:pPr>
            <a:r>
              <a:t>IMPACT TANK ’26   /   ROUND 1                                      05  ·  FINAL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5F0E0"/>
                </a:solidFill>
                <a:latin typeface="Aptos"/>
              </a:defRPr>
            </a:pPr>
            <a:r>
              <a:t>A simulation-led, quality-aware routing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B1C1BB"/>
                </a:solidFill>
                <a:latin typeface="Aptos"/>
              </a:defRPr>
            </a:pPr>
            <a:r>
              <a:t>Proposed system: estimate the risk of a journey, then recommend a safer route or destination when conditions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55680" cy="16459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01952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7C5A9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21992"/>
            <a:ext cx="2971800" cy="557784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95144"/>
            <a:ext cx="2697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5F0E0"/>
                </a:solidFill>
                <a:latin typeface="Aptos"/>
              </a:defRPr>
            </a:pPr>
            <a:r>
              <a:t>Market arrivals &amp; crop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32888"/>
            <a:ext cx="2697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Agmarknet / ICAR-KVK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26080"/>
            <a:ext cx="2971800" cy="557784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999232"/>
            <a:ext cx="2697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5F0E0"/>
                </a:solidFill>
                <a:latin typeface="Aptos"/>
              </a:defRPr>
            </a:pPr>
            <a:r>
              <a:t>Road graph &amp; travel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236976"/>
            <a:ext cx="2697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OpenStreetMap / OSMnx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30168"/>
            <a:ext cx="2971800" cy="557784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703320"/>
            <a:ext cx="2697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5F0E0"/>
                </a:solidFill>
                <a:latin typeface="Aptos"/>
              </a:defRPr>
            </a:pPr>
            <a:r>
              <a:t>Weather replay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941064"/>
            <a:ext cx="2697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Open-Meteo historical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334256"/>
            <a:ext cx="2971800" cy="557784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407408"/>
            <a:ext cx="2697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5F0E0"/>
                </a:solidFill>
                <a:latin typeface="Aptos"/>
              </a:defRPr>
            </a:pPr>
            <a:r>
              <a:t>Demand &amp; hub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645152"/>
            <a:ext cx="2697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Census / intake norms / cold-chain directory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3319272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400" b="1" i="0">
                <a:solidFill>
                  <a:srgbClr val="57C5A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304288"/>
            <a:ext cx="2880360" cy="2423160"/>
          </a:xfrm>
          <a:prstGeom prst="roundRect">
            <a:avLst/>
          </a:prstGeom>
          <a:solidFill>
            <a:srgbClr val="26373A"/>
          </a:solidFill>
          <a:ln>
            <a:solidFill>
              <a:srgbClr val="57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606040"/>
            <a:ext cx="24231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F5F0E0"/>
                </a:solidFill>
                <a:latin typeface="Aptos"/>
              </a:defRPr>
            </a:pPr>
            <a:r>
              <a:t>DISCRETE-TIME</a:t>
            </a:r>
          </a:p>
          <a:p>
            <a:pPr algn="ctr">
              <a:spcAft>
                <a:spcPts val="400"/>
              </a:spcAft>
              <a:defRPr sz="1700" b="1" i="0">
                <a:solidFill>
                  <a:srgbClr val="F5F0E0"/>
                </a:solidFill>
                <a:latin typeface="Aptos"/>
              </a:defRPr>
            </a:pPr>
            <a:r>
              <a:t>SIMULATION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3401568"/>
            <a:ext cx="2404872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B1C1BB"/>
                </a:solidFill>
                <a:latin typeface="Aptos"/>
              </a:defRPr>
            </a:pPr>
            <a:r>
              <a:t>Tracks each consignment’s</a:t>
            </a:r>
          </a:p>
          <a:p>
            <a:pPr algn="ctr">
              <a:spcAft>
                <a:spcPts val="400"/>
              </a:spcAft>
              <a:defRPr sz="1200" b="0" i="0">
                <a:solidFill>
                  <a:srgbClr val="B1C1BB"/>
                </a:solidFill>
                <a:latin typeface="Aptos"/>
              </a:defRPr>
            </a:pPr>
            <a:r>
              <a:t>location, quantity and quality</a:t>
            </a:r>
          </a:p>
          <a:p>
            <a:pPr algn="ctr">
              <a:spcAft>
                <a:spcPts val="400"/>
              </a:spcAft>
              <a:defRPr sz="1200" b="0" i="0">
                <a:solidFill>
                  <a:srgbClr val="B1C1BB"/>
                </a:solidFill>
                <a:latin typeface="Aptos"/>
              </a:defRPr>
            </a:pPr>
            <a:r>
              <a:t>at hourly ticks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3319272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400" b="1" i="0">
                <a:solidFill>
                  <a:srgbClr val="57C5A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54112" y="2304288"/>
            <a:ext cx="3520440" cy="2423160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2" y="2596896"/>
            <a:ext cx="3063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57C5A9"/>
                </a:solidFill>
                <a:latin typeface="Aptos"/>
              </a:defRPr>
            </a:pPr>
            <a:r>
              <a:t>ROUTING DECISION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3163824"/>
            <a:ext cx="2962656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F5F0E0"/>
                </a:solidFill>
                <a:latin typeface="Aptos"/>
              </a:defRPr>
            </a:pPr>
            <a:r>
              <a:t>Baseline: static travel-time weights</a:t>
            </a:r>
          </a:p>
          <a:p>
            <a:pPr algn="ctr">
              <a:spcAft>
                <a:spcPts val="400"/>
              </a:spcAft>
              <a:defRPr sz="1200" b="0" i="0">
                <a:solidFill>
                  <a:srgbClr val="F5F0E0"/>
                </a:solidFill>
                <a:latin typeface="Aptos"/>
              </a:defRPr>
            </a:pPr>
            <a:r>
              <a:t>Proposed: weather + congestion +</a:t>
            </a:r>
          </a:p>
          <a:p>
            <a:pPr algn="ctr">
              <a:spcAft>
                <a:spcPts val="400"/>
              </a:spcAft>
              <a:defRPr sz="1200" b="0" i="0">
                <a:solidFill>
                  <a:srgbClr val="F5F0E0"/>
                </a:solidFill>
                <a:latin typeface="Aptos"/>
              </a:defRPr>
            </a:pPr>
            <a:r>
              <a:t>quality urgency + disruption 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791456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2100" b="1" i="0">
                <a:solidFill>
                  <a:srgbClr val="57C5A9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184648"/>
            <a:ext cx="1572768" cy="640080"/>
          </a:xfrm>
          <a:prstGeom prst="roundRect">
            <a:avLst/>
          </a:prstGeom>
          <a:solidFill>
            <a:srgbClr val="26373A"/>
          </a:solidFill>
          <a:ln>
            <a:solidFill>
              <a:srgbClr val="26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294376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57C5A9"/>
                </a:solidFill>
                <a:latin typeface="Aptos"/>
              </a:defRPr>
            </a:pPr>
            <a:r>
              <a:t>ROUTE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532120"/>
            <a:ext cx="148132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800" b="0" i="0">
                <a:solidFill>
                  <a:srgbClr val="B1C1BB"/>
                </a:solidFill>
                <a:latin typeface="Aptos"/>
              </a:defRPr>
            </a:pPr>
            <a:r>
              <a:t>Path &amp; estimated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5184648"/>
            <a:ext cx="1572768" cy="640080"/>
          </a:xfrm>
          <a:prstGeom prst="roundRect">
            <a:avLst/>
          </a:prstGeom>
          <a:solidFill>
            <a:srgbClr val="26373A"/>
          </a:solidFill>
          <a:ln>
            <a:solidFill>
              <a:srgbClr val="26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5294376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F59D5B"/>
                </a:solidFill>
                <a:latin typeface="Aptos"/>
              </a:defRPr>
            </a:pPr>
            <a:r>
              <a:t>REROUTE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5532120"/>
            <a:ext cx="148132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800" b="0" i="0">
                <a:solidFill>
                  <a:srgbClr val="B1C1BB"/>
                </a:solidFill>
                <a:latin typeface="Aptos"/>
              </a:defRPr>
            </a:pPr>
            <a:r>
              <a:t>Alternate hub / market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0" y="5184648"/>
            <a:ext cx="1572768" cy="640080"/>
          </a:xfrm>
          <a:prstGeom prst="roundRect">
            <a:avLst/>
          </a:prstGeom>
          <a:solidFill>
            <a:srgbClr val="26373A"/>
          </a:solidFill>
          <a:ln>
            <a:solidFill>
              <a:srgbClr val="26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5294376"/>
            <a:ext cx="14813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F0CD67"/>
                </a:solidFill>
                <a:latin typeface="Aptos"/>
              </a:defRPr>
            </a:pPr>
            <a:r>
              <a:t>REDIRECT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5532120"/>
            <a:ext cx="1481328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800" b="0" i="0">
                <a:solidFill>
                  <a:srgbClr val="B1C1BB"/>
                </a:solidFill>
                <a:latin typeface="Aptos"/>
              </a:defRPr>
            </a:pPr>
            <a:r>
              <a:t>Processing / NGO sink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998464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0CD67"/>
                </a:solidFill>
                <a:latin typeface="Aptos"/>
              </a:defRPr>
            </a:pPr>
            <a:r>
              <a:t>Guardrail: the system recommends decisions; real-world adoption and benefits must be validated with dispatchers.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565392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1C1BB"/>
                </a:solidFill>
                <a:latin typeface="Aptos"/>
              </a:defRPr>
            </a:pPr>
            <a:r>
              <a:t>Architecture adapted from team implementation plan; all data sources require availability, licensing and quality checks.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44200" y="6547104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57C5A9"/>
                </a:solidFill>
                <a:latin typeface="Aptos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7C5A9"/>
                </a:solidFill>
                <a:latin typeface="Aptos"/>
              </a:defRPr>
            </a:pPr>
            <a:r>
              <a:t>IMPACT TANK ’26   /   ROUND 1                                      06  ·  USER JOURNEY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5F0E0"/>
                </a:solidFill>
                <a:latin typeface="Aptos"/>
              </a:defRPr>
            </a:pPr>
            <a:r>
              <a:t>From dispatch choice to an explainable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B1C1BB"/>
                </a:solidFill>
                <a:latin typeface="Aptos"/>
              </a:defRPr>
            </a:pPr>
            <a:r>
              <a:t>The first prototype should help a dispatcher compare options, not automate commercial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55680" cy="16459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98448" y="2011680"/>
            <a:ext cx="475488" cy="475488"/>
          </a:xfrm>
          <a:prstGeom prst="ellipse">
            <a:avLst/>
          </a:prstGeom>
          <a:solidFill>
            <a:srgbClr val="57C5A9"/>
          </a:solidFill>
          <a:ln>
            <a:solidFill>
              <a:srgbClr val="57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112264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21B1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9424" y="212140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800" b="1" i="0">
                <a:solidFill>
                  <a:srgbClr val="57C5A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5F0E0"/>
                </a:solidFill>
                <a:latin typeface="Aptos"/>
              </a:defRPr>
            </a:pPr>
            <a:r>
              <a:t>Enter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27248"/>
            <a:ext cx="19202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Commodity, quantity,</a:t>
            </a:r>
          </a:p>
          <a:p>
            <a:pPr algn="ctr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harvest/dispatch time</a:t>
            </a:r>
          </a:p>
        </p:txBody>
      </p:sp>
      <p:sp>
        <p:nvSpPr>
          <p:cNvPr id="11" name="Oval 10"/>
          <p:cNvSpPr/>
          <p:nvPr/>
        </p:nvSpPr>
        <p:spPr>
          <a:xfrm>
            <a:off x="3602735" y="2011680"/>
            <a:ext cx="475488" cy="475488"/>
          </a:xfrm>
          <a:prstGeom prst="ellipse">
            <a:avLst/>
          </a:prstGeom>
          <a:solidFill>
            <a:srgbClr val="57C5A9"/>
          </a:solidFill>
          <a:ln>
            <a:solidFill>
              <a:srgbClr val="57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5" y="2112264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21B1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2140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800" b="1" i="0">
                <a:solidFill>
                  <a:srgbClr val="57C5A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7" y="2688336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5F0E0"/>
                </a:solidFill>
                <a:latin typeface="Aptos"/>
              </a:defRPr>
            </a:pPr>
            <a:r>
              <a:t>Assess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127248"/>
            <a:ext cx="19202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Weather, route times,</a:t>
            </a:r>
          </a:p>
          <a:p>
            <a:pPr algn="ctr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capacity and market signals</a:t>
            </a:r>
          </a:p>
        </p:txBody>
      </p:sp>
      <p:sp>
        <p:nvSpPr>
          <p:cNvPr id="16" name="Oval 15"/>
          <p:cNvSpPr/>
          <p:nvPr/>
        </p:nvSpPr>
        <p:spPr>
          <a:xfrm>
            <a:off x="5907024" y="2011680"/>
            <a:ext cx="475488" cy="475488"/>
          </a:xfrm>
          <a:prstGeom prst="ellipse">
            <a:avLst/>
          </a:prstGeom>
          <a:solidFill>
            <a:srgbClr val="57C5A9"/>
          </a:solidFill>
          <a:ln>
            <a:solidFill>
              <a:srgbClr val="57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7024" y="2112264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21B1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2140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800" b="1" i="0">
                <a:solidFill>
                  <a:srgbClr val="57C5A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688336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5F0E0"/>
                </a:solidFill>
                <a:latin typeface="Aptos"/>
              </a:defRPr>
            </a:pPr>
            <a:r>
              <a:t>Compare routes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3127248"/>
            <a:ext cx="19202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Static baseline vs.</a:t>
            </a:r>
          </a:p>
          <a:p>
            <a:pPr algn="ctr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quality-aware path</a:t>
            </a:r>
          </a:p>
        </p:txBody>
      </p:sp>
      <p:sp>
        <p:nvSpPr>
          <p:cNvPr id="21" name="Oval 20"/>
          <p:cNvSpPr/>
          <p:nvPr/>
        </p:nvSpPr>
        <p:spPr>
          <a:xfrm>
            <a:off x="8211312" y="2011680"/>
            <a:ext cx="475488" cy="475488"/>
          </a:xfrm>
          <a:prstGeom prst="ellipse">
            <a:avLst/>
          </a:prstGeom>
          <a:solidFill>
            <a:srgbClr val="F59D5B"/>
          </a:solidFill>
          <a:ln>
            <a:solidFill>
              <a:srgbClr val="F59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2112264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21B1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121408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800" b="1" i="0">
                <a:solidFill>
                  <a:srgbClr val="57C5A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4" y="2688336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5F0E0"/>
                </a:solidFill>
                <a:latin typeface="Aptos"/>
              </a:defRPr>
            </a:pPr>
            <a:r>
              <a:t>Receive 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3127248"/>
            <a:ext cx="19202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Delay / heat / congestion</a:t>
            </a:r>
          </a:p>
          <a:p>
            <a:pPr algn="ctr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raises risk</a:t>
            </a:r>
          </a:p>
        </p:txBody>
      </p:sp>
      <p:sp>
        <p:nvSpPr>
          <p:cNvPr id="26" name="Oval 25"/>
          <p:cNvSpPr/>
          <p:nvPr/>
        </p:nvSpPr>
        <p:spPr>
          <a:xfrm>
            <a:off x="10515600" y="2011680"/>
            <a:ext cx="475488" cy="475488"/>
          </a:xfrm>
          <a:prstGeom prst="ellipse">
            <a:avLst/>
          </a:prstGeom>
          <a:solidFill>
            <a:srgbClr val="F59D5B"/>
          </a:solidFill>
          <a:ln>
            <a:solidFill>
              <a:srgbClr val="F59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2112264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21B1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2688336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F5F0E0"/>
                </a:solidFill>
                <a:latin typeface="Aptos"/>
              </a:defRPr>
            </a:pPr>
            <a:r>
              <a:t>Choose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3127248"/>
            <a:ext cx="19202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Stay course, reroute,</a:t>
            </a:r>
          </a:p>
          <a:p>
            <a:pPr algn="ctr">
              <a:spcAft>
                <a:spcPts val="400"/>
              </a:spcAft>
              <a:defRPr sz="1000" b="0" i="0">
                <a:solidFill>
                  <a:srgbClr val="B1C1BB"/>
                </a:solidFill>
                <a:latin typeface="Aptos"/>
              </a:defRPr>
            </a:pPr>
            <a:r>
              <a:t>or redirect if viable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160520"/>
            <a:ext cx="5285232" cy="1280160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361688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7C5A9"/>
                </a:solidFill>
                <a:latin typeface="Aptos"/>
              </a:defRPr>
            </a:pPr>
            <a:r>
              <a:t>VALUE TO THE DISPATCHER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700016"/>
            <a:ext cx="46817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5F0E0"/>
                </a:solidFill>
                <a:latin typeface="Aptos"/>
              </a:defRPr>
            </a:pPr>
            <a:r>
              <a:t>A clearer comparison of route options under changing conditions, with reasons behind each recommendation.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160520"/>
            <a:ext cx="5285232" cy="1280160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361688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59D5B"/>
                </a:solidFill>
                <a:latin typeface="Aptos"/>
              </a:defRPr>
            </a:pPr>
            <a:r>
              <a:t>VALUE TO THE WIDER CHAIN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700016"/>
            <a:ext cx="46817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5F0E0"/>
                </a:solidFill>
                <a:latin typeface="Aptos"/>
              </a:defRPr>
            </a:pPr>
            <a:r>
              <a:t>Potentially less avoidable spoilage, fewer distress sales and better fulfilment of consumer demand. These are outcomes to test, not promises.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0CD67"/>
                </a:solidFill>
                <a:latin typeface="Aptos"/>
              </a:defRPr>
            </a:pPr>
            <a:r>
              <a:t>Discovery step before deployment: interview dispatchers to confirm which signals they currently use and whether recommendations fit actual decisions.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65392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1C1BB"/>
                </a:solidFill>
                <a:latin typeface="Aptos"/>
              </a:defRPr>
            </a:pPr>
            <a:r>
              <a:t>User and value hypotheses derived from the Problem Discovery Brief, pp. 2, 5, 9–10.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6547104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57C5A9"/>
                </a:solidFill>
                <a:latin typeface="Aptos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7C5A9"/>
                </a:solidFill>
                <a:latin typeface="Aptos"/>
              </a:defRPr>
            </a:pPr>
            <a:r>
              <a:t>IMPACT TANK ’26   /   ROUND 1                                      07  ·  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5F0E0"/>
                </a:solidFill>
                <a:latin typeface="Aptos"/>
              </a:defRPr>
            </a:pPr>
            <a:r>
              <a:t>Measure whether the proposed system actually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B1C1BB"/>
                </a:solidFill>
                <a:latin typeface="Aptos"/>
              </a:defRPr>
            </a:pPr>
            <a:r>
              <a:t>A controlled comparison is essential because the transit-only loss share is not yet known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55680" cy="16459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3502152" cy="1024128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2093976"/>
            <a:ext cx="896112" cy="265176"/>
          </a:xfrm>
          <a:prstGeom prst="roundRect">
            <a:avLst/>
          </a:prstGeom>
          <a:solidFill>
            <a:srgbClr val="57C5A9"/>
          </a:solidFill>
          <a:ln>
            <a:solidFill>
              <a:srgbClr val="57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16836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121B1F"/>
                </a:solidFill>
                <a:latin typeface="Aptos"/>
              </a:defRPr>
            </a:pPr>
            <a: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23160"/>
            <a:ext cx="31821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5F0E0"/>
                </a:solidFill>
                <a:latin typeface="Aptos"/>
              </a:defRPr>
            </a:pPr>
            <a:r>
              <a:t>Wastage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06624"/>
            <a:ext cx="31821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Waste tons ÷ injected tons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965960"/>
            <a:ext cx="3502152" cy="1024128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2093976"/>
            <a:ext cx="896112" cy="265176"/>
          </a:xfrm>
          <a:prstGeom prst="roundRect">
            <a:avLst/>
          </a:prstGeom>
          <a:solidFill>
            <a:srgbClr val="F59D5B"/>
          </a:solidFill>
          <a:ln>
            <a:solidFill>
              <a:srgbClr val="F59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116836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121B1F"/>
                </a:solidFill>
                <a:latin typeface="Aptos"/>
              </a:defRPr>
            </a:pPr>
            <a:r>
              <a:t>PRIMARY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23160"/>
            <a:ext cx="31821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5F0E0"/>
                </a:solidFill>
                <a:latin typeface="Aptos"/>
              </a:defRPr>
            </a:pPr>
            <a:r>
              <a:t>Unmet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06624"/>
            <a:ext cx="31821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Demand tons not fulfilled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1965960"/>
            <a:ext cx="3502152" cy="1024128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2093976"/>
            <a:ext cx="896112" cy="265176"/>
          </a:xfrm>
          <a:prstGeom prst="roundRect">
            <a:avLst/>
          </a:prstGeom>
          <a:solidFill>
            <a:srgbClr val="F0CD67"/>
          </a:solidFill>
          <a:ln>
            <a:solidFill>
              <a:srgbClr val="F0C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2116836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121B1F"/>
                </a:solidFill>
                <a:latin typeface="Aptos"/>
              </a:defRPr>
            </a:pPr>
            <a:r>
              <a:t>SECONDARY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23160"/>
            <a:ext cx="31821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5F0E0"/>
                </a:solidFill>
                <a:latin typeface="Aptos"/>
              </a:defRPr>
            </a:pPr>
            <a:r>
              <a:t>Quality at arrival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06624"/>
            <a:ext cx="31821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Average quality score at sink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10128"/>
            <a:ext cx="3502152" cy="1024128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59" y="3438144"/>
            <a:ext cx="896112" cy="265176"/>
          </a:xfrm>
          <a:prstGeom prst="roundRect">
            <a:avLst/>
          </a:prstGeom>
          <a:solidFill>
            <a:srgbClr val="86BE84"/>
          </a:solidFill>
          <a:ln>
            <a:solidFill>
              <a:srgbClr val="86B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461004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121B1F"/>
                </a:solidFill>
                <a:latin typeface="Aptos"/>
              </a:defRPr>
            </a:pPr>
            <a:r>
              <a:t>SECONDARY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767328"/>
            <a:ext cx="31821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5F0E0"/>
                </a:solidFill>
                <a:latin typeface="Aptos"/>
              </a:defRPr>
            </a:pPr>
            <a:r>
              <a:t>Stock saved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050791"/>
            <a:ext cx="31821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Tons kept saleable vs. baseline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3310128"/>
            <a:ext cx="3502152" cy="1024128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17720" y="3438144"/>
            <a:ext cx="896112" cy="265176"/>
          </a:xfrm>
          <a:prstGeom prst="roundRect">
            <a:avLst/>
          </a:prstGeom>
          <a:solidFill>
            <a:srgbClr val="B1C1BB"/>
          </a:solidFill>
          <a:ln>
            <a:solidFill>
              <a:srgbClr val="B1C1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3461004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121B1F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767328"/>
            <a:ext cx="31821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F5F0E0"/>
                </a:solidFill>
                <a:latin typeface="Aptos"/>
              </a:defRPr>
            </a:pPr>
            <a:r>
              <a:t>Cost / distance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050791"/>
            <a:ext cx="31821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B1C1BB"/>
                </a:solidFill>
                <a:latin typeface="Aptos"/>
              </a:defRPr>
            </a:pPr>
            <a:r>
              <a:t>Travel time, km and reroute count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18888"/>
            <a:ext cx="10835640" cy="1005840"/>
          </a:xfrm>
          <a:prstGeom prst="roundRect">
            <a:avLst/>
          </a:prstGeom>
          <a:solidFill>
            <a:srgbClr val="26373A"/>
          </a:solidFill>
          <a:ln>
            <a:solidFill>
              <a:srgbClr val="57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001768"/>
            <a:ext cx="1645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7C5A9"/>
                </a:solidFill>
                <a:latin typeface="Aptos"/>
              </a:defRPr>
            </a:pPr>
            <a:r>
              <a:t>FAIR TEST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4956048"/>
            <a:ext cx="84124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F5F0E0"/>
                </a:solidFill>
                <a:latin typeface="Aptos"/>
              </a:defRPr>
            </a:pPr>
            <a:r>
              <a:t>Run both policies with the same supply, demand, weather replay, network, starting inventory and random seed. Repeat across seeds and seasons; report averages, variability and failure cases.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044184"/>
            <a:ext cx="10515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0CD67"/>
                </a:solidFill>
                <a:latin typeface="Aptos"/>
              </a:defRPr>
            </a:pPr>
            <a:r>
              <a:t>Do not promise a fixed percentage reduction yet. Calibrate decay and validate assumptions before interpreting the results.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6565392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1C1BB"/>
                </a:solidFill>
                <a:latin typeface="Aptos"/>
              </a:defRPr>
            </a:pPr>
            <a:r>
              <a:t>Baseline brief pp. 4, 8–9; team implementation plan Phase 3–5. The 14% calibration target is provisional.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4200" y="6547104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57C5A9"/>
                </a:solidFill>
                <a:latin typeface="Aptos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57C5A9"/>
                </a:solidFill>
                <a:latin typeface="Aptos"/>
              </a:defRPr>
            </a:pPr>
            <a:r>
              <a:t>IMPACT TANK ’26   /   ROUND 1                                      08  ·  WEEK 2 PROTOTYPE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5F0E0"/>
                </a:solidFill>
                <a:latin typeface="Aptos"/>
              </a:defRPr>
            </a:pPr>
            <a:r>
              <a:t>Build the smallest experiment that can answer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B1C1BB"/>
                </a:solidFill>
                <a:latin typeface="Aptos"/>
              </a:defRPr>
            </a:pPr>
            <a:r>
              <a:t>Start with a reproducible simulation; add ML only after the baseline behaves correctly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55680" cy="16459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1938528"/>
            <a:ext cx="6903720" cy="557784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20824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7C5A9"/>
                </a:solidFill>
                <a:latin typeface="Aptos"/>
              </a:defRPr>
            </a:pPr>
            <a:r>
              <a:t>01  DATA +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2011680"/>
            <a:ext cx="480060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F5F0E0"/>
                </a:solidFill>
                <a:latin typeface="Aptos"/>
              </a:defRPr>
            </a:pPr>
            <a:r>
              <a:t>Clean nodes.csv and edges.csv; build a connected road graph; document missing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642616"/>
            <a:ext cx="6903720" cy="557784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724912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7C5A9"/>
                </a:solidFill>
                <a:latin typeface="Aptos"/>
              </a:defRPr>
            </a:pPr>
            <a:r>
              <a:t>02  SIMULATION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715768"/>
            <a:ext cx="480060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F5F0E0"/>
                </a:solidFill>
                <a:latin typeface="Aptos"/>
              </a:defRPr>
            </a:pPr>
            <a:r>
              <a:t>Implement consignment quality decay, capacity, storage/release, hourly ticks and mass balance.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3346704"/>
            <a:ext cx="6903720" cy="557784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429000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7C5A9"/>
                </a:solidFill>
                <a:latin typeface="Aptos"/>
              </a:defRPr>
            </a:pPr>
            <a:r>
              <a:t>03 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3419856"/>
            <a:ext cx="480060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F5F0E0"/>
                </a:solidFill>
                <a:latin typeface="Aptos"/>
              </a:defRPr>
            </a:pPr>
            <a:r>
              <a:t>Run static shortest paths on synthetic supply/demand; validate conservation and plausible outputs.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" y="4050791"/>
            <a:ext cx="6903720" cy="557784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133087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59D5B"/>
                </a:solidFill>
                <a:latin typeface="Aptos"/>
              </a:defRPr>
            </a:pPr>
            <a:r>
              <a:t>04  PROPOSED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4123944"/>
            <a:ext cx="480060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F5F0E0"/>
                </a:solidFill>
                <a:latin typeface="Aptos"/>
              </a:defRPr>
            </a:pPr>
            <a:r>
              <a:t>Add weather/congestion/quality-weighted routing and explicit reroute events.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4754880"/>
            <a:ext cx="6903720" cy="557784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837176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59D5B"/>
                </a:solidFill>
                <a:latin typeface="Aptos"/>
              </a:defRPr>
            </a:pPr>
            <a:r>
              <a:t>05  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4828032"/>
            <a:ext cx="480060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F5F0E0"/>
                </a:solidFill>
                <a:latin typeface="Aptos"/>
              </a:defRPr>
            </a:pPr>
            <a:r>
              <a:t>Compare seeded runs; plot waste, unmet demand, stock saved and route changes.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127" y="1938528"/>
            <a:ext cx="3611880" cy="3374136"/>
          </a:xfrm>
          <a:prstGeom prst="roundRect">
            <a:avLst/>
          </a:prstGeom>
          <a:solidFill>
            <a:srgbClr val="26373A"/>
          </a:solidFill>
          <a:ln>
            <a:solidFill>
              <a:srgbClr val="263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176272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57C5A9"/>
                </a:solidFill>
                <a:latin typeface="Aptos"/>
              </a:defRPr>
            </a:pPr>
            <a:r>
              <a:t>FIRST PROTOTYPE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2606040"/>
            <a:ext cx="3035808" cy="22402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900"/>
              </a:spcAft>
            </a:pPr>
            <a:r>
              <a:rPr sz="1000" b="1">
                <a:solidFill>
                  <a:srgbClr val="57C5A9"/>
                </a:solidFill>
                <a:latin typeface="Aptos"/>
              </a:rPr>
              <a:t>• </a:t>
            </a:r>
            <a:r>
              <a:rPr sz="1000" b="1">
                <a:solidFill>
                  <a:srgbClr val="F5F0E0"/>
                </a:solidFill>
                <a:latin typeface="Aptos"/>
              </a:rPr>
              <a:t>Python + pandas: </a:t>
            </a:r>
            <a:r>
              <a:rPr sz="1000">
                <a:solidFill>
                  <a:srgbClr val="F5F0E0"/>
                </a:solidFill>
                <a:latin typeface="Aptos"/>
              </a:rPr>
              <a:t>data cleaning and reproducible snapshots</a:t>
            </a:r>
          </a:p>
          <a:p>
            <a:pPr>
              <a:spcAft>
                <a:spcPts val="900"/>
              </a:spcAft>
            </a:pPr>
            <a:r>
              <a:rPr sz="1000" b="1">
                <a:solidFill>
                  <a:srgbClr val="57C5A9"/>
                </a:solidFill>
                <a:latin typeface="Aptos"/>
              </a:rPr>
              <a:t>• </a:t>
            </a:r>
            <a:r>
              <a:rPr sz="1000" b="1">
                <a:solidFill>
                  <a:srgbClr val="F5F0E0"/>
                </a:solidFill>
                <a:latin typeface="Aptos"/>
              </a:rPr>
              <a:t>NetworkX / OSMnx: </a:t>
            </a:r>
            <a:r>
              <a:rPr sz="1000">
                <a:solidFill>
                  <a:srgbClr val="F5F0E0"/>
                </a:solidFill>
                <a:latin typeface="Aptos"/>
              </a:rPr>
              <a:t>graph and route comparisons</a:t>
            </a:r>
          </a:p>
          <a:p>
            <a:pPr>
              <a:spcAft>
                <a:spcPts val="900"/>
              </a:spcAft>
            </a:pPr>
            <a:r>
              <a:rPr sz="1000" b="1">
                <a:solidFill>
                  <a:srgbClr val="57C5A9"/>
                </a:solidFill>
                <a:latin typeface="Aptos"/>
              </a:rPr>
              <a:t>• </a:t>
            </a:r>
            <a:r>
              <a:rPr sz="1000" b="1">
                <a:solidFill>
                  <a:srgbClr val="F5F0E0"/>
                </a:solidFill>
                <a:latin typeface="Aptos"/>
              </a:rPr>
              <a:t>config.yaml: </a:t>
            </a:r>
            <a:r>
              <a:rPr sz="1000">
                <a:solidFill>
                  <a:srgbClr val="F5F0E0"/>
                </a:solidFill>
                <a:latin typeface="Aptos"/>
              </a:rPr>
              <a:t>thresholds and decay parameters</a:t>
            </a:r>
          </a:p>
          <a:p>
            <a:pPr>
              <a:spcAft>
                <a:spcPts val="900"/>
              </a:spcAft>
            </a:pPr>
            <a:r>
              <a:rPr sz="1000" b="1">
                <a:solidFill>
                  <a:srgbClr val="57C5A9"/>
                </a:solidFill>
                <a:latin typeface="Aptos"/>
              </a:rPr>
              <a:t>• </a:t>
            </a:r>
            <a:r>
              <a:rPr sz="1000" b="1">
                <a:solidFill>
                  <a:srgbClr val="F5F0E0"/>
                </a:solidFill>
                <a:latin typeface="Aptos"/>
              </a:rPr>
              <a:t>CSV logs + plots: </a:t>
            </a:r>
            <a:r>
              <a:rPr sz="1000">
                <a:solidFill>
                  <a:srgbClr val="F5F0E0"/>
                </a:solidFill>
                <a:latin typeface="Aptos"/>
              </a:rPr>
              <a:t>transparent metrics and reroute events</a:t>
            </a:r>
          </a:p>
          <a:p>
            <a:pPr>
              <a:spcAft>
                <a:spcPts val="900"/>
              </a:spcAft>
            </a:pPr>
            <a:r>
              <a:rPr sz="1000" b="1">
                <a:solidFill>
                  <a:srgbClr val="57C5A9"/>
                </a:solidFill>
                <a:latin typeface="Aptos"/>
              </a:rPr>
              <a:t>• </a:t>
            </a:r>
            <a:r>
              <a:rPr sz="1000" b="1">
                <a:solidFill>
                  <a:srgbClr val="F5F0E0"/>
                </a:solidFill>
                <a:latin typeface="Aptos"/>
              </a:rPr>
              <a:t>ML later: </a:t>
            </a:r>
            <a:r>
              <a:rPr sz="1000">
                <a:solidFill>
                  <a:srgbClr val="F5F0E0"/>
                </a:solidFill>
                <a:latin typeface="Aptos"/>
              </a:rPr>
              <a:t>start with simple, explainable predictors; compare against a stubbed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4736592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59D5B"/>
                </a:solidFill>
                <a:latin typeface="Aptos"/>
              </a:defRPr>
            </a:pPr>
            <a:r>
              <a:t>VALIDATION CHECKPOINTS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5010912"/>
            <a:ext cx="29260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5F0E0"/>
                </a:solidFill>
                <a:latin typeface="Aptos"/>
              </a:defRPr>
            </a:pPr>
            <a:r>
              <a:t>• Mass balance holds</a:t>
            </a:r>
          </a:p>
          <a:p>
            <a:pPr algn="l">
              <a:spcAft>
                <a:spcPts val="400"/>
              </a:spcAft>
              <a:defRPr sz="900" b="0" i="0">
                <a:solidFill>
                  <a:srgbClr val="F5F0E0"/>
                </a:solidFill>
                <a:latin typeface="Aptos"/>
              </a:defRPr>
            </a:pPr>
            <a:r>
              <a:t>• No isolated graph nodes</a:t>
            </a:r>
          </a:p>
          <a:p>
            <a:pPr algn="l">
              <a:spcAft>
                <a:spcPts val="400"/>
              </a:spcAft>
              <a:defRPr sz="900" b="0" i="0">
                <a:solidFill>
                  <a:srgbClr val="F5F0E0"/>
                </a:solidFill>
                <a:latin typeface="Aptos"/>
              </a:defRPr>
            </a:pPr>
            <a:r>
              <a:t>• Baseline reproducible</a:t>
            </a:r>
          </a:p>
          <a:p>
            <a:pPr algn="l">
              <a:spcAft>
                <a:spcPts val="400"/>
              </a:spcAft>
              <a:defRPr sz="900" b="0" i="0">
                <a:solidFill>
                  <a:srgbClr val="F5F0E0"/>
                </a:solidFill>
                <a:latin typeface="Aptos"/>
              </a:defRPr>
            </a:pPr>
            <a:r>
              <a:t>• Proposed policy beats baseline on pre-registered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687568"/>
            <a:ext cx="10771632" cy="493776"/>
          </a:xfrm>
          <a:prstGeom prst="roundRect">
            <a:avLst/>
          </a:prstGeom>
          <a:solidFill>
            <a:srgbClr val="1D2B2F"/>
          </a:solidFill>
          <a:ln>
            <a:solidFill>
              <a:srgbClr val="1D2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824728"/>
            <a:ext cx="10332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0CD67"/>
                </a:solidFill>
                <a:latin typeface="Aptos"/>
              </a:defRPr>
            </a:pPr>
            <a:r>
              <a:t>Open questions to validate: dispatcher needs • usable real-time signals • commodity-specific decay parameters • availability of reliable hub and trip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425657"/>
          </a:solidFill>
          <a:ln>
            <a:solidFill>
              <a:srgbClr val="42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65392"/>
            <a:ext cx="9966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B1C1BB"/>
                </a:solidFill>
                <a:latin typeface="Aptos"/>
              </a:defRPr>
            </a:pPr>
            <a:r>
              <a:t>Implementation roadmap condensed from team plan. All performance claims remain hypotheses until calibrated and tested.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6547104"/>
            <a:ext cx="822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800" b="1" i="0">
                <a:solidFill>
                  <a:srgbClr val="57C5A9"/>
                </a:solidFill>
                <a:latin typeface="Aptos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